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711" r:id="rId1"/>
  </p:sldMasterIdLst>
  <p:notesMasterIdLst>
    <p:notesMasterId r:id="rId25"/>
  </p:notesMasterIdLst>
  <p:sldIdLst>
    <p:sldId id="283" r:id="rId2"/>
    <p:sldId id="606" r:id="rId3"/>
    <p:sldId id="625" r:id="rId4"/>
    <p:sldId id="626" r:id="rId5"/>
    <p:sldId id="627" r:id="rId6"/>
    <p:sldId id="628" r:id="rId7"/>
    <p:sldId id="643" r:id="rId8"/>
    <p:sldId id="629" r:id="rId9"/>
    <p:sldId id="630" r:id="rId10"/>
    <p:sldId id="631" r:id="rId11"/>
    <p:sldId id="641" r:id="rId12"/>
    <p:sldId id="632" r:id="rId13"/>
    <p:sldId id="642" r:id="rId14"/>
    <p:sldId id="647" r:id="rId15"/>
    <p:sldId id="645" r:id="rId16"/>
    <p:sldId id="634" r:id="rId17"/>
    <p:sldId id="635" r:id="rId18"/>
    <p:sldId id="644" r:id="rId19"/>
    <p:sldId id="636" r:id="rId20"/>
    <p:sldId id="637" r:id="rId21"/>
    <p:sldId id="638" r:id="rId22"/>
    <p:sldId id="640" r:id="rId23"/>
    <p:sldId id="646" r:id="rId2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6699FF"/>
    <a:srgbClr val="FFCCCC"/>
    <a:srgbClr val="99FF66"/>
    <a:srgbClr val="006600"/>
    <a:srgbClr val="0000FF"/>
    <a:srgbClr val="003399"/>
    <a:srgbClr val="FF3300"/>
    <a:srgbClr val="66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78"/>
    <p:restoredTop sz="78776" autoAdjust="0"/>
  </p:normalViewPr>
  <p:slideViewPr>
    <p:cSldViewPr>
      <p:cViewPr varScale="1">
        <p:scale>
          <a:sx n="99" d="100"/>
          <a:sy n="99" d="100"/>
        </p:scale>
        <p:origin x="271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49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849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49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fld id="{77222C60-64E2-40CB-9633-4681D5EA9E9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387240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514196-70E2-4D90-A2E3-BFDED2C3A698}" type="slidenum">
              <a:rPr lang="en-US" altLang="zh-HK" smtClean="0"/>
              <a:pPr/>
              <a:t>1</a:t>
            </a:fld>
            <a:endParaRPr lang="en-US" altLang="zh-HK"/>
          </a:p>
        </p:txBody>
      </p:sp>
    </p:spTree>
    <p:extLst>
      <p:ext uri="{BB962C8B-B14F-4D97-AF65-F5344CB8AC3E}">
        <p14:creationId xmlns:p14="http://schemas.microsoft.com/office/powerpoint/2010/main" val="28240084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222C60-64E2-40CB-9633-4681D5EA9E9A}" type="slidenum">
              <a:rPr lang="zh-TW" altLang="en-US" smtClean="0"/>
              <a:pPr>
                <a:defRPr/>
              </a:pPr>
              <a:t>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695348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222C60-64E2-40CB-9633-4681D5EA9E9A}" type="slidenum">
              <a:rPr lang="zh-TW" altLang="en-US" smtClean="0"/>
              <a:pPr>
                <a:defRPr/>
              </a:pPr>
              <a:t>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425256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222C60-64E2-40CB-9633-4681D5EA9E9A}" type="slidenum">
              <a:rPr lang="zh-TW" altLang="en-US" smtClean="0"/>
              <a:pPr>
                <a:defRPr/>
              </a:pPr>
              <a:t>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226104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222C60-64E2-40CB-9633-4681D5EA9E9A}" type="slidenum">
              <a:rPr lang="zh-TW" altLang="en-US" smtClean="0"/>
              <a:pPr>
                <a:defRPr/>
              </a:pPr>
              <a:t>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297534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222C60-64E2-40CB-9633-4681D5EA9E9A}" type="slidenum">
              <a:rPr lang="zh-TW" altLang="en-US" smtClean="0"/>
              <a:pPr>
                <a:defRPr/>
              </a:pPr>
              <a:t>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657139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222C60-64E2-40CB-9633-4681D5EA9E9A}" type="slidenum">
              <a:rPr lang="zh-TW" altLang="en-US" smtClean="0"/>
              <a:pPr>
                <a:defRPr/>
              </a:pPr>
              <a:t>11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037227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222C60-64E2-40CB-9633-4681D5EA9E9A}" type="slidenum">
              <a:rPr lang="zh-TW" altLang="en-US" smtClean="0"/>
              <a:pPr>
                <a:defRPr/>
              </a:pPr>
              <a:t>12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592440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222C60-64E2-40CB-9633-4681D5EA9E9A}" type="slidenum">
              <a:rPr lang="zh-TW" altLang="en-US" smtClean="0"/>
              <a:pPr>
                <a:defRPr/>
              </a:pPr>
              <a:t>13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798762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222C60-64E2-40CB-9633-4681D5EA9E9A}" type="slidenum">
              <a:rPr lang="zh-TW" altLang="en-US" smtClean="0"/>
              <a:pPr>
                <a:defRPr/>
              </a:pPr>
              <a:t>17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777043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222C60-64E2-40CB-9633-4681D5EA9E9A}" type="slidenum">
              <a:rPr lang="zh-TW" altLang="en-US" smtClean="0"/>
              <a:pPr>
                <a:defRPr/>
              </a:pPr>
              <a:t>18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730768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222C60-64E2-40CB-9633-4681D5EA9E9A}" type="slidenum">
              <a:rPr lang="zh-TW" altLang="en-US" smtClean="0"/>
              <a:pPr>
                <a:defRPr/>
              </a:pPr>
              <a:t>19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14850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222C60-64E2-40CB-9633-4681D5EA9E9A}" type="slidenum">
              <a:rPr lang="zh-TW" altLang="en-US" smtClean="0"/>
              <a:pPr>
                <a:defRPr/>
              </a:pPr>
              <a:t>20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708035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222C60-64E2-40CB-9633-4681D5EA9E9A}" type="slidenum">
              <a:rPr lang="zh-TW" altLang="en-US" smtClean="0"/>
              <a:pPr>
                <a:defRPr/>
              </a:pPr>
              <a:t>21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025855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222C60-64E2-40CB-9633-4681D5EA9E9A}" type="slidenum">
              <a:rPr lang="zh-TW" altLang="en-US" smtClean="0"/>
              <a:pPr>
                <a:defRPr/>
              </a:pPr>
              <a:t>22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50014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altLang="zh-HK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B5C2743-D08D-4184-B069-AF685F75E0BA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altLang="zh-HK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kumimoji="0" lang="en-US" altLang="zh-HK" dirty="0"/>
              <a:t>Click to edit Master title style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524000"/>
            <a:ext cx="7772400" cy="4495800"/>
          </a:xfrm>
        </p:spPr>
        <p:txBody>
          <a:bodyPr vert="horz"/>
          <a:lstStyle/>
          <a:p>
            <a:pPr lvl="0" eaLnBrk="1" latinLnBrk="0" hangingPunct="1"/>
            <a:r>
              <a:rPr lang="en-US" altLang="zh-HK" dirty="0"/>
              <a:t>Click to edit Master text styles</a:t>
            </a:r>
          </a:p>
          <a:p>
            <a:pPr lvl="1" eaLnBrk="1" latinLnBrk="0" hangingPunct="1"/>
            <a:r>
              <a:rPr lang="en-US" altLang="zh-HK" dirty="0"/>
              <a:t>Second level</a:t>
            </a:r>
          </a:p>
          <a:p>
            <a:pPr lvl="2" eaLnBrk="1" latinLnBrk="0" hangingPunct="1"/>
            <a:r>
              <a:rPr lang="en-US" altLang="zh-HK" dirty="0"/>
              <a:t>Third level</a:t>
            </a:r>
          </a:p>
          <a:p>
            <a:pPr lvl="3" eaLnBrk="1" latinLnBrk="0" hangingPunct="1"/>
            <a:r>
              <a:rPr lang="en-US" altLang="zh-HK" dirty="0"/>
              <a:t>Fourth level</a:t>
            </a:r>
          </a:p>
          <a:p>
            <a:pPr lvl="4" eaLnBrk="1" latinLnBrk="0" hangingPunct="1"/>
            <a:r>
              <a:rPr lang="en-US" altLang="zh-HK" dirty="0"/>
              <a:t>Fifth level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altLang="zh-HK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altLang="zh-HK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pPr>
              <a:defRPr/>
            </a:pPr>
            <a:fld id="{FF23F5B4-AE80-465C-A3ED-50E8D613BC72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HK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9EA6A3-6FB3-45C3-B5E4-65C2A039E8A0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altLang="zh-HK"/>
              <a:t>Click to edit Master text styles</a:t>
            </a:r>
          </a:p>
          <a:p>
            <a:pPr lvl="1" eaLnBrk="1" latinLnBrk="0" hangingPunct="1"/>
            <a:r>
              <a:rPr lang="en-US" altLang="zh-HK"/>
              <a:t>Second level</a:t>
            </a:r>
          </a:p>
          <a:p>
            <a:pPr lvl="2" eaLnBrk="1" latinLnBrk="0" hangingPunct="1"/>
            <a:r>
              <a:rPr lang="en-US" altLang="zh-HK"/>
              <a:t>Third level</a:t>
            </a:r>
          </a:p>
          <a:p>
            <a:pPr lvl="3" eaLnBrk="1" latinLnBrk="0" hangingPunct="1"/>
            <a:r>
              <a:rPr lang="en-US" altLang="zh-HK"/>
              <a:t>Fourth level</a:t>
            </a:r>
          </a:p>
          <a:p>
            <a:pPr lvl="4" eaLnBrk="1" latinLnBrk="0" hangingPunct="1"/>
            <a:r>
              <a:rPr lang="en-US" altLang="zh-HK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altLang="zh-HK"/>
              <a:t>Click to edit Master text styles</a:t>
            </a:r>
          </a:p>
          <a:p>
            <a:pPr lvl="1" eaLnBrk="1" latinLnBrk="0" hangingPunct="1"/>
            <a:r>
              <a:rPr lang="en-US" altLang="zh-HK"/>
              <a:t>Second level</a:t>
            </a:r>
          </a:p>
          <a:p>
            <a:pPr lvl="2" eaLnBrk="1" latinLnBrk="0" hangingPunct="1"/>
            <a:r>
              <a:rPr lang="en-US" altLang="zh-HK"/>
              <a:t>Third level</a:t>
            </a:r>
          </a:p>
          <a:p>
            <a:pPr lvl="3" eaLnBrk="1" latinLnBrk="0" hangingPunct="1"/>
            <a:r>
              <a:rPr lang="en-US" altLang="zh-HK"/>
              <a:t>Fourth level</a:t>
            </a:r>
          </a:p>
          <a:p>
            <a:pPr lvl="4" eaLnBrk="1" latinLnBrk="0" hangingPunct="1"/>
            <a:r>
              <a:rPr lang="en-US" altLang="zh-HK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altLang="zh-HK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zh-HK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zh-HK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E4F29A-11F9-4289-BAEA-3DBF06A7BD43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altLang="zh-HK"/>
              <a:t>Click to edit Master text styles</a:t>
            </a:r>
          </a:p>
          <a:p>
            <a:pPr lvl="1" eaLnBrk="1" latinLnBrk="0" hangingPunct="1"/>
            <a:r>
              <a:rPr lang="en-US" altLang="zh-HK"/>
              <a:t>Second level</a:t>
            </a:r>
          </a:p>
          <a:p>
            <a:pPr lvl="2" eaLnBrk="1" latinLnBrk="0" hangingPunct="1"/>
            <a:r>
              <a:rPr lang="en-US" altLang="zh-HK"/>
              <a:t>Third level</a:t>
            </a:r>
          </a:p>
          <a:p>
            <a:pPr lvl="3" eaLnBrk="1" latinLnBrk="0" hangingPunct="1"/>
            <a:r>
              <a:rPr lang="en-US" altLang="zh-HK"/>
              <a:t>Fourth level</a:t>
            </a:r>
          </a:p>
          <a:p>
            <a:pPr lvl="4" eaLnBrk="1" latinLnBrk="0" hangingPunct="1"/>
            <a:r>
              <a:rPr lang="en-US" altLang="zh-HK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altLang="zh-HK"/>
              <a:t>Click to edit Master text styles</a:t>
            </a:r>
          </a:p>
          <a:p>
            <a:pPr lvl="1" eaLnBrk="1" latinLnBrk="0" hangingPunct="1"/>
            <a:r>
              <a:rPr lang="en-US" altLang="zh-HK"/>
              <a:t>Second level</a:t>
            </a:r>
          </a:p>
          <a:p>
            <a:pPr lvl="2" eaLnBrk="1" latinLnBrk="0" hangingPunct="1"/>
            <a:r>
              <a:rPr lang="en-US" altLang="zh-HK"/>
              <a:t>Third level</a:t>
            </a:r>
          </a:p>
          <a:p>
            <a:pPr lvl="3" eaLnBrk="1" latinLnBrk="0" hangingPunct="1"/>
            <a:r>
              <a:rPr lang="en-US" altLang="zh-HK"/>
              <a:t>Fourth level</a:t>
            </a:r>
          </a:p>
          <a:p>
            <a:pPr lvl="4" eaLnBrk="1" latinLnBrk="0" hangingPunct="1"/>
            <a:r>
              <a:rPr lang="en-US" altLang="zh-HK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HK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61D845-962E-4455-A2B5-DA53818F64D6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1D6685-4528-47AC-A86E-0E8CF3BF5C8A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altLang="zh-HK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altLang="zh-HK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5FE0DA-0414-4FA6-B45F-BDA2ABAF19A0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altLang="zh-HK"/>
              <a:t>Click to edit Master text styles</a:t>
            </a:r>
          </a:p>
          <a:p>
            <a:pPr lvl="1" eaLnBrk="1" latinLnBrk="0" hangingPunct="1"/>
            <a:r>
              <a:rPr lang="en-US" altLang="zh-HK"/>
              <a:t>Second level</a:t>
            </a:r>
          </a:p>
          <a:p>
            <a:pPr lvl="2" eaLnBrk="1" latinLnBrk="0" hangingPunct="1"/>
            <a:r>
              <a:rPr lang="en-US" altLang="zh-HK"/>
              <a:t>Third level</a:t>
            </a:r>
          </a:p>
          <a:p>
            <a:pPr lvl="3" eaLnBrk="1" latinLnBrk="0" hangingPunct="1"/>
            <a:r>
              <a:rPr lang="en-US" altLang="zh-HK"/>
              <a:t>Fourth level</a:t>
            </a:r>
          </a:p>
          <a:p>
            <a:pPr lvl="4" eaLnBrk="1" latinLnBrk="0" hangingPunct="1"/>
            <a:r>
              <a:rPr lang="en-US" altLang="zh-HK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altLang="zh-HK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altLang="zh-HK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pPr>
              <a:defRPr/>
            </a:pPr>
            <a:fld id="{71D8F204-56D6-4B7B-B280-C1165CC7AAF8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altLang="zh-HK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HK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altLang="zh-HK"/>
              <a:t>Click to edit Master text styles</a:t>
            </a:r>
          </a:p>
          <a:p>
            <a:pPr lvl="1" eaLnBrk="1" latinLnBrk="0" hangingPunct="1"/>
            <a:r>
              <a:rPr lang="en-US" altLang="zh-HK"/>
              <a:t>Second level</a:t>
            </a:r>
          </a:p>
          <a:p>
            <a:pPr lvl="2" eaLnBrk="1" latinLnBrk="0" hangingPunct="1"/>
            <a:r>
              <a:rPr lang="en-US" altLang="zh-HK"/>
              <a:t>Third level</a:t>
            </a:r>
          </a:p>
          <a:p>
            <a:pPr lvl="3" eaLnBrk="1" latinLnBrk="0" hangingPunct="1"/>
            <a:r>
              <a:rPr lang="en-US" altLang="zh-HK"/>
              <a:t>Fourth level</a:t>
            </a:r>
          </a:p>
          <a:p>
            <a:pPr lvl="4" eaLnBrk="1" latinLnBrk="0" hangingPunct="1"/>
            <a:r>
              <a:rPr lang="en-US" altLang="zh-HK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9C601E-6505-4D45-8656-5A38EBD2497C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altLang="zh-HK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altLang="zh-HK"/>
              <a:t>Click to edit Master text styles</a:t>
            </a:r>
          </a:p>
          <a:p>
            <a:pPr lvl="1" eaLnBrk="1" latinLnBrk="0" hangingPunct="1"/>
            <a:r>
              <a:rPr lang="en-US" altLang="zh-HK"/>
              <a:t>Second level</a:t>
            </a:r>
          </a:p>
          <a:p>
            <a:pPr lvl="2" eaLnBrk="1" latinLnBrk="0" hangingPunct="1"/>
            <a:r>
              <a:rPr lang="en-US" altLang="zh-HK"/>
              <a:t>Third level</a:t>
            </a:r>
          </a:p>
          <a:p>
            <a:pPr lvl="3" eaLnBrk="1" latinLnBrk="0" hangingPunct="1"/>
            <a:r>
              <a:rPr lang="en-US" altLang="zh-HK"/>
              <a:t>Fourth level</a:t>
            </a:r>
          </a:p>
          <a:p>
            <a:pPr lvl="4" eaLnBrk="1" latinLnBrk="0" hangingPunct="1"/>
            <a:r>
              <a:rPr lang="en-US" altLang="zh-HK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EAFCE8-421B-4D24-950F-59FC806B6FF6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altLang="zh-HK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altLang="zh-HK"/>
              <a:t>Click to edit Master text styles</a:t>
            </a:r>
          </a:p>
          <a:p>
            <a:pPr lvl="1" eaLnBrk="1" latinLnBrk="0" hangingPunct="1"/>
            <a:r>
              <a:rPr kumimoji="0" lang="en-US" altLang="zh-HK"/>
              <a:t>Second level</a:t>
            </a:r>
          </a:p>
          <a:p>
            <a:pPr lvl="2" eaLnBrk="1" latinLnBrk="0" hangingPunct="1"/>
            <a:r>
              <a:rPr kumimoji="0" lang="en-US" altLang="zh-HK"/>
              <a:t>Third level</a:t>
            </a:r>
          </a:p>
          <a:p>
            <a:pPr lvl="3" eaLnBrk="1" latinLnBrk="0" hangingPunct="1"/>
            <a:r>
              <a:rPr kumimoji="0" lang="en-US" altLang="zh-HK"/>
              <a:t>Fourth level</a:t>
            </a:r>
          </a:p>
          <a:p>
            <a:pPr lvl="4" eaLnBrk="1" latinLnBrk="0" hangingPunct="1"/>
            <a:r>
              <a:rPr kumimoji="0" lang="en-US" altLang="zh-HK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7C787ADA-DBD0-44B6-BABA-8F720F2E124F}" type="slidenum">
              <a:rPr lang="zh-TW" altLang="en-US" smtClean="0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09600" y="4343400"/>
            <a:ext cx="7848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None/>
              <a:defRPr sz="2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ts val="370"/>
              </a:spcBef>
              <a:buClr>
                <a:schemeClr val="accent3"/>
              </a:buClr>
              <a:buNone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ts val="370"/>
              </a:spcBef>
              <a:buClr>
                <a:schemeClr val="accent2"/>
              </a:buClr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endParaRPr lang="en-US" altLang="zh-TW" sz="2200" dirty="0"/>
          </a:p>
          <a:p>
            <a:pPr eaLnBrk="1" hangingPunct="1"/>
            <a:r>
              <a:rPr lang="en-US" altLang="zh-TW" sz="2200" i="1" dirty="0"/>
              <a:t>Computer Science, City University of Hong Kong</a:t>
            </a:r>
          </a:p>
          <a:p>
            <a:pPr eaLnBrk="1" hangingPunct="1"/>
            <a:r>
              <a:rPr lang="en-US" altLang="zh-TW" sz="2200" i="1" dirty="0"/>
              <a:t>Semester </a:t>
            </a:r>
            <a:r>
              <a:rPr lang="en-US" altLang="zh-TW" sz="2200" i="1"/>
              <a:t>B 2024-25</a:t>
            </a:r>
            <a:endParaRPr lang="en-US" altLang="zh-TW" sz="2200" i="1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352425" y="1905000"/>
            <a:ext cx="8715375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alibri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alibri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alibri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alibri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alibri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alibri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alibri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en-US" altLang="zh-TW" dirty="0"/>
              <a:t>CS2310 Computer Programming</a:t>
            </a:r>
            <a:br>
              <a:rPr lang="en-US" altLang="zh-TW" dirty="0"/>
            </a:br>
            <a:endParaRPr lang="en-US" altLang="zh-TW" dirty="0"/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2727322" y="3286780"/>
            <a:ext cx="376218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lang="en-US" altLang="zh-TW" sz="280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LT10: C++ Polymorphism</a:t>
            </a:r>
            <a:endParaRPr lang="en-US" altLang="zh-HK" sz="2800" dirty="0">
              <a:solidFill>
                <a:srgbClr val="D34817">
                  <a:lumMod val="75000"/>
                </a:srgb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05413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F759B-1281-4CE8-B3C6-0F8B582CE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AC8F82-A81A-4E95-A696-6C9467222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2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CB0A99-48AB-4963-8E59-B0756B2805A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Introduction to Polymorphism</a:t>
            </a:r>
          </a:p>
          <a:p>
            <a:endParaRPr lang="en-US" dirty="0"/>
          </a:p>
          <a:p>
            <a:r>
              <a:rPr lang="en-US" dirty="0"/>
              <a:t>Virtual function and dynamic/late binding</a:t>
            </a:r>
          </a:p>
          <a:p>
            <a:endParaRPr lang="en-US" dirty="0"/>
          </a:p>
          <a:p>
            <a:r>
              <a:rPr lang="en-US" dirty="0"/>
              <a:t>Virtual destructor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718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89ED4-5CE2-4E69-B670-C90F5856A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Polymorphism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7A2AF7-0FED-40EB-8F70-99C52DC6F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3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B4E9F4-B258-40AA-BD0E-D53AA9E9517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Have multiple functions with </a:t>
            </a:r>
            <a:r>
              <a:rPr lang="en-US" sz="2400" dirty="0">
                <a:solidFill>
                  <a:srgbClr val="C00000"/>
                </a:solidFill>
              </a:rPr>
              <a:t>the same name</a:t>
            </a:r>
            <a:r>
              <a:rPr lang="en-US" sz="2400" dirty="0"/>
              <a:t>, with </a:t>
            </a:r>
            <a:r>
              <a:rPr lang="en-US" sz="2400" dirty="0">
                <a:solidFill>
                  <a:srgbClr val="7030A0"/>
                </a:solidFill>
              </a:rPr>
              <a:t>different operations</a:t>
            </a:r>
          </a:p>
          <a:p>
            <a:pPr lvl="1"/>
            <a:r>
              <a:rPr lang="en-US" sz="2200" dirty="0"/>
              <a:t>Real-world examples?</a:t>
            </a:r>
          </a:p>
          <a:p>
            <a:r>
              <a:rPr lang="en-US" sz="2400" b="1" dirty="0"/>
              <a:t>Types</a:t>
            </a:r>
            <a:r>
              <a:rPr lang="en-US" sz="2400" dirty="0"/>
              <a:t> of polymorphism in C++</a:t>
            </a:r>
          </a:p>
          <a:p>
            <a:pPr lvl="1"/>
            <a:r>
              <a:rPr lang="en-US" sz="2200" dirty="0">
                <a:solidFill>
                  <a:srgbClr val="C00000"/>
                </a:solidFill>
              </a:rPr>
              <a:t>Compile-time</a:t>
            </a:r>
            <a:r>
              <a:rPr lang="en-US" sz="2200" dirty="0"/>
              <a:t> polymorphism</a:t>
            </a:r>
          </a:p>
          <a:p>
            <a:pPr lvl="2"/>
            <a:r>
              <a:rPr lang="en-US" sz="1800" dirty="0">
                <a:solidFill>
                  <a:srgbClr val="0070C0"/>
                </a:solidFill>
              </a:rPr>
              <a:t>Function</a:t>
            </a:r>
            <a:r>
              <a:rPr lang="en-US" sz="1800" dirty="0"/>
              <a:t> overloading</a:t>
            </a:r>
          </a:p>
          <a:p>
            <a:pPr lvl="2"/>
            <a:r>
              <a:rPr lang="en-US" sz="1800" dirty="0">
                <a:solidFill>
                  <a:srgbClr val="00B050"/>
                </a:solidFill>
              </a:rPr>
              <a:t>Operator</a:t>
            </a:r>
            <a:r>
              <a:rPr lang="en-US" sz="1800" dirty="0"/>
              <a:t> overloading</a:t>
            </a:r>
          </a:p>
          <a:p>
            <a:pPr lvl="1"/>
            <a:r>
              <a:rPr lang="en-US" sz="2200" dirty="0">
                <a:solidFill>
                  <a:srgbClr val="7030A0"/>
                </a:solidFill>
              </a:rPr>
              <a:t>Run-time</a:t>
            </a:r>
            <a:r>
              <a:rPr lang="en-US" sz="2200" dirty="0"/>
              <a:t> polymorphism</a:t>
            </a:r>
            <a:endParaRPr lang="en-HK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55CAC7-D593-4EBD-BAFF-DE506B62FB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2513" y="3657600"/>
            <a:ext cx="4370487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351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767EC-39D8-4F4C-AB63-7894E9AD6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Polymorphism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91A949-1F37-42F9-B418-849949356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4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4D4B1F-83F5-45CE-B39E-D0DA0577FB3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Compile-time</a:t>
            </a:r>
            <a:r>
              <a:rPr lang="en-US" sz="2400" dirty="0"/>
              <a:t> polymorphism</a:t>
            </a:r>
          </a:p>
          <a:p>
            <a:pPr lvl="1"/>
            <a:r>
              <a:rPr lang="en-US" sz="2200" dirty="0">
                <a:solidFill>
                  <a:srgbClr val="C00000"/>
                </a:solidFill>
              </a:rPr>
              <a:t>Function</a:t>
            </a:r>
            <a:r>
              <a:rPr lang="en-US" sz="2200" dirty="0"/>
              <a:t> overloading</a:t>
            </a:r>
          </a:p>
          <a:p>
            <a:pPr lvl="2"/>
            <a:r>
              <a:rPr lang="en-US" sz="1800" dirty="0"/>
              <a:t>Change the </a:t>
            </a:r>
            <a:r>
              <a:rPr lang="en-US" sz="1800" dirty="0">
                <a:solidFill>
                  <a:srgbClr val="0070C0"/>
                </a:solidFill>
              </a:rPr>
              <a:t>number</a:t>
            </a:r>
            <a:r>
              <a:rPr lang="en-US" sz="1800" dirty="0"/>
              <a:t> of parameters, and/or</a:t>
            </a:r>
          </a:p>
          <a:p>
            <a:pPr lvl="2"/>
            <a:r>
              <a:rPr lang="en-US" sz="1800" dirty="0"/>
              <a:t>Change the </a:t>
            </a:r>
            <a:r>
              <a:rPr lang="en-US" sz="1800" dirty="0">
                <a:solidFill>
                  <a:srgbClr val="00B050"/>
                </a:solidFill>
              </a:rPr>
              <a:t>type</a:t>
            </a:r>
            <a:r>
              <a:rPr lang="en-US" sz="1800" dirty="0"/>
              <a:t> of parameters</a:t>
            </a:r>
          </a:p>
          <a:p>
            <a:pPr lvl="1"/>
            <a:r>
              <a:rPr lang="en-US" sz="2200" dirty="0">
                <a:solidFill>
                  <a:srgbClr val="7030A0"/>
                </a:solidFill>
              </a:rPr>
              <a:t>Early binding</a:t>
            </a:r>
            <a:r>
              <a:rPr lang="en-US" sz="2200" dirty="0"/>
              <a:t> (in the compilation)</a:t>
            </a:r>
            <a:endParaRPr lang="en-HK" sz="22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DC55B68-BB25-42D5-8859-F16DAAA61021}"/>
              </a:ext>
            </a:extLst>
          </p:cNvPr>
          <p:cNvSpPr txBox="1"/>
          <p:nvPr/>
        </p:nvSpPr>
        <p:spPr>
          <a:xfrm>
            <a:off x="1447800" y="3523833"/>
            <a:ext cx="40386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600" dirty="0">
                <a:latin typeface="Courier New" pitchFamily="49" charset="0"/>
              </a:rPr>
              <a:t>class A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600" dirty="0">
                <a:latin typeface="Courier New" pitchFamily="49" charset="0"/>
              </a:rPr>
              <a:t>public: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600" dirty="0">
                <a:latin typeface="Courier New" pitchFamily="49" charset="0"/>
              </a:rPr>
              <a:t>  void </a:t>
            </a:r>
            <a:r>
              <a:rPr lang="en-US" altLang="zh-CN" sz="1600" dirty="0" err="1">
                <a:latin typeface="Courier New" pitchFamily="49" charset="0"/>
              </a:rPr>
              <a:t>func</a:t>
            </a:r>
            <a:r>
              <a:rPr lang="en-US" altLang="zh-CN" sz="1600" dirty="0">
                <a:latin typeface="Courier New" pitchFamily="49" charset="0"/>
              </a:rPr>
              <a:t>()      { //…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600" dirty="0">
                <a:latin typeface="Courier New" pitchFamily="49" charset="0"/>
              </a:rPr>
              <a:t>  void </a:t>
            </a:r>
            <a:r>
              <a:rPr lang="en-US" altLang="zh-CN" sz="1600" dirty="0" err="1">
                <a:latin typeface="Courier New" pitchFamily="49" charset="0"/>
              </a:rPr>
              <a:t>func</a:t>
            </a:r>
            <a:r>
              <a:rPr lang="en-US" altLang="zh-CN" sz="1600" dirty="0">
                <a:latin typeface="Courier New" pitchFamily="49" charset="0"/>
              </a:rPr>
              <a:t>(int x) { //…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600" dirty="0">
                <a:latin typeface="Courier New" pitchFamily="49" charset="0"/>
              </a:rPr>
              <a:t>};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6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600" dirty="0">
                <a:latin typeface="Courier New" pitchFamily="49" charset="0"/>
              </a:rPr>
              <a:t>void f()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600" dirty="0">
                <a:latin typeface="Courier New" pitchFamily="49" charset="0"/>
              </a:rPr>
              <a:t>  A </a:t>
            </a:r>
            <a:r>
              <a:rPr lang="en-US" altLang="zh-CN" sz="1600" dirty="0" err="1">
                <a:latin typeface="Courier New" pitchFamily="49" charset="0"/>
              </a:rPr>
              <a:t>a</a:t>
            </a:r>
            <a:r>
              <a:rPr lang="en-US" altLang="zh-CN" sz="16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600" dirty="0">
                <a:latin typeface="Courier New" pitchFamily="49" charset="0"/>
              </a:rPr>
              <a:t>  </a:t>
            </a:r>
            <a:r>
              <a:rPr lang="en-US" altLang="zh-CN" sz="1600" dirty="0" err="1">
                <a:latin typeface="Courier New" pitchFamily="49" charset="0"/>
              </a:rPr>
              <a:t>a.func</a:t>
            </a:r>
            <a:r>
              <a:rPr lang="en-US" altLang="zh-CN" sz="1600" dirty="0">
                <a:latin typeface="Courier New" pitchFamily="49" charset="0"/>
              </a:rPr>
              <a:t>();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600" dirty="0">
                <a:latin typeface="Courier New" pitchFamily="49" charset="0"/>
              </a:rPr>
              <a:t>  </a:t>
            </a:r>
            <a:r>
              <a:rPr lang="en-US" altLang="zh-CN" sz="1600" dirty="0" err="1">
                <a:latin typeface="Courier New" pitchFamily="49" charset="0"/>
              </a:rPr>
              <a:t>a.func</a:t>
            </a:r>
            <a:r>
              <a:rPr lang="en-US" altLang="zh-CN" sz="1600" dirty="0">
                <a:latin typeface="Courier New" pitchFamily="49" charset="0"/>
              </a:rPr>
              <a:t>(10);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600" dirty="0">
                <a:latin typeface="Courier New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3C65DF-4263-3076-12E5-39EC960262E0}"/>
              </a:ext>
            </a:extLst>
          </p:cNvPr>
          <p:cNvSpPr txBox="1"/>
          <p:nvPr/>
        </p:nvSpPr>
        <p:spPr>
          <a:xfrm>
            <a:off x="914400" y="6501728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Code: lec10-01-function.cpp</a:t>
            </a:r>
          </a:p>
        </p:txBody>
      </p:sp>
    </p:spTree>
    <p:extLst>
      <p:ext uri="{BB962C8B-B14F-4D97-AF65-F5344CB8AC3E}">
        <p14:creationId xmlns:p14="http://schemas.microsoft.com/office/powerpoint/2010/main" val="1292893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6FD5B-980B-4AD1-B5C2-4544E606A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Polymorphism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981F41-1301-4182-8C52-82EAE3803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5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E9E751-8DEA-49CA-AAC8-CB29E8D68F4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b="1" dirty="0"/>
              <a:t>Compile-time</a:t>
            </a:r>
            <a:r>
              <a:rPr lang="en-US" sz="2400" dirty="0"/>
              <a:t> polymorphism</a:t>
            </a:r>
          </a:p>
          <a:p>
            <a:pPr lvl="1"/>
            <a:r>
              <a:rPr lang="en-US" sz="2200" dirty="0">
                <a:solidFill>
                  <a:srgbClr val="C00000"/>
                </a:solidFill>
              </a:rPr>
              <a:t>Operator</a:t>
            </a:r>
            <a:r>
              <a:rPr lang="en-US" sz="2200" dirty="0"/>
              <a:t> overloading</a:t>
            </a:r>
          </a:p>
          <a:p>
            <a:pPr lvl="1"/>
            <a:r>
              <a:rPr lang="en-US" sz="2200" dirty="0">
                <a:solidFill>
                  <a:srgbClr val="7030A0"/>
                </a:solidFill>
              </a:rPr>
              <a:t>Early binding</a:t>
            </a:r>
            <a:r>
              <a:rPr lang="en-US" sz="2200" dirty="0">
                <a:solidFill>
                  <a:prstClr val="black"/>
                </a:solidFill>
              </a:rPr>
              <a:t> (in the compilation)</a:t>
            </a:r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942103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4BF5B-CC87-47AD-8EA6-AF2CDF60F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Polymorphism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BA2EF7-0470-413B-8918-FE7E5EA23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6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1FE1FE-BA17-4FB9-8DE5-8C5ACD0A99E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b="1" dirty="0">
                <a:solidFill>
                  <a:prstClr val="black"/>
                </a:solidFill>
              </a:rPr>
              <a:t>Run-time</a:t>
            </a:r>
            <a:r>
              <a:rPr lang="en-US" sz="2400" dirty="0">
                <a:solidFill>
                  <a:prstClr val="black"/>
                </a:solidFill>
              </a:rPr>
              <a:t> polymorphism</a:t>
            </a:r>
          </a:p>
          <a:p>
            <a:pPr lvl="1"/>
            <a:r>
              <a:rPr lang="en-US" sz="2100" dirty="0"/>
              <a:t>Achieved by </a:t>
            </a:r>
            <a:r>
              <a:rPr lang="en-US" sz="2100" dirty="0">
                <a:solidFill>
                  <a:srgbClr val="FF0000"/>
                </a:solidFill>
              </a:rPr>
              <a:t>function overriding</a:t>
            </a:r>
            <a:r>
              <a:rPr lang="en-US" sz="2100" dirty="0"/>
              <a:t> (</a:t>
            </a:r>
            <a:r>
              <a:rPr lang="en-US" sz="2100" b="1" dirty="0">
                <a:solidFill>
                  <a:srgbClr val="FF0000"/>
                </a:solidFill>
              </a:rPr>
              <a:t>re</a:t>
            </a:r>
            <a:r>
              <a:rPr lang="en-US" sz="2100" dirty="0"/>
              <a:t>definition, </a:t>
            </a:r>
            <a:r>
              <a:rPr lang="en-US" sz="2100" b="1" dirty="0"/>
              <a:t>not</a:t>
            </a:r>
            <a:r>
              <a:rPr lang="en-US" sz="2100" dirty="0"/>
              <a:t> overloading)</a:t>
            </a:r>
          </a:p>
          <a:p>
            <a:pPr lvl="2"/>
            <a:r>
              <a:rPr lang="en-US" sz="1700" dirty="0"/>
              <a:t>Not run-time polymorphism yet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DA8C7F3-7781-4316-A572-FC304B74C057}"/>
              </a:ext>
            </a:extLst>
          </p:cNvPr>
          <p:cNvSpPr txBox="1"/>
          <p:nvPr/>
        </p:nvSpPr>
        <p:spPr>
          <a:xfrm>
            <a:off x="2792186" y="2895600"/>
            <a:ext cx="3810000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class Machine {</a:t>
            </a:r>
            <a:br>
              <a:rPr lang="en-US" altLang="zh-TW" sz="1000" dirty="0">
                <a:latin typeface="Courier New" pitchFamily="49" charset="0"/>
              </a:rPr>
            </a:br>
            <a:r>
              <a:rPr lang="en-US" altLang="zh-TW" sz="1000" dirty="0">
                <a:solidFill>
                  <a:srgbClr val="C00000"/>
                </a:solidFill>
                <a:latin typeface="Courier New" pitchFamily="49" charset="0"/>
              </a:rPr>
              <a:t>public</a:t>
            </a:r>
            <a:r>
              <a:rPr lang="en-US" altLang="zh-TW" sz="1000" dirty="0">
                <a:latin typeface="Courier New" pitchFamily="49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void start() { </a:t>
            </a:r>
            <a:r>
              <a:rPr lang="en-US" altLang="zh-TW" sz="1000" dirty="0" err="1">
                <a:latin typeface="Courier New" pitchFamily="49" charset="0"/>
              </a:rPr>
              <a:t>cout</a:t>
            </a:r>
            <a:r>
              <a:rPr lang="en-US" altLang="zh-TW" sz="1000" dirty="0">
                <a:latin typeface="Courier New" pitchFamily="49" charset="0"/>
              </a:rPr>
              <a:t> &lt;&lt; “starting” &lt;&lt; </a:t>
            </a:r>
            <a:r>
              <a:rPr lang="en-US" altLang="zh-TW" sz="1000" dirty="0" err="1">
                <a:latin typeface="Courier New" pitchFamily="49" charset="0"/>
              </a:rPr>
              <a:t>endl</a:t>
            </a:r>
            <a:r>
              <a:rPr lang="en-US" altLang="zh-TW" sz="1000" dirty="0">
                <a:latin typeface="Courier New" pitchFamily="49" charset="0"/>
              </a:rPr>
              <a:t>;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};</a:t>
            </a:r>
            <a:endParaRPr lang="en-US" altLang="zh-CN" sz="1000" dirty="0">
              <a:latin typeface="Courier New" pitchFamily="49" charset="0"/>
            </a:endParaRPr>
          </a:p>
        </p:txBody>
      </p:sp>
      <p:sp>
        <p:nvSpPr>
          <p:cNvPr id="6" name="文本框 4">
            <a:extLst>
              <a:ext uri="{FF2B5EF4-FFF2-40B4-BE49-F238E27FC236}">
                <a16:creationId xmlns:a16="http://schemas.microsoft.com/office/drawing/2014/main" id="{D3276E08-7F2B-48BD-91DA-54027A14EA3F}"/>
              </a:ext>
            </a:extLst>
          </p:cNvPr>
          <p:cNvSpPr txBox="1"/>
          <p:nvPr/>
        </p:nvSpPr>
        <p:spPr>
          <a:xfrm>
            <a:off x="381000" y="3792532"/>
            <a:ext cx="2590800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class Car :public Machine {</a:t>
            </a:r>
            <a:br>
              <a:rPr lang="en-US" altLang="zh-TW" sz="1000" dirty="0">
                <a:latin typeface="Courier New" pitchFamily="49" charset="0"/>
              </a:rPr>
            </a:br>
            <a:r>
              <a:rPr lang="en-US" altLang="zh-TW" sz="1000" dirty="0">
                <a:solidFill>
                  <a:srgbClr val="C00000"/>
                </a:solidFill>
                <a:latin typeface="Courier New" pitchFamily="49" charset="0"/>
              </a:rPr>
              <a:t>public</a:t>
            </a:r>
            <a:r>
              <a:rPr lang="en-US" altLang="zh-TW" sz="1000" dirty="0">
                <a:latin typeface="Courier New" pitchFamily="49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void start() {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  </a:t>
            </a:r>
            <a:r>
              <a:rPr lang="en-US" altLang="zh-TW" sz="1000" dirty="0" err="1">
                <a:latin typeface="Courier New" pitchFamily="49" charset="0"/>
              </a:rPr>
              <a:t>cout</a:t>
            </a:r>
            <a:r>
              <a:rPr lang="en-US" altLang="zh-TW" sz="1000" dirty="0">
                <a:latin typeface="Courier New" pitchFamily="49" charset="0"/>
              </a:rPr>
              <a:t> &lt;&lt; “driving” &lt;&lt; </a:t>
            </a:r>
            <a:r>
              <a:rPr lang="en-US" altLang="zh-TW" sz="1000" dirty="0" err="1">
                <a:latin typeface="Courier New" pitchFamily="49" charset="0"/>
              </a:rPr>
              <a:t>endl</a:t>
            </a:r>
            <a:r>
              <a:rPr lang="en-US" altLang="zh-TW" sz="1000" dirty="0">
                <a:latin typeface="Courier New" pitchFamily="49" charset="0"/>
              </a:rPr>
              <a:t>;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};</a:t>
            </a:r>
            <a:endParaRPr lang="en-US" altLang="zh-CN" sz="1000" dirty="0">
              <a:latin typeface="Courier New" pitchFamily="49" charset="0"/>
            </a:endParaRPr>
          </a:p>
        </p:txBody>
      </p:sp>
      <p:sp>
        <p:nvSpPr>
          <p:cNvPr id="7" name="文本框 4">
            <a:extLst>
              <a:ext uri="{FF2B5EF4-FFF2-40B4-BE49-F238E27FC236}">
                <a16:creationId xmlns:a16="http://schemas.microsoft.com/office/drawing/2014/main" id="{A77F47B5-4EB5-4AAE-93C8-FFD20B30A6F5}"/>
              </a:ext>
            </a:extLst>
          </p:cNvPr>
          <p:cNvSpPr txBox="1"/>
          <p:nvPr/>
        </p:nvSpPr>
        <p:spPr>
          <a:xfrm>
            <a:off x="3249386" y="3792531"/>
            <a:ext cx="2590800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class Drone :public Machine {</a:t>
            </a:r>
            <a:br>
              <a:rPr lang="en-US" altLang="zh-TW" sz="1000" dirty="0">
                <a:latin typeface="Courier New" pitchFamily="49" charset="0"/>
              </a:rPr>
            </a:br>
            <a:r>
              <a:rPr lang="en-US" altLang="zh-TW" sz="1000" dirty="0">
                <a:solidFill>
                  <a:srgbClr val="C00000"/>
                </a:solidFill>
                <a:latin typeface="Courier New" pitchFamily="49" charset="0"/>
              </a:rPr>
              <a:t>public</a:t>
            </a:r>
            <a:r>
              <a:rPr lang="en-US" altLang="zh-TW" sz="1000" dirty="0">
                <a:latin typeface="Courier New" pitchFamily="49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void start() {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  </a:t>
            </a:r>
            <a:r>
              <a:rPr lang="en-US" altLang="zh-TW" sz="1000" dirty="0" err="1">
                <a:latin typeface="Courier New" pitchFamily="49" charset="0"/>
              </a:rPr>
              <a:t>cout</a:t>
            </a:r>
            <a:r>
              <a:rPr lang="en-US" altLang="zh-TW" sz="1000" dirty="0">
                <a:latin typeface="Courier New" pitchFamily="49" charset="0"/>
              </a:rPr>
              <a:t> &lt;&lt; “flying” &lt;&lt; </a:t>
            </a:r>
            <a:r>
              <a:rPr lang="en-US" altLang="zh-TW" sz="1000" dirty="0" err="1">
                <a:latin typeface="Courier New" pitchFamily="49" charset="0"/>
              </a:rPr>
              <a:t>endl</a:t>
            </a:r>
            <a:r>
              <a:rPr lang="en-US" altLang="zh-TW" sz="1000" dirty="0">
                <a:latin typeface="Courier New" pitchFamily="49" charset="0"/>
              </a:rPr>
              <a:t>;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};</a:t>
            </a:r>
            <a:endParaRPr lang="en-US" altLang="zh-CN" sz="1000" dirty="0">
              <a:latin typeface="Courier New" pitchFamily="49" charset="0"/>
            </a:endParaRPr>
          </a:p>
        </p:txBody>
      </p:sp>
      <p:sp>
        <p:nvSpPr>
          <p:cNvPr id="8" name="文本框 4">
            <a:extLst>
              <a:ext uri="{FF2B5EF4-FFF2-40B4-BE49-F238E27FC236}">
                <a16:creationId xmlns:a16="http://schemas.microsoft.com/office/drawing/2014/main" id="{30B951A6-8C6F-4219-804B-5301C86FB5DE}"/>
              </a:ext>
            </a:extLst>
          </p:cNvPr>
          <p:cNvSpPr txBox="1"/>
          <p:nvPr/>
        </p:nvSpPr>
        <p:spPr>
          <a:xfrm>
            <a:off x="6183087" y="3781646"/>
            <a:ext cx="2590800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class Boat :public Machine {</a:t>
            </a:r>
            <a:br>
              <a:rPr lang="en-US" altLang="zh-TW" sz="1000" dirty="0">
                <a:latin typeface="Courier New" pitchFamily="49" charset="0"/>
              </a:rPr>
            </a:br>
            <a:r>
              <a:rPr lang="en-US" altLang="zh-TW" sz="1000" dirty="0">
                <a:solidFill>
                  <a:srgbClr val="C00000"/>
                </a:solidFill>
                <a:latin typeface="Courier New" pitchFamily="49" charset="0"/>
              </a:rPr>
              <a:t>public</a:t>
            </a:r>
            <a:r>
              <a:rPr lang="en-US" altLang="zh-TW" sz="1000" dirty="0">
                <a:latin typeface="Courier New" pitchFamily="49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void start() {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  </a:t>
            </a:r>
            <a:r>
              <a:rPr lang="en-US" altLang="zh-TW" sz="1000" dirty="0" err="1">
                <a:latin typeface="Courier New" pitchFamily="49" charset="0"/>
              </a:rPr>
              <a:t>cout</a:t>
            </a:r>
            <a:r>
              <a:rPr lang="en-US" altLang="zh-TW" sz="1000" dirty="0">
                <a:latin typeface="Courier New" pitchFamily="49" charset="0"/>
              </a:rPr>
              <a:t> &lt;&lt; “sailing” &lt;&lt; </a:t>
            </a:r>
            <a:r>
              <a:rPr lang="en-US" altLang="zh-TW" sz="1000" dirty="0" err="1">
                <a:latin typeface="Courier New" pitchFamily="49" charset="0"/>
              </a:rPr>
              <a:t>endl</a:t>
            </a:r>
            <a:r>
              <a:rPr lang="en-US" altLang="zh-TW" sz="1000" dirty="0">
                <a:latin typeface="Courier New" pitchFamily="49" charset="0"/>
              </a:rPr>
              <a:t>;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};</a:t>
            </a:r>
            <a:endParaRPr lang="en-US" altLang="zh-CN" sz="1000" dirty="0">
              <a:latin typeface="Courier New" pitchFamily="49" charset="0"/>
            </a:endParaRPr>
          </a:p>
        </p:txBody>
      </p:sp>
      <p:sp>
        <p:nvSpPr>
          <p:cNvPr id="9" name="文本框 4">
            <a:extLst>
              <a:ext uri="{FF2B5EF4-FFF2-40B4-BE49-F238E27FC236}">
                <a16:creationId xmlns:a16="http://schemas.microsoft.com/office/drawing/2014/main" id="{041811C2-D8CB-4AC8-AC09-15A295B384B3}"/>
              </a:ext>
            </a:extLst>
          </p:cNvPr>
          <p:cNvSpPr txBox="1"/>
          <p:nvPr/>
        </p:nvSpPr>
        <p:spPr>
          <a:xfrm>
            <a:off x="1905000" y="5029200"/>
            <a:ext cx="2362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void f1()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Car c;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</a:t>
            </a:r>
            <a:r>
              <a:rPr lang="en-US" altLang="zh-CN" sz="1000" dirty="0" err="1">
                <a:latin typeface="Courier New" pitchFamily="49" charset="0"/>
              </a:rPr>
              <a:t>c.start</a:t>
            </a:r>
            <a:r>
              <a:rPr lang="en-US" altLang="zh-CN" sz="1000" dirty="0">
                <a:latin typeface="Courier New" pitchFamily="49" charset="0"/>
              </a:rPr>
              <a:t>();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Car *</a:t>
            </a:r>
            <a:r>
              <a:rPr lang="en-US" altLang="zh-CN" sz="1000" dirty="0" err="1">
                <a:latin typeface="Courier New" pitchFamily="49" charset="0"/>
              </a:rPr>
              <a:t>cPtr</a:t>
            </a:r>
            <a:r>
              <a:rPr lang="en-US" altLang="zh-CN" sz="1000" dirty="0">
                <a:latin typeface="Courier New" pitchFamily="49" charset="0"/>
              </a:rPr>
              <a:t> = &amp;c;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</a:t>
            </a:r>
            <a:r>
              <a:rPr lang="en-US" altLang="zh-CN" sz="1000" dirty="0" err="1">
                <a:latin typeface="Courier New" pitchFamily="49" charset="0"/>
              </a:rPr>
              <a:t>cPtr</a:t>
            </a:r>
            <a:r>
              <a:rPr lang="en-US" altLang="zh-CN" sz="1000" dirty="0">
                <a:latin typeface="Courier New" pitchFamily="49" charset="0"/>
              </a:rPr>
              <a:t>-&gt;start();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</a:t>
            </a:r>
            <a:r>
              <a:rPr lang="en-US" altLang="zh-CN" sz="1000" dirty="0" err="1">
                <a:latin typeface="Courier New" pitchFamily="49" charset="0"/>
              </a:rPr>
              <a:t>cPtr</a:t>
            </a:r>
            <a:r>
              <a:rPr lang="en-US" altLang="zh-CN" sz="1000" dirty="0">
                <a:latin typeface="Courier New" pitchFamily="49" charset="0"/>
              </a:rPr>
              <a:t>-&gt;Machine::start();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}</a:t>
            </a:r>
          </a:p>
        </p:txBody>
      </p:sp>
      <p:sp>
        <p:nvSpPr>
          <p:cNvPr id="10" name="文本框 4">
            <a:extLst>
              <a:ext uri="{FF2B5EF4-FFF2-40B4-BE49-F238E27FC236}">
                <a16:creationId xmlns:a16="http://schemas.microsoft.com/office/drawing/2014/main" id="{9289AD8B-525C-4900-AE6E-4A819E214054}"/>
              </a:ext>
            </a:extLst>
          </p:cNvPr>
          <p:cNvSpPr txBox="1"/>
          <p:nvPr/>
        </p:nvSpPr>
        <p:spPr>
          <a:xfrm>
            <a:off x="5486400" y="5061065"/>
            <a:ext cx="23622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void f2()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Car c;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Machine *</a:t>
            </a:r>
            <a:r>
              <a:rPr lang="en-US" altLang="zh-CN" sz="1000" dirty="0" err="1">
                <a:latin typeface="Courier New" pitchFamily="49" charset="0"/>
              </a:rPr>
              <a:t>mPtr</a:t>
            </a:r>
            <a:r>
              <a:rPr lang="en-US" altLang="zh-CN" sz="1000" dirty="0">
                <a:latin typeface="Courier New" pitchFamily="49" charset="0"/>
              </a:rPr>
              <a:t> = &amp;c;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// binding at compile time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</a:t>
            </a:r>
            <a:r>
              <a:rPr lang="en-US" altLang="zh-CN" sz="1000" dirty="0" err="1">
                <a:latin typeface="Courier New" pitchFamily="49" charset="0"/>
              </a:rPr>
              <a:t>mPtr</a:t>
            </a:r>
            <a:r>
              <a:rPr lang="en-US" altLang="zh-CN" sz="1000" dirty="0">
                <a:latin typeface="Courier New" pitchFamily="49" charset="0"/>
              </a:rPr>
              <a:t>-&gt;start();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6C2956-0E2C-B12A-882E-305889507F4A}"/>
              </a:ext>
            </a:extLst>
          </p:cNvPr>
          <p:cNvSpPr txBox="1"/>
          <p:nvPr/>
        </p:nvSpPr>
        <p:spPr>
          <a:xfrm>
            <a:off x="914400" y="6501728"/>
            <a:ext cx="21611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Code: lec10-02-overriding.cpp</a:t>
            </a:r>
          </a:p>
        </p:txBody>
      </p:sp>
    </p:spTree>
    <p:extLst>
      <p:ext uri="{BB962C8B-B14F-4D97-AF65-F5344CB8AC3E}">
        <p14:creationId xmlns:p14="http://schemas.microsoft.com/office/powerpoint/2010/main" val="3245386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/>
      <p:bldP spid="10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F759B-1281-4CE8-B3C6-0F8B582CE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AC8F82-A81A-4E95-A696-6C9467222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7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CB0A99-48AB-4963-8E59-B0756B2805A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Introduction to Polymorphism</a:t>
            </a:r>
          </a:p>
          <a:p>
            <a:endParaRPr lang="en-US" dirty="0"/>
          </a:p>
          <a:p>
            <a:r>
              <a:rPr lang="en-US" dirty="0"/>
              <a:t>Virtual function and dynamic/late binding</a:t>
            </a:r>
          </a:p>
          <a:p>
            <a:endParaRPr lang="en-US" dirty="0"/>
          </a:p>
          <a:p>
            <a:r>
              <a:rPr lang="en-US" dirty="0"/>
              <a:t>Virtual destructor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644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AA96C-CEE3-4E62-BB8F-E0D8F6C3E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Polymorphism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53CB9D-3459-4FE2-928B-CFBE739AE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8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3D062C-299A-4740-9674-E42F4E2DF0E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prstClr val="black"/>
                </a:solidFill>
              </a:rPr>
              <a:t>Run-time</a:t>
            </a:r>
            <a:r>
              <a:rPr lang="en-US" sz="2400" dirty="0">
                <a:solidFill>
                  <a:prstClr val="black"/>
                </a:solidFill>
              </a:rPr>
              <a:t> polymorphism</a:t>
            </a:r>
          </a:p>
          <a:p>
            <a:pPr lvl="1"/>
            <a:r>
              <a:rPr lang="en-US" sz="2200" dirty="0">
                <a:solidFill>
                  <a:srgbClr val="FF0000"/>
                </a:solidFill>
              </a:rPr>
              <a:t>virtual</a:t>
            </a:r>
            <a:r>
              <a:rPr lang="en-US" sz="2200" dirty="0">
                <a:solidFill>
                  <a:prstClr val="black"/>
                </a:solidFill>
              </a:rPr>
              <a:t> function: </a:t>
            </a:r>
            <a:r>
              <a:rPr lang="en-US" sz="2200" dirty="0">
                <a:solidFill>
                  <a:srgbClr val="7030A0"/>
                </a:solidFill>
              </a:rPr>
              <a:t>run-time</a:t>
            </a:r>
            <a:r>
              <a:rPr lang="en-US" sz="2200" dirty="0">
                <a:solidFill>
                  <a:prstClr val="black"/>
                </a:solidFill>
              </a:rPr>
              <a:t> binding</a:t>
            </a:r>
            <a:endParaRPr lang="en-HK" sz="22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9179AF0-B3B4-4979-ACA2-2DA916AF7145}"/>
              </a:ext>
            </a:extLst>
          </p:cNvPr>
          <p:cNvSpPr txBox="1"/>
          <p:nvPr/>
        </p:nvSpPr>
        <p:spPr>
          <a:xfrm>
            <a:off x="2324099" y="2416314"/>
            <a:ext cx="4457701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class Machine {</a:t>
            </a:r>
            <a:br>
              <a:rPr lang="en-US" altLang="zh-TW" sz="1000" dirty="0">
                <a:latin typeface="Courier New" pitchFamily="49" charset="0"/>
              </a:rPr>
            </a:br>
            <a:r>
              <a:rPr lang="en-US" altLang="zh-TW" sz="1000" dirty="0">
                <a:solidFill>
                  <a:srgbClr val="C00000"/>
                </a:solidFill>
                <a:latin typeface="Courier New" pitchFamily="49" charset="0"/>
              </a:rPr>
              <a:t>public</a:t>
            </a:r>
            <a:r>
              <a:rPr lang="en-US" altLang="zh-TW" sz="1000" dirty="0">
                <a:latin typeface="Courier New" pitchFamily="49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</a:t>
            </a:r>
            <a:r>
              <a:rPr lang="en-US" altLang="zh-TW" sz="1000" dirty="0">
                <a:solidFill>
                  <a:srgbClr val="FF0000"/>
                </a:solidFill>
                <a:latin typeface="Courier New" pitchFamily="49" charset="0"/>
              </a:rPr>
              <a:t>virtual</a:t>
            </a:r>
            <a:r>
              <a:rPr lang="en-US" altLang="zh-TW" sz="1000" dirty="0">
                <a:latin typeface="Courier New" pitchFamily="49" charset="0"/>
              </a:rPr>
              <a:t> void start() { </a:t>
            </a:r>
            <a:r>
              <a:rPr lang="en-US" altLang="zh-TW" sz="1000" dirty="0" err="1">
                <a:latin typeface="Courier New" pitchFamily="49" charset="0"/>
              </a:rPr>
              <a:t>cout</a:t>
            </a:r>
            <a:r>
              <a:rPr lang="en-US" altLang="zh-TW" sz="1000" dirty="0">
                <a:latin typeface="Courier New" pitchFamily="49" charset="0"/>
              </a:rPr>
              <a:t> &lt;&lt; “starting” &lt;&lt; </a:t>
            </a:r>
            <a:r>
              <a:rPr lang="en-US" altLang="zh-TW" sz="1000" dirty="0" err="1">
                <a:latin typeface="Courier New" pitchFamily="49" charset="0"/>
              </a:rPr>
              <a:t>endl</a:t>
            </a:r>
            <a:r>
              <a:rPr lang="en-US" altLang="zh-TW" sz="1000" dirty="0">
                <a:latin typeface="Courier New" pitchFamily="49" charset="0"/>
              </a:rPr>
              <a:t>;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};</a:t>
            </a:r>
            <a:endParaRPr lang="en-US" altLang="zh-CN" sz="1000" dirty="0">
              <a:latin typeface="Courier New" pitchFamily="49" charset="0"/>
            </a:endParaRPr>
          </a:p>
        </p:txBody>
      </p:sp>
      <p:sp>
        <p:nvSpPr>
          <p:cNvPr id="6" name="文本框 4">
            <a:extLst>
              <a:ext uri="{FF2B5EF4-FFF2-40B4-BE49-F238E27FC236}">
                <a16:creationId xmlns:a16="http://schemas.microsoft.com/office/drawing/2014/main" id="{2C3F7E55-B61E-44F6-9429-A57A0C1BEEE8}"/>
              </a:ext>
            </a:extLst>
          </p:cNvPr>
          <p:cNvSpPr txBox="1"/>
          <p:nvPr/>
        </p:nvSpPr>
        <p:spPr>
          <a:xfrm>
            <a:off x="370113" y="3259132"/>
            <a:ext cx="2590800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class Car :public Machine {</a:t>
            </a:r>
            <a:br>
              <a:rPr lang="en-US" altLang="zh-TW" sz="1000" dirty="0">
                <a:latin typeface="Courier New" pitchFamily="49" charset="0"/>
              </a:rPr>
            </a:br>
            <a:r>
              <a:rPr lang="en-US" altLang="zh-TW" sz="1000" dirty="0">
                <a:solidFill>
                  <a:srgbClr val="C00000"/>
                </a:solidFill>
                <a:latin typeface="Courier New" pitchFamily="49" charset="0"/>
              </a:rPr>
              <a:t>public</a:t>
            </a:r>
            <a:r>
              <a:rPr lang="en-US" altLang="zh-TW" sz="1000" dirty="0">
                <a:latin typeface="Courier New" pitchFamily="49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void start() {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  </a:t>
            </a:r>
            <a:r>
              <a:rPr lang="en-US" altLang="zh-TW" sz="1000" dirty="0" err="1">
                <a:latin typeface="Courier New" pitchFamily="49" charset="0"/>
              </a:rPr>
              <a:t>cout</a:t>
            </a:r>
            <a:r>
              <a:rPr lang="en-US" altLang="zh-TW" sz="1000" dirty="0">
                <a:latin typeface="Courier New" pitchFamily="49" charset="0"/>
              </a:rPr>
              <a:t> &lt;&lt; “driving” &lt;&lt; </a:t>
            </a:r>
            <a:r>
              <a:rPr lang="en-US" altLang="zh-TW" sz="1000" dirty="0" err="1">
                <a:latin typeface="Courier New" pitchFamily="49" charset="0"/>
              </a:rPr>
              <a:t>endl</a:t>
            </a:r>
            <a:r>
              <a:rPr lang="en-US" altLang="zh-TW" sz="1000" dirty="0">
                <a:latin typeface="Courier New" pitchFamily="49" charset="0"/>
              </a:rPr>
              <a:t>;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};</a:t>
            </a:r>
            <a:endParaRPr lang="en-US" altLang="zh-CN" sz="1000" dirty="0">
              <a:latin typeface="Courier New" pitchFamily="49" charset="0"/>
            </a:endParaRPr>
          </a:p>
        </p:txBody>
      </p:sp>
      <p:sp>
        <p:nvSpPr>
          <p:cNvPr id="7" name="文本框 4">
            <a:extLst>
              <a:ext uri="{FF2B5EF4-FFF2-40B4-BE49-F238E27FC236}">
                <a16:creationId xmlns:a16="http://schemas.microsoft.com/office/drawing/2014/main" id="{61B636C6-12AE-4C79-82CA-DF87CFD6F248}"/>
              </a:ext>
            </a:extLst>
          </p:cNvPr>
          <p:cNvSpPr txBox="1"/>
          <p:nvPr/>
        </p:nvSpPr>
        <p:spPr>
          <a:xfrm>
            <a:off x="3238499" y="3259131"/>
            <a:ext cx="2590800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class Drone :public Machine {</a:t>
            </a:r>
            <a:br>
              <a:rPr lang="en-US" altLang="zh-TW" sz="1000" dirty="0">
                <a:latin typeface="Courier New" pitchFamily="49" charset="0"/>
              </a:rPr>
            </a:br>
            <a:r>
              <a:rPr lang="en-US" altLang="zh-TW" sz="1000" dirty="0">
                <a:solidFill>
                  <a:srgbClr val="C00000"/>
                </a:solidFill>
                <a:latin typeface="Courier New" pitchFamily="49" charset="0"/>
              </a:rPr>
              <a:t>public</a:t>
            </a:r>
            <a:r>
              <a:rPr lang="en-US" altLang="zh-TW" sz="1000" dirty="0">
                <a:latin typeface="Courier New" pitchFamily="49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void start() {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  </a:t>
            </a:r>
            <a:r>
              <a:rPr lang="en-US" altLang="zh-TW" sz="1000" dirty="0" err="1">
                <a:latin typeface="Courier New" pitchFamily="49" charset="0"/>
              </a:rPr>
              <a:t>cout</a:t>
            </a:r>
            <a:r>
              <a:rPr lang="en-US" altLang="zh-TW" sz="1000" dirty="0">
                <a:latin typeface="Courier New" pitchFamily="49" charset="0"/>
              </a:rPr>
              <a:t> &lt;&lt; “flying” &lt;&lt; </a:t>
            </a:r>
            <a:r>
              <a:rPr lang="en-US" altLang="zh-TW" sz="1000" dirty="0" err="1">
                <a:latin typeface="Courier New" pitchFamily="49" charset="0"/>
              </a:rPr>
              <a:t>endl</a:t>
            </a:r>
            <a:r>
              <a:rPr lang="en-US" altLang="zh-TW" sz="1000" dirty="0">
                <a:latin typeface="Courier New" pitchFamily="49" charset="0"/>
              </a:rPr>
              <a:t>;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};</a:t>
            </a:r>
            <a:endParaRPr lang="en-US" altLang="zh-CN" sz="1000" dirty="0">
              <a:latin typeface="Courier New" pitchFamily="49" charset="0"/>
            </a:endParaRPr>
          </a:p>
        </p:txBody>
      </p:sp>
      <p:sp>
        <p:nvSpPr>
          <p:cNvPr id="8" name="文本框 4">
            <a:extLst>
              <a:ext uri="{FF2B5EF4-FFF2-40B4-BE49-F238E27FC236}">
                <a16:creationId xmlns:a16="http://schemas.microsoft.com/office/drawing/2014/main" id="{FB86D00D-8F91-4147-B8CA-4D69E1E666B8}"/>
              </a:ext>
            </a:extLst>
          </p:cNvPr>
          <p:cNvSpPr txBox="1"/>
          <p:nvPr/>
        </p:nvSpPr>
        <p:spPr>
          <a:xfrm>
            <a:off x="6172200" y="3248246"/>
            <a:ext cx="2590800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class Boat :public Machine {</a:t>
            </a:r>
            <a:br>
              <a:rPr lang="en-US" altLang="zh-TW" sz="1000" dirty="0">
                <a:latin typeface="Courier New" pitchFamily="49" charset="0"/>
              </a:rPr>
            </a:br>
            <a:r>
              <a:rPr lang="en-US" altLang="zh-TW" sz="1000" dirty="0">
                <a:solidFill>
                  <a:srgbClr val="C00000"/>
                </a:solidFill>
                <a:latin typeface="Courier New" pitchFamily="49" charset="0"/>
              </a:rPr>
              <a:t>public</a:t>
            </a:r>
            <a:r>
              <a:rPr lang="en-US" altLang="zh-TW" sz="1000" dirty="0">
                <a:latin typeface="Courier New" pitchFamily="49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void start() {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  </a:t>
            </a:r>
            <a:r>
              <a:rPr lang="en-US" altLang="zh-TW" sz="1000" dirty="0" err="1">
                <a:latin typeface="Courier New" pitchFamily="49" charset="0"/>
              </a:rPr>
              <a:t>cout</a:t>
            </a:r>
            <a:r>
              <a:rPr lang="en-US" altLang="zh-TW" sz="1000" dirty="0">
                <a:latin typeface="Courier New" pitchFamily="49" charset="0"/>
              </a:rPr>
              <a:t> &lt;&lt; “sailing” &lt;&lt; </a:t>
            </a:r>
            <a:r>
              <a:rPr lang="en-US" altLang="zh-TW" sz="1000" dirty="0" err="1">
                <a:latin typeface="Courier New" pitchFamily="49" charset="0"/>
              </a:rPr>
              <a:t>endl</a:t>
            </a:r>
            <a:r>
              <a:rPr lang="en-US" altLang="zh-TW" sz="1000" dirty="0">
                <a:latin typeface="Courier New" pitchFamily="49" charset="0"/>
              </a:rPr>
              <a:t>;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};</a:t>
            </a:r>
            <a:endParaRPr lang="en-US" altLang="zh-CN" sz="1000" dirty="0">
              <a:latin typeface="Courier New" pitchFamily="49" charset="0"/>
            </a:endParaRPr>
          </a:p>
        </p:txBody>
      </p:sp>
      <p:sp>
        <p:nvSpPr>
          <p:cNvPr id="9" name="文本框 4">
            <a:extLst>
              <a:ext uri="{FF2B5EF4-FFF2-40B4-BE49-F238E27FC236}">
                <a16:creationId xmlns:a16="http://schemas.microsoft.com/office/drawing/2014/main" id="{8F924E39-549D-4AF0-975F-93A56CC28696}"/>
              </a:ext>
            </a:extLst>
          </p:cNvPr>
          <p:cNvSpPr txBox="1"/>
          <p:nvPr/>
        </p:nvSpPr>
        <p:spPr>
          <a:xfrm>
            <a:off x="1219200" y="4419600"/>
            <a:ext cx="23622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void f1()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Machine *</a:t>
            </a:r>
            <a:r>
              <a:rPr lang="en-US" altLang="zh-CN" sz="1000" dirty="0" err="1">
                <a:latin typeface="Courier New" pitchFamily="49" charset="0"/>
              </a:rPr>
              <a:t>mPtr</a:t>
            </a:r>
            <a:r>
              <a:rPr lang="en-US" altLang="zh-CN" sz="10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Car c;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</a:t>
            </a:r>
            <a:r>
              <a:rPr lang="en-US" altLang="zh-CN" sz="1000" dirty="0" err="1">
                <a:latin typeface="Courier New" pitchFamily="49" charset="0"/>
              </a:rPr>
              <a:t>mPtr</a:t>
            </a:r>
            <a:r>
              <a:rPr lang="en-US" altLang="zh-CN" sz="1000" dirty="0">
                <a:latin typeface="Courier New" pitchFamily="49" charset="0"/>
              </a:rPr>
              <a:t> = &amp;c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</a:t>
            </a:r>
            <a:r>
              <a:rPr lang="en-US" altLang="zh-CN" sz="1000" dirty="0" err="1">
                <a:latin typeface="Courier New" pitchFamily="49" charset="0"/>
              </a:rPr>
              <a:t>mPtr</a:t>
            </a:r>
            <a:r>
              <a:rPr lang="en-US" altLang="zh-CN" sz="1000" dirty="0">
                <a:latin typeface="Courier New" pitchFamily="49" charset="0"/>
              </a:rPr>
              <a:t>-&gt;start();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Drone d;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</a:t>
            </a:r>
            <a:r>
              <a:rPr lang="en-US" altLang="zh-CN" sz="1000" dirty="0" err="1">
                <a:latin typeface="Courier New" pitchFamily="49" charset="0"/>
              </a:rPr>
              <a:t>mPtr</a:t>
            </a:r>
            <a:r>
              <a:rPr lang="en-US" altLang="zh-CN" sz="1000" dirty="0">
                <a:latin typeface="Courier New" pitchFamily="49" charset="0"/>
              </a:rPr>
              <a:t> = &amp;d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</a:t>
            </a:r>
            <a:r>
              <a:rPr lang="en-US" altLang="zh-CN" sz="1000" dirty="0" err="1">
                <a:latin typeface="Courier New" pitchFamily="49" charset="0"/>
              </a:rPr>
              <a:t>mPtr</a:t>
            </a:r>
            <a:r>
              <a:rPr lang="en-US" altLang="zh-CN" sz="1000" dirty="0">
                <a:latin typeface="Courier New" pitchFamily="49" charset="0"/>
              </a:rPr>
              <a:t>-&gt;start();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Boat b;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</a:t>
            </a:r>
            <a:r>
              <a:rPr lang="en-US" altLang="zh-CN" sz="1000" dirty="0" err="1">
                <a:latin typeface="Courier New" pitchFamily="49" charset="0"/>
              </a:rPr>
              <a:t>mPtr</a:t>
            </a:r>
            <a:r>
              <a:rPr lang="en-US" altLang="zh-CN" sz="1000" dirty="0">
                <a:latin typeface="Courier New" pitchFamily="49" charset="0"/>
              </a:rPr>
              <a:t> = &amp;b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</a:t>
            </a:r>
            <a:r>
              <a:rPr lang="en-US" altLang="zh-CN" sz="1000" dirty="0" err="1">
                <a:latin typeface="Courier New" pitchFamily="49" charset="0"/>
              </a:rPr>
              <a:t>mPtr</a:t>
            </a:r>
            <a:r>
              <a:rPr lang="en-US" altLang="zh-CN" sz="1000" dirty="0">
                <a:latin typeface="Courier New" pitchFamily="49" charset="0"/>
              </a:rPr>
              <a:t>-&gt;start();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}</a:t>
            </a:r>
          </a:p>
        </p:txBody>
      </p:sp>
      <p:sp>
        <p:nvSpPr>
          <p:cNvPr id="10" name="文本框 4">
            <a:extLst>
              <a:ext uri="{FF2B5EF4-FFF2-40B4-BE49-F238E27FC236}">
                <a16:creationId xmlns:a16="http://schemas.microsoft.com/office/drawing/2014/main" id="{AE410F8C-3F00-4622-83F9-F1634E18659F}"/>
              </a:ext>
            </a:extLst>
          </p:cNvPr>
          <p:cNvSpPr txBox="1"/>
          <p:nvPr/>
        </p:nvSpPr>
        <p:spPr>
          <a:xfrm>
            <a:off x="4953000" y="4419600"/>
            <a:ext cx="2362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void launch(Machine *</a:t>
            </a:r>
            <a:r>
              <a:rPr lang="en-US" altLang="zh-CN" sz="1000" dirty="0" err="1">
                <a:latin typeface="Courier New" pitchFamily="49" charset="0"/>
              </a:rPr>
              <a:t>mPtr</a:t>
            </a:r>
            <a:r>
              <a:rPr lang="en-US" altLang="zh-CN" sz="1000" dirty="0">
                <a:latin typeface="Courier New" pitchFamily="49" charset="0"/>
              </a:rPr>
              <a:t>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</a:t>
            </a:r>
            <a:r>
              <a:rPr lang="en-US" altLang="zh-CN" sz="1000" dirty="0" err="1">
                <a:latin typeface="Courier New" pitchFamily="49" charset="0"/>
              </a:rPr>
              <a:t>mPtr</a:t>
            </a:r>
            <a:r>
              <a:rPr lang="en-US" altLang="zh-CN" sz="1000" dirty="0">
                <a:latin typeface="Courier New" pitchFamily="49" charset="0"/>
              </a:rPr>
              <a:t>-&gt;start();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}</a:t>
            </a:r>
          </a:p>
        </p:txBody>
      </p:sp>
      <p:sp>
        <p:nvSpPr>
          <p:cNvPr id="11" name="文本框 4">
            <a:extLst>
              <a:ext uri="{FF2B5EF4-FFF2-40B4-BE49-F238E27FC236}">
                <a16:creationId xmlns:a16="http://schemas.microsoft.com/office/drawing/2014/main" id="{D9A60A78-CBE1-45EF-B37F-BC7BA507FAA2}"/>
              </a:ext>
            </a:extLst>
          </p:cNvPr>
          <p:cNvSpPr txBox="1"/>
          <p:nvPr/>
        </p:nvSpPr>
        <p:spPr>
          <a:xfrm>
            <a:off x="4953000" y="4998184"/>
            <a:ext cx="23622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void f2()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Car c;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launch(&amp;c);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Drone d;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launch(&amp;d);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Boat b;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launch(&amp;d);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96CDB8-E103-D4AB-24D0-181B64D5F35B}"/>
              </a:ext>
            </a:extLst>
          </p:cNvPr>
          <p:cNvSpPr txBox="1"/>
          <p:nvPr/>
        </p:nvSpPr>
        <p:spPr>
          <a:xfrm>
            <a:off x="914400" y="6501728"/>
            <a:ext cx="19191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Code: lec10-03-virtual.cpp</a:t>
            </a:r>
          </a:p>
        </p:txBody>
      </p:sp>
    </p:spTree>
    <p:extLst>
      <p:ext uri="{BB962C8B-B14F-4D97-AF65-F5344CB8AC3E}">
        <p14:creationId xmlns:p14="http://schemas.microsoft.com/office/powerpoint/2010/main" val="1082020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/>
      <p:bldP spid="10" grpId="0"/>
      <p:bldP spid="11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DE964-C935-412E-B54B-2C458E185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A3A689-18D0-477E-A9C4-B9A649968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9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B2E54F-BE53-4112-8E6D-BA2841D1120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To achieve </a:t>
            </a:r>
            <a:r>
              <a:rPr lang="en-US" sz="2400" dirty="0">
                <a:solidFill>
                  <a:srgbClr val="C00000"/>
                </a:solidFill>
              </a:rPr>
              <a:t>run-time</a:t>
            </a:r>
            <a:r>
              <a:rPr lang="en-US" sz="2400" dirty="0"/>
              <a:t> polymorphism,</a:t>
            </a:r>
          </a:p>
          <a:p>
            <a:pPr lvl="1"/>
            <a:r>
              <a:rPr lang="en-US" sz="2200" dirty="0"/>
              <a:t>1) </a:t>
            </a:r>
            <a:r>
              <a:rPr lang="en-US" sz="2200" dirty="0">
                <a:solidFill>
                  <a:srgbClr val="7030A0"/>
                </a:solidFill>
              </a:rPr>
              <a:t>inheritance</a:t>
            </a:r>
            <a:r>
              <a:rPr lang="en-US" sz="2200" dirty="0"/>
              <a:t> happens, and</a:t>
            </a:r>
          </a:p>
          <a:p>
            <a:pPr lvl="1"/>
            <a:r>
              <a:rPr lang="en-US" sz="2200" dirty="0"/>
              <a:t>2) the </a:t>
            </a:r>
            <a:r>
              <a:rPr lang="en-US" sz="2200" dirty="0">
                <a:solidFill>
                  <a:srgbClr val="00B0F0"/>
                </a:solidFill>
              </a:rPr>
              <a:t>virtual function</a:t>
            </a:r>
            <a:r>
              <a:rPr lang="en-US" sz="2200" dirty="0"/>
              <a:t> in the </a:t>
            </a:r>
            <a:r>
              <a:rPr lang="en-US" sz="2200" b="1" dirty="0"/>
              <a:t>base</a:t>
            </a:r>
            <a:r>
              <a:rPr lang="en-US" sz="2200" dirty="0"/>
              <a:t> class is </a:t>
            </a:r>
            <a:r>
              <a:rPr lang="en-US" sz="2200" dirty="0">
                <a:solidFill>
                  <a:srgbClr val="00B050"/>
                </a:solidFill>
              </a:rPr>
              <a:t>overridden</a:t>
            </a:r>
            <a:r>
              <a:rPr lang="en-US" sz="2200" dirty="0"/>
              <a:t> in the </a:t>
            </a:r>
            <a:r>
              <a:rPr lang="en-US" sz="2200" b="1" dirty="0"/>
              <a:t>derived</a:t>
            </a:r>
            <a:r>
              <a:rPr lang="en-US" sz="2200" dirty="0"/>
              <a:t> class</a:t>
            </a:r>
          </a:p>
          <a:p>
            <a:r>
              <a:rPr lang="en-US" sz="2400" dirty="0"/>
              <a:t>How </a:t>
            </a:r>
            <a:r>
              <a:rPr lang="en-US" sz="2400"/>
              <a:t>to use?</a:t>
            </a:r>
            <a:endParaRPr lang="en-US" sz="2400" dirty="0"/>
          </a:p>
          <a:p>
            <a:pPr lvl="1"/>
            <a:r>
              <a:rPr lang="en-US" sz="2200" dirty="0">
                <a:solidFill>
                  <a:srgbClr val="C00000"/>
                </a:solidFill>
              </a:rPr>
              <a:t>Base class pointer </a:t>
            </a:r>
            <a:r>
              <a:rPr lang="en-US" sz="2200" dirty="0"/>
              <a:t>pointing to </a:t>
            </a:r>
            <a:r>
              <a:rPr lang="en-US" sz="2200" dirty="0">
                <a:solidFill>
                  <a:srgbClr val="7030A0"/>
                </a:solidFill>
              </a:rPr>
              <a:t>derived class object</a:t>
            </a:r>
            <a:endParaRPr lang="en-HK" sz="22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6399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516D0-F016-427C-8D8B-A259C89F6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E350D2-91A1-412A-8CD6-462B2D3B3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10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9B2878-3CB6-4FB8-BAB3-417B4F45A65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200" dirty="0">
                <a:solidFill>
                  <a:srgbClr val="C00000"/>
                </a:solidFill>
              </a:rPr>
              <a:t>Virtual</a:t>
            </a:r>
            <a:r>
              <a:rPr lang="en-US" sz="2200" dirty="0"/>
              <a:t> and </a:t>
            </a:r>
            <a:r>
              <a:rPr lang="en-US" sz="2200" dirty="0">
                <a:solidFill>
                  <a:srgbClr val="7030A0"/>
                </a:solidFill>
              </a:rPr>
              <a:t>non-virtual</a:t>
            </a:r>
            <a:r>
              <a:rPr lang="en-US" sz="2200" dirty="0"/>
              <a:t> functions</a:t>
            </a:r>
          </a:p>
          <a:p>
            <a:pPr lvl="1"/>
            <a:r>
              <a:rPr lang="en-US" sz="1800" dirty="0">
                <a:solidFill>
                  <a:srgbClr val="C00000"/>
                </a:solidFill>
              </a:rPr>
              <a:t>Virtual function</a:t>
            </a:r>
            <a:r>
              <a:rPr lang="en-US" sz="1800" dirty="0"/>
              <a:t>: binding at </a:t>
            </a:r>
            <a:r>
              <a:rPr lang="en-US" sz="1800" b="1" dirty="0"/>
              <a:t>run time</a:t>
            </a:r>
          </a:p>
          <a:p>
            <a:pPr lvl="1"/>
            <a:r>
              <a:rPr lang="en-US" sz="1800" dirty="0">
                <a:solidFill>
                  <a:srgbClr val="7030A0"/>
                </a:solidFill>
              </a:rPr>
              <a:t>Non-virtual function</a:t>
            </a:r>
            <a:r>
              <a:rPr lang="en-US" sz="1800" dirty="0"/>
              <a:t>: binding at </a:t>
            </a:r>
            <a:r>
              <a:rPr lang="en-US" sz="1800" b="1" dirty="0"/>
              <a:t>compile</a:t>
            </a:r>
            <a:r>
              <a:rPr lang="en-US" sz="1800" dirty="0"/>
              <a:t> time</a:t>
            </a:r>
            <a:endParaRPr lang="en-HK" sz="1800" dirty="0"/>
          </a:p>
        </p:txBody>
      </p:sp>
      <p:sp>
        <p:nvSpPr>
          <p:cNvPr id="6" name="文本框 4">
            <a:extLst>
              <a:ext uri="{FF2B5EF4-FFF2-40B4-BE49-F238E27FC236}">
                <a16:creationId xmlns:a16="http://schemas.microsoft.com/office/drawing/2014/main" id="{123162DC-93FE-454C-A602-D5E00D28CAAC}"/>
              </a:ext>
            </a:extLst>
          </p:cNvPr>
          <p:cNvSpPr txBox="1"/>
          <p:nvPr/>
        </p:nvSpPr>
        <p:spPr>
          <a:xfrm>
            <a:off x="1219200" y="2630031"/>
            <a:ext cx="3048000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class Machine {</a:t>
            </a:r>
            <a:br>
              <a:rPr lang="en-US" altLang="zh-TW" sz="1000" dirty="0">
                <a:latin typeface="Courier New" pitchFamily="49" charset="0"/>
              </a:rPr>
            </a:br>
            <a:r>
              <a:rPr lang="en-US" altLang="zh-TW" sz="1000" dirty="0">
                <a:solidFill>
                  <a:srgbClr val="C00000"/>
                </a:solidFill>
                <a:latin typeface="Courier New" pitchFamily="49" charset="0"/>
              </a:rPr>
              <a:t>public</a:t>
            </a:r>
            <a:r>
              <a:rPr lang="en-US" altLang="zh-TW" sz="1000" dirty="0">
                <a:latin typeface="Courier New" pitchFamily="49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</a:t>
            </a:r>
            <a:r>
              <a:rPr lang="en-US" altLang="zh-TW" sz="1000" dirty="0">
                <a:solidFill>
                  <a:srgbClr val="FF0000"/>
                </a:solidFill>
                <a:latin typeface="Courier New" pitchFamily="49" charset="0"/>
              </a:rPr>
              <a:t>virtual</a:t>
            </a:r>
            <a:r>
              <a:rPr lang="en-US" altLang="zh-TW" sz="1000" dirty="0">
                <a:latin typeface="Courier New" pitchFamily="49" charset="0"/>
              </a:rPr>
              <a:t> void start() {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  </a:t>
            </a:r>
            <a:r>
              <a:rPr lang="en-US" altLang="zh-TW" sz="1000" dirty="0" err="1">
                <a:latin typeface="Courier New" pitchFamily="49" charset="0"/>
              </a:rPr>
              <a:t>cout</a:t>
            </a:r>
            <a:r>
              <a:rPr lang="en-US" altLang="zh-TW" sz="1000" dirty="0">
                <a:latin typeface="Courier New" pitchFamily="49" charset="0"/>
              </a:rPr>
              <a:t> &lt;&lt; “starting” &lt;&lt; </a:t>
            </a:r>
            <a:r>
              <a:rPr lang="en-US" altLang="zh-TW" sz="1000" dirty="0" err="1">
                <a:latin typeface="Courier New" pitchFamily="49" charset="0"/>
              </a:rPr>
              <a:t>endl</a:t>
            </a:r>
            <a:r>
              <a:rPr lang="en-US" altLang="zh-TW" sz="1000" dirty="0">
                <a:latin typeface="Courier New" pitchFamily="49" charset="0"/>
              </a:rPr>
              <a:t>;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}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TW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</a:t>
            </a:r>
            <a:r>
              <a:rPr lang="en-US" altLang="zh-TW" sz="1000" dirty="0">
                <a:solidFill>
                  <a:srgbClr val="FF0000"/>
                </a:solidFill>
                <a:latin typeface="Courier New" pitchFamily="49" charset="0"/>
              </a:rPr>
              <a:t>virtual</a:t>
            </a:r>
            <a:r>
              <a:rPr lang="en-US" altLang="zh-TW" sz="1000" dirty="0">
                <a:latin typeface="Courier New" pitchFamily="49" charset="0"/>
              </a:rPr>
              <a:t> void end() {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  </a:t>
            </a:r>
            <a:r>
              <a:rPr lang="en-US" altLang="zh-TW" sz="1000" dirty="0" err="1">
                <a:latin typeface="Courier New" pitchFamily="49" charset="0"/>
              </a:rPr>
              <a:t>cout</a:t>
            </a:r>
            <a:r>
              <a:rPr lang="en-US" altLang="zh-TW" sz="1000" dirty="0">
                <a:latin typeface="Courier New" pitchFamily="49" charset="0"/>
              </a:rPr>
              <a:t> &lt;&lt; “ending” &lt;&lt; </a:t>
            </a:r>
            <a:r>
              <a:rPr lang="en-US" altLang="zh-TW" sz="1000" dirty="0" err="1">
                <a:latin typeface="Courier New" pitchFamily="49" charset="0"/>
              </a:rPr>
              <a:t>endl</a:t>
            </a:r>
            <a:r>
              <a:rPr lang="en-US" altLang="zh-TW" sz="1000" dirty="0">
                <a:latin typeface="Courier New" pitchFamily="49" charset="0"/>
              </a:rPr>
              <a:t>;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}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TW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void </a:t>
            </a:r>
            <a:r>
              <a:rPr lang="en-US" altLang="zh-TW" sz="1000" dirty="0" err="1">
                <a:latin typeface="Courier New" pitchFamily="49" charset="0"/>
              </a:rPr>
              <a:t>playSound</a:t>
            </a:r>
            <a:r>
              <a:rPr lang="en-US" altLang="zh-TW" sz="1000" dirty="0">
                <a:latin typeface="Courier New" pitchFamily="49" charset="0"/>
              </a:rPr>
              <a:t>()     {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  </a:t>
            </a:r>
            <a:r>
              <a:rPr lang="en-US" altLang="zh-TW" sz="1000" dirty="0" err="1">
                <a:latin typeface="Courier New" pitchFamily="49" charset="0"/>
              </a:rPr>
              <a:t>cout</a:t>
            </a:r>
            <a:r>
              <a:rPr lang="en-US" altLang="zh-TW" sz="1000" dirty="0">
                <a:latin typeface="Courier New" pitchFamily="49" charset="0"/>
              </a:rPr>
              <a:t> &lt;&lt; “playing sound” &lt;&lt; </a:t>
            </a:r>
            <a:r>
              <a:rPr lang="en-US" altLang="zh-TW" sz="1000" dirty="0" err="1">
                <a:latin typeface="Courier New" pitchFamily="49" charset="0"/>
              </a:rPr>
              <a:t>endl</a:t>
            </a:r>
            <a:r>
              <a:rPr lang="en-US" altLang="zh-TW" sz="1000" dirty="0">
                <a:latin typeface="Courier New" pitchFamily="49" charset="0"/>
              </a:rPr>
              <a:t>;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};</a:t>
            </a:r>
            <a:endParaRPr lang="en-US" altLang="zh-CN" sz="1000" dirty="0">
              <a:latin typeface="Courier New" pitchFamily="49" charset="0"/>
            </a:endParaRPr>
          </a:p>
        </p:txBody>
      </p:sp>
      <p:sp>
        <p:nvSpPr>
          <p:cNvPr id="7" name="文本框 4">
            <a:extLst>
              <a:ext uri="{FF2B5EF4-FFF2-40B4-BE49-F238E27FC236}">
                <a16:creationId xmlns:a16="http://schemas.microsoft.com/office/drawing/2014/main" id="{6808FA39-8A00-44D3-AEF5-E367F741C7D8}"/>
              </a:ext>
            </a:extLst>
          </p:cNvPr>
          <p:cNvSpPr txBox="1"/>
          <p:nvPr/>
        </p:nvSpPr>
        <p:spPr>
          <a:xfrm>
            <a:off x="4876800" y="2648515"/>
            <a:ext cx="3048000" cy="20928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class Car :public Machine {</a:t>
            </a:r>
            <a:br>
              <a:rPr lang="en-US" altLang="zh-TW" sz="1000" dirty="0">
                <a:latin typeface="Courier New" pitchFamily="49" charset="0"/>
              </a:rPr>
            </a:br>
            <a:r>
              <a:rPr lang="en-US" altLang="zh-TW" sz="1000" dirty="0">
                <a:solidFill>
                  <a:srgbClr val="C00000"/>
                </a:solidFill>
                <a:latin typeface="Courier New" pitchFamily="49" charset="0"/>
              </a:rPr>
              <a:t>public</a:t>
            </a:r>
            <a:r>
              <a:rPr lang="en-US" altLang="zh-TW" sz="1000" dirty="0">
                <a:latin typeface="Courier New" pitchFamily="49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void start() {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  </a:t>
            </a:r>
            <a:r>
              <a:rPr lang="en-US" altLang="zh-TW" sz="1000" dirty="0" err="1">
                <a:latin typeface="Courier New" pitchFamily="49" charset="0"/>
              </a:rPr>
              <a:t>cout</a:t>
            </a:r>
            <a:r>
              <a:rPr lang="en-US" altLang="zh-TW" sz="1000" dirty="0">
                <a:latin typeface="Courier New" pitchFamily="49" charset="0"/>
              </a:rPr>
              <a:t> &lt;&lt; “driving” &lt;&lt; </a:t>
            </a:r>
            <a:r>
              <a:rPr lang="en-US" altLang="zh-TW" sz="1000" dirty="0" err="1">
                <a:latin typeface="Courier New" pitchFamily="49" charset="0"/>
              </a:rPr>
              <a:t>endl</a:t>
            </a:r>
            <a:r>
              <a:rPr lang="en-US" altLang="zh-TW" sz="1000" dirty="0">
                <a:latin typeface="Courier New" pitchFamily="49" charset="0"/>
              </a:rPr>
              <a:t>;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void end() {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  </a:t>
            </a:r>
            <a:r>
              <a:rPr lang="en-US" altLang="zh-TW" sz="1000" dirty="0" err="1">
                <a:latin typeface="Courier New" pitchFamily="49" charset="0"/>
              </a:rPr>
              <a:t>cout</a:t>
            </a:r>
            <a:r>
              <a:rPr lang="en-US" altLang="zh-TW" sz="1000" dirty="0">
                <a:latin typeface="Courier New" pitchFamily="49" charset="0"/>
              </a:rPr>
              <a:t> &lt;&lt; “breaking” &lt;&lt; </a:t>
            </a:r>
            <a:r>
              <a:rPr lang="en-US" altLang="zh-TW" sz="1000" dirty="0" err="1">
                <a:latin typeface="Courier New" pitchFamily="49" charset="0"/>
              </a:rPr>
              <a:t>endl</a:t>
            </a:r>
            <a:r>
              <a:rPr lang="en-US" altLang="zh-TW" sz="1000" dirty="0">
                <a:latin typeface="Courier New" pitchFamily="49" charset="0"/>
              </a:rPr>
              <a:t>;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void </a:t>
            </a:r>
            <a:r>
              <a:rPr lang="en-US" altLang="zh-TW" sz="1000" dirty="0" err="1">
                <a:latin typeface="Courier New" pitchFamily="49" charset="0"/>
              </a:rPr>
              <a:t>playSound</a:t>
            </a:r>
            <a:r>
              <a:rPr lang="en-US" altLang="zh-TW" sz="1000" dirty="0">
                <a:latin typeface="Courier New" pitchFamily="49" charset="0"/>
              </a:rPr>
              <a:t>()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  </a:t>
            </a:r>
            <a:r>
              <a:rPr lang="en-US" altLang="zh-TW" sz="1000" dirty="0" err="1">
                <a:latin typeface="Courier New" pitchFamily="49" charset="0"/>
              </a:rPr>
              <a:t>cout</a:t>
            </a:r>
            <a:r>
              <a:rPr lang="en-US" altLang="zh-TW" sz="1000" dirty="0">
                <a:latin typeface="Courier New" pitchFamily="49" charset="0"/>
              </a:rPr>
              <a:t> &lt;&lt; “beep” &lt;&lt; </a:t>
            </a:r>
            <a:r>
              <a:rPr lang="en-US" altLang="zh-TW" sz="1000" dirty="0" err="1">
                <a:latin typeface="Courier New" pitchFamily="49" charset="0"/>
              </a:rPr>
              <a:t>endl</a:t>
            </a:r>
            <a:r>
              <a:rPr lang="en-US" altLang="zh-TW" sz="10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};</a:t>
            </a:r>
            <a:endParaRPr lang="en-US" altLang="zh-CN" sz="1000" dirty="0">
              <a:latin typeface="Courier New" pitchFamily="49" charset="0"/>
            </a:endParaRPr>
          </a:p>
        </p:txBody>
      </p:sp>
      <p:sp>
        <p:nvSpPr>
          <p:cNvPr id="8" name="文本框 4">
            <a:extLst>
              <a:ext uri="{FF2B5EF4-FFF2-40B4-BE49-F238E27FC236}">
                <a16:creationId xmlns:a16="http://schemas.microsoft.com/office/drawing/2014/main" id="{544CC0B6-A944-4894-9EA1-B5DEA7FB7A7C}"/>
              </a:ext>
            </a:extLst>
          </p:cNvPr>
          <p:cNvSpPr txBox="1"/>
          <p:nvPr/>
        </p:nvSpPr>
        <p:spPr>
          <a:xfrm>
            <a:off x="4833257" y="4920496"/>
            <a:ext cx="3853543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void f()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Car c;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Machine *</a:t>
            </a:r>
            <a:r>
              <a:rPr lang="en-US" altLang="zh-CN" sz="1000" dirty="0" err="1">
                <a:latin typeface="Courier New" pitchFamily="49" charset="0"/>
              </a:rPr>
              <a:t>mPtr</a:t>
            </a:r>
            <a:r>
              <a:rPr lang="en-US" altLang="zh-CN" sz="1000" dirty="0">
                <a:latin typeface="Courier New" pitchFamily="49" charset="0"/>
              </a:rPr>
              <a:t> = &amp;c;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// virtual function, binding at run time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</a:t>
            </a:r>
            <a:r>
              <a:rPr lang="en-US" altLang="zh-CN" sz="1000" dirty="0" err="1">
                <a:latin typeface="Courier New" pitchFamily="49" charset="0"/>
              </a:rPr>
              <a:t>mPtr</a:t>
            </a:r>
            <a:r>
              <a:rPr lang="en-US" altLang="zh-CN" sz="1000" dirty="0">
                <a:latin typeface="Courier New" pitchFamily="49" charset="0"/>
              </a:rPr>
              <a:t>-&gt;start();  // driving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// non-virtual </a:t>
            </a:r>
            <a:r>
              <a:rPr lang="en-US" altLang="zh-CN" sz="1000" dirty="0" err="1">
                <a:latin typeface="Courier New" pitchFamily="49" charset="0"/>
              </a:rPr>
              <a:t>func</a:t>
            </a:r>
            <a:r>
              <a:rPr lang="en-US" altLang="zh-CN" sz="1000" dirty="0">
                <a:latin typeface="Courier New" pitchFamily="49" charset="0"/>
              </a:rPr>
              <a:t>, binding at compile time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</a:t>
            </a:r>
            <a:r>
              <a:rPr lang="en-US" altLang="zh-CN" sz="1000" dirty="0" err="1">
                <a:latin typeface="Courier New" pitchFamily="49" charset="0"/>
              </a:rPr>
              <a:t>mPtr</a:t>
            </a:r>
            <a:r>
              <a:rPr lang="en-US" altLang="zh-CN" sz="1000" dirty="0">
                <a:latin typeface="Courier New" pitchFamily="49" charset="0"/>
              </a:rPr>
              <a:t>-&gt;</a:t>
            </a:r>
            <a:r>
              <a:rPr lang="en-US" altLang="zh-CN" sz="1000" dirty="0" err="1">
                <a:latin typeface="Courier New" pitchFamily="49" charset="0"/>
              </a:rPr>
              <a:t>playSound</a:t>
            </a:r>
            <a:r>
              <a:rPr lang="en-US" altLang="zh-CN" sz="1000" dirty="0">
                <a:latin typeface="Courier New" pitchFamily="49" charset="0"/>
              </a:rPr>
              <a:t>();  // playing sound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FFE0CF-2825-A61F-6E0E-6476C56C8F16}"/>
              </a:ext>
            </a:extLst>
          </p:cNvPr>
          <p:cNvSpPr txBox="1"/>
          <p:nvPr/>
        </p:nvSpPr>
        <p:spPr>
          <a:xfrm>
            <a:off x="914400" y="6501728"/>
            <a:ext cx="20681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Code: lec10-04-compare.cpp</a:t>
            </a:r>
          </a:p>
        </p:txBody>
      </p:sp>
    </p:spTree>
    <p:extLst>
      <p:ext uri="{BB962C8B-B14F-4D97-AF65-F5344CB8AC3E}">
        <p14:creationId xmlns:p14="http://schemas.microsoft.com/office/powerpoint/2010/main" val="4013500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F2CA2-F9D8-253F-63D7-D71279247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Thinking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AD7E98-7362-467F-2237-040C9BB8D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11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99840F-4550-2340-E509-C0CDBBFD7B7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How late binding works?</a:t>
            </a:r>
          </a:p>
          <a:p>
            <a:pPr lvl="1"/>
            <a:r>
              <a:rPr lang="en-US" sz="2000" dirty="0" err="1">
                <a:solidFill>
                  <a:srgbClr val="C00000"/>
                </a:solidFill>
              </a:rPr>
              <a:t>vtable</a:t>
            </a:r>
            <a:r>
              <a:rPr lang="en-US" sz="2000" dirty="0"/>
              <a:t>: a table of (virtual) function pointers, </a:t>
            </a:r>
            <a:r>
              <a:rPr lang="en-US" sz="2000" b="1" dirty="0">
                <a:solidFill>
                  <a:srgbClr val="C00000"/>
                </a:solidFill>
              </a:rPr>
              <a:t>one table per class</a:t>
            </a:r>
          </a:p>
          <a:p>
            <a:pPr lvl="1"/>
            <a:r>
              <a:rPr lang="en-US" sz="2000" dirty="0" err="1">
                <a:solidFill>
                  <a:srgbClr val="7030A0"/>
                </a:solidFill>
              </a:rPr>
              <a:t>vptr</a:t>
            </a:r>
            <a:r>
              <a:rPr lang="en-US" sz="2000" dirty="0"/>
              <a:t>: a pointer to </a:t>
            </a:r>
            <a:r>
              <a:rPr lang="en-US" sz="2000" dirty="0" err="1"/>
              <a:t>vtable</a:t>
            </a:r>
            <a:r>
              <a:rPr lang="en-US" sz="2000" dirty="0"/>
              <a:t>, </a:t>
            </a:r>
            <a:r>
              <a:rPr lang="en-US" sz="2000" b="1" dirty="0">
                <a:solidFill>
                  <a:srgbClr val="7030A0"/>
                </a:solidFill>
              </a:rPr>
              <a:t>one </a:t>
            </a:r>
            <a:r>
              <a:rPr lang="en-US" sz="2000" b="1" dirty="0" err="1">
                <a:solidFill>
                  <a:srgbClr val="7030A0"/>
                </a:solidFill>
              </a:rPr>
              <a:t>vptr</a:t>
            </a:r>
            <a:r>
              <a:rPr lang="en-US" sz="2000" b="1" dirty="0">
                <a:solidFill>
                  <a:srgbClr val="7030A0"/>
                </a:solidFill>
              </a:rPr>
              <a:t> per object</a:t>
            </a:r>
          </a:p>
          <a:p>
            <a:r>
              <a:rPr lang="en-US" sz="2200" dirty="0"/>
              <a:t>The compiler does additional operations for </a:t>
            </a:r>
            <a:r>
              <a:rPr lang="en-US" sz="2200" dirty="0" err="1"/>
              <a:t>vptr</a:t>
            </a:r>
            <a:r>
              <a:rPr lang="en-US" sz="2200" dirty="0"/>
              <a:t> at runtime</a:t>
            </a:r>
          </a:p>
          <a:p>
            <a:pPr lvl="1"/>
            <a:r>
              <a:rPr lang="en-US" sz="2000" dirty="0"/>
              <a:t>In </a:t>
            </a:r>
            <a:r>
              <a:rPr lang="en-US" sz="2000" b="1" dirty="0">
                <a:solidFill>
                  <a:srgbClr val="0070C0"/>
                </a:solidFill>
              </a:rPr>
              <a:t>constructor</a:t>
            </a:r>
            <a:r>
              <a:rPr lang="en-US" sz="2000" dirty="0"/>
              <a:t>, it first sets </a:t>
            </a:r>
            <a:r>
              <a:rPr lang="en-US" sz="2000" dirty="0" err="1"/>
              <a:t>vptr</a:t>
            </a:r>
            <a:r>
              <a:rPr lang="en-US" sz="2000" dirty="0"/>
              <a:t> to point to the </a:t>
            </a:r>
            <a:r>
              <a:rPr lang="en-US" sz="2000" dirty="0" err="1"/>
              <a:t>vtable</a:t>
            </a:r>
            <a:r>
              <a:rPr lang="en-US" sz="2000" dirty="0"/>
              <a:t> of the class</a:t>
            </a:r>
          </a:p>
          <a:p>
            <a:pPr lvl="1"/>
            <a:r>
              <a:rPr lang="en-US" sz="2000" dirty="0"/>
              <a:t>When we make a call to the virtual function through the base class pointer, it finds </a:t>
            </a:r>
            <a:r>
              <a:rPr lang="en-US" sz="2000" dirty="0" err="1"/>
              <a:t>vptr</a:t>
            </a:r>
            <a:r>
              <a:rPr lang="en-US" sz="2000" dirty="0"/>
              <a:t> to access the corresponding function in the </a:t>
            </a:r>
            <a:r>
              <a:rPr lang="en-US" sz="2000" dirty="0" err="1"/>
              <a:t>vtable</a:t>
            </a:r>
            <a:r>
              <a:rPr lang="en-US" sz="2000" dirty="0"/>
              <a:t> of the derived class</a:t>
            </a:r>
          </a:p>
        </p:txBody>
      </p:sp>
    </p:spTree>
    <p:extLst>
      <p:ext uri="{BB962C8B-B14F-4D97-AF65-F5344CB8AC3E}">
        <p14:creationId xmlns:p14="http://schemas.microsoft.com/office/powerpoint/2010/main" val="3376010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92F3D-849B-4025-BC1E-E3F936A83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Thinking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C7E631-2C0F-4CD1-938F-47964067A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12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3A40D8-91CD-4053-80A3-F4635B9C621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How it works?</a:t>
            </a:r>
            <a:endParaRPr lang="en-HK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F99C3E6-D5A0-442E-ABFF-F7E02ECF266F}"/>
              </a:ext>
            </a:extLst>
          </p:cNvPr>
          <p:cNvSpPr txBox="1"/>
          <p:nvPr/>
        </p:nvSpPr>
        <p:spPr>
          <a:xfrm>
            <a:off x="1066801" y="2074227"/>
            <a:ext cx="3048000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class Machine {</a:t>
            </a:r>
            <a:br>
              <a:rPr lang="en-US" altLang="zh-TW" sz="1000" dirty="0">
                <a:latin typeface="Courier New" pitchFamily="49" charset="0"/>
              </a:rPr>
            </a:br>
            <a:r>
              <a:rPr lang="en-US" altLang="zh-TW" sz="1000" dirty="0">
                <a:solidFill>
                  <a:srgbClr val="C00000"/>
                </a:solidFill>
                <a:latin typeface="Courier New" pitchFamily="49" charset="0"/>
              </a:rPr>
              <a:t>public</a:t>
            </a:r>
            <a:r>
              <a:rPr lang="en-US" altLang="zh-TW" sz="1000" dirty="0">
                <a:latin typeface="Courier New" pitchFamily="49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</a:t>
            </a:r>
            <a:r>
              <a:rPr lang="en-US" altLang="zh-TW" sz="1000" dirty="0">
                <a:solidFill>
                  <a:srgbClr val="FF0000"/>
                </a:solidFill>
                <a:latin typeface="Courier New" pitchFamily="49" charset="0"/>
              </a:rPr>
              <a:t>virtual</a:t>
            </a:r>
            <a:r>
              <a:rPr lang="en-US" altLang="zh-TW" sz="1000" dirty="0">
                <a:latin typeface="Courier New" pitchFamily="49" charset="0"/>
              </a:rPr>
              <a:t> void start() {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  </a:t>
            </a:r>
            <a:r>
              <a:rPr lang="en-US" altLang="zh-TW" sz="1000" dirty="0" err="1">
                <a:latin typeface="Courier New" pitchFamily="49" charset="0"/>
              </a:rPr>
              <a:t>cout</a:t>
            </a:r>
            <a:r>
              <a:rPr lang="en-US" altLang="zh-TW" sz="1000" dirty="0">
                <a:latin typeface="Courier New" pitchFamily="49" charset="0"/>
              </a:rPr>
              <a:t> &lt;&lt; “starting” &lt;&lt; </a:t>
            </a:r>
            <a:r>
              <a:rPr lang="en-US" altLang="zh-TW" sz="1000" dirty="0" err="1">
                <a:latin typeface="Courier New" pitchFamily="49" charset="0"/>
              </a:rPr>
              <a:t>endl</a:t>
            </a:r>
            <a:r>
              <a:rPr lang="en-US" altLang="zh-TW" sz="1000" dirty="0">
                <a:latin typeface="Courier New" pitchFamily="49" charset="0"/>
              </a:rPr>
              <a:t>;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</a:t>
            </a:r>
            <a:r>
              <a:rPr lang="en-US" altLang="zh-TW" sz="1000" dirty="0">
                <a:solidFill>
                  <a:srgbClr val="FF0000"/>
                </a:solidFill>
                <a:latin typeface="Courier New" pitchFamily="49" charset="0"/>
              </a:rPr>
              <a:t>virtual</a:t>
            </a:r>
            <a:r>
              <a:rPr lang="en-US" altLang="zh-TW" sz="1000" dirty="0">
                <a:latin typeface="Courier New" pitchFamily="49" charset="0"/>
              </a:rPr>
              <a:t> void end() {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  </a:t>
            </a:r>
            <a:r>
              <a:rPr lang="en-US" altLang="zh-TW" sz="1000" dirty="0" err="1">
                <a:latin typeface="Courier New" pitchFamily="49" charset="0"/>
              </a:rPr>
              <a:t>cout</a:t>
            </a:r>
            <a:r>
              <a:rPr lang="en-US" altLang="zh-TW" sz="1000" dirty="0">
                <a:latin typeface="Courier New" pitchFamily="49" charset="0"/>
              </a:rPr>
              <a:t> &lt;&lt; “ending” &lt;&lt; </a:t>
            </a:r>
            <a:r>
              <a:rPr lang="en-US" altLang="zh-TW" sz="1000" dirty="0" err="1">
                <a:latin typeface="Courier New" pitchFamily="49" charset="0"/>
              </a:rPr>
              <a:t>endl</a:t>
            </a:r>
            <a:r>
              <a:rPr lang="en-US" altLang="zh-TW" sz="1000" dirty="0">
                <a:latin typeface="Courier New" pitchFamily="49" charset="0"/>
              </a:rPr>
              <a:t>;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};</a:t>
            </a:r>
            <a:endParaRPr lang="en-US" altLang="zh-CN" sz="1000" dirty="0">
              <a:latin typeface="Courier New" pitchFamily="49" charset="0"/>
            </a:endParaRPr>
          </a:p>
        </p:txBody>
      </p:sp>
      <p:sp>
        <p:nvSpPr>
          <p:cNvPr id="6" name="文本框 4">
            <a:extLst>
              <a:ext uri="{FF2B5EF4-FFF2-40B4-BE49-F238E27FC236}">
                <a16:creationId xmlns:a16="http://schemas.microsoft.com/office/drawing/2014/main" id="{63C0AA6B-F409-4A73-ADCB-D85B1346BA1D}"/>
              </a:ext>
            </a:extLst>
          </p:cNvPr>
          <p:cNvSpPr txBox="1"/>
          <p:nvPr/>
        </p:nvSpPr>
        <p:spPr>
          <a:xfrm>
            <a:off x="1066801" y="3628072"/>
            <a:ext cx="3048000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class Car :public Machine {</a:t>
            </a:r>
            <a:br>
              <a:rPr lang="en-US" altLang="zh-TW" sz="1000" dirty="0">
                <a:latin typeface="Courier New" pitchFamily="49" charset="0"/>
              </a:rPr>
            </a:br>
            <a:r>
              <a:rPr lang="en-US" altLang="zh-TW" sz="1000" dirty="0">
                <a:solidFill>
                  <a:srgbClr val="C00000"/>
                </a:solidFill>
                <a:latin typeface="Courier New" pitchFamily="49" charset="0"/>
              </a:rPr>
              <a:t>public</a:t>
            </a:r>
            <a:r>
              <a:rPr lang="en-US" altLang="zh-TW" sz="1000" dirty="0">
                <a:latin typeface="Courier New" pitchFamily="49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void start() {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  </a:t>
            </a:r>
            <a:r>
              <a:rPr lang="en-US" altLang="zh-TW" sz="1000" dirty="0" err="1">
                <a:latin typeface="Courier New" pitchFamily="49" charset="0"/>
              </a:rPr>
              <a:t>cout</a:t>
            </a:r>
            <a:r>
              <a:rPr lang="en-US" altLang="zh-TW" sz="1000" dirty="0">
                <a:latin typeface="Courier New" pitchFamily="49" charset="0"/>
              </a:rPr>
              <a:t> &lt;&lt; “driving” &lt;&lt; </a:t>
            </a:r>
            <a:r>
              <a:rPr lang="en-US" altLang="zh-TW" sz="1000" dirty="0" err="1">
                <a:latin typeface="Courier New" pitchFamily="49" charset="0"/>
              </a:rPr>
              <a:t>endl</a:t>
            </a:r>
            <a:r>
              <a:rPr lang="en-US" altLang="zh-TW" sz="1000" dirty="0">
                <a:latin typeface="Courier New" pitchFamily="49" charset="0"/>
              </a:rPr>
              <a:t>;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void end() {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  </a:t>
            </a:r>
            <a:r>
              <a:rPr lang="en-US" altLang="zh-TW" sz="1000" dirty="0" err="1">
                <a:latin typeface="Courier New" pitchFamily="49" charset="0"/>
              </a:rPr>
              <a:t>cout</a:t>
            </a:r>
            <a:r>
              <a:rPr lang="en-US" altLang="zh-TW" sz="1000" dirty="0">
                <a:latin typeface="Courier New" pitchFamily="49" charset="0"/>
              </a:rPr>
              <a:t> &lt;&lt; “breaking” &lt;&lt; </a:t>
            </a:r>
            <a:r>
              <a:rPr lang="en-US" altLang="zh-TW" sz="1000" dirty="0" err="1">
                <a:latin typeface="Courier New" pitchFamily="49" charset="0"/>
              </a:rPr>
              <a:t>endl</a:t>
            </a:r>
            <a:r>
              <a:rPr lang="en-US" altLang="zh-TW" sz="1000" dirty="0">
                <a:latin typeface="Courier New" pitchFamily="49" charset="0"/>
              </a:rPr>
              <a:t>;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};</a:t>
            </a:r>
            <a:endParaRPr lang="en-US" altLang="zh-CN" sz="1000" dirty="0">
              <a:latin typeface="Courier New" pitchFamily="49" charset="0"/>
            </a:endParaRPr>
          </a:p>
        </p:txBody>
      </p:sp>
      <p:pic>
        <p:nvPicPr>
          <p:cNvPr id="12" name="Picture 11" descr="A computer screen shot of white text&#10;&#10;Description automatically generated">
            <a:extLst>
              <a:ext uri="{FF2B5EF4-FFF2-40B4-BE49-F238E27FC236}">
                <a16:creationId xmlns:a16="http://schemas.microsoft.com/office/drawing/2014/main" id="{B7D829C9-5EF8-033A-8CB8-516DB4DABA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2100" y="4390736"/>
            <a:ext cx="3314700" cy="2276764"/>
          </a:xfrm>
          <a:prstGeom prst="rect">
            <a:avLst/>
          </a:prstGeom>
        </p:spPr>
      </p:pic>
      <p:pic>
        <p:nvPicPr>
          <p:cNvPr id="14" name="Picture 13" descr="A computer screen shot of white text&#10;&#10;Description automatically generated">
            <a:extLst>
              <a:ext uri="{FF2B5EF4-FFF2-40B4-BE49-F238E27FC236}">
                <a16:creationId xmlns:a16="http://schemas.microsoft.com/office/drawing/2014/main" id="{C5CAF814-4B5C-E114-A2DE-3958F60FF7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0194" y="2074227"/>
            <a:ext cx="2844800" cy="2030361"/>
          </a:xfrm>
          <a:prstGeom prst="rect">
            <a:avLst/>
          </a:prstGeom>
        </p:spPr>
      </p:pic>
      <p:pic>
        <p:nvPicPr>
          <p:cNvPr id="8" name="Picture 7" descr="A computer screen shot of white text&#10;&#10;Description automatically generated">
            <a:extLst>
              <a:ext uri="{FF2B5EF4-FFF2-40B4-BE49-F238E27FC236}">
                <a16:creationId xmlns:a16="http://schemas.microsoft.com/office/drawing/2014/main" id="{8FDBC6F6-902A-BC3C-1AFB-B4E7F256B6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479" y="4891284"/>
            <a:ext cx="2545725" cy="173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944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7BA6E-F683-CE5D-F0A1-E18B809B3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Thinking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411418-DB8A-6168-AD78-A20BBA51B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13</a:t>
            </a:fld>
            <a:endParaRPr lang="en-US" altLang="zh-TW"/>
          </a:p>
        </p:txBody>
      </p:sp>
      <p:sp>
        <p:nvSpPr>
          <p:cNvPr id="20" name="文本框 4">
            <a:extLst>
              <a:ext uri="{FF2B5EF4-FFF2-40B4-BE49-F238E27FC236}">
                <a16:creationId xmlns:a16="http://schemas.microsoft.com/office/drawing/2014/main" id="{FCCDCFCD-DF3D-8EDE-A678-C0A1F056AC2E}"/>
              </a:ext>
            </a:extLst>
          </p:cNvPr>
          <p:cNvSpPr txBox="1"/>
          <p:nvPr/>
        </p:nvSpPr>
        <p:spPr>
          <a:xfrm>
            <a:off x="374904" y="3200400"/>
            <a:ext cx="285100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Car c1;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Machine *</a:t>
            </a:r>
            <a:r>
              <a:rPr lang="en-US" altLang="zh-CN" sz="1600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mPtr</a:t>
            </a:r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 = &amp;c1;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6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600" dirty="0" err="1">
                <a:latin typeface="Courier New" pitchFamily="49" charset="0"/>
              </a:rPr>
              <a:t>mPtr</a:t>
            </a:r>
            <a:r>
              <a:rPr lang="en-US" altLang="zh-CN" sz="1600" dirty="0">
                <a:latin typeface="Courier New" pitchFamily="49" charset="0"/>
              </a:rPr>
              <a:t>-&gt;start();</a:t>
            </a:r>
          </a:p>
        </p:txBody>
      </p:sp>
      <p:sp>
        <p:nvSpPr>
          <p:cNvPr id="21" name="文本框 4">
            <a:extLst>
              <a:ext uri="{FF2B5EF4-FFF2-40B4-BE49-F238E27FC236}">
                <a16:creationId xmlns:a16="http://schemas.microsoft.com/office/drawing/2014/main" id="{A7A057BE-374A-F87F-D3F2-0F55FF39BE34}"/>
              </a:ext>
            </a:extLst>
          </p:cNvPr>
          <p:cNvSpPr txBox="1"/>
          <p:nvPr/>
        </p:nvSpPr>
        <p:spPr>
          <a:xfrm>
            <a:off x="381000" y="1650901"/>
            <a:ext cx="285100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Machine m;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Machine *</a:t>
            </a:r>
            <a:r>
              <a:rPr lang="en-US" altLang="zh-CN" sz="1600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mPtr</a:t>
            </a:r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 = &amp;m;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6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600" dirty="0" err="1">
                <a:latin typeface="Courier New" pitchFamily="49" charset="0"/>
              </a:rPr>
              <a:t>mPtr</a:t>
            </a:r>
            <a:r>
              <a:rPr lang="en-US" altLang="zh-CN" sz="1600" dirty="0">
                <a:latin typeface="Courier New" pitchFamily="49" charset="0"/>
              </a:rPr>
              <a:t>-&gt;start();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6EDAEA2-4587-41CC-0324-A83F10562D48}"/>
              </a:ext>
            </a:extLst>
          </p:cNvPr>
          <p:cNvGrpSpPr/>
          <p:nvPr/>
        </p:nvGrpSpPr>
        <p:grpSpPr>
          <a:xfrm>
            <a:off x="6754462" y="2093695"/>
            <a:ext cx="1786033" cy="3468905"/>
            <a:chOff x="6754462" y="2093695"/>
            <a:chExt cx="1786033" cy="346890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2BFF897-5721-E7EA-5A2A-EDC6E95B782B}"/>
                </a:ext>
              </a:extLst>
            </p:cNvPr>
            <p:cNvSpPr/>
            <p:nvPr/>
          </p:nvSpPr>
          <p:spPr>
            <a:xfrm>
              <a:off x="6754462" y="2093695"/>
              <a:ext cx="1786033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ED37833-BBCB-2F06-6B86-460647D15EBC}"/>
                </a:ext>
              </a:extLst>
            </p:cNvPr>
            <p:cNvSpPr txBox="1"/>
            <p:nvPr/>
          </p:nvSpPr>
          <p:spPr>
            <a:xfrm>
              <a:off x="6852212" y="2153018"/>
              <a:ext cx="168828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M: start() {…}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13ABF59-21CA-5EA0-B5C5-A9182C9CD58B}"/>
                </a:ext>
              </a:extLst>
            </p:cNvPr>
            <p:cNvSpPr/>
            <p:nvPr/>
          </p:nvSpPr>
          <p:spPr>
            <a:xfrm>
              <a:off x="6754462" y="4038600"/>
              <a:ext cx="1786033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9A9B94F-EDDB-D7CB-9887-4B4405F5152B}"/>
                </a:ext>
              </a:extLst>
            </p:cNvPr>
            <p:cNvSpPr txBox="1"/>
            <p:nvPr/>
          </p:nvSpPr>
          <p:spPr>
            <a:xfrm>
              <a:off x="6852212" y="4097923"/>
              <a:ext cx="168828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C: start() {…}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70C4436-5845-77C7-3374-737B7438990D}"/>
                </a:ext>
              </a:extLst>
            </p:cNvPr>
            <p:cNvSpPr/>
            <p:nvPr/>
          </p:nvSpPr>
          <p:spPr>
            <a:xfrm>
              <a:off x="6754462" y="3048000"/>
              <a:ext cx="1786033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3B06554-2C6D-F110-9FA4-4AA2D53812A8}"/>
                </a:ext>
              </a:extLst>
            </p:cNvPr>
            <p:cNvSpPr txBox="1"/>
            <p:nvPr/>
          </p:nvSpPr>
          <p:spPr>
            <a:xfrm>
              <a:off x="6852212" y="3107323"/>
              <a:ext cx="15888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M: end() {…}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A8CAE04-27F9-DEAC-0E0F-70FAFB0FD586}"/>
                </a:ext>
              </a:extLst>
            </p:cNvPr>
            <p:cNvSpPr/>
            <p:nvPr/>
          </p:nvSpPr>
          <p:spPr>
            <a:xfrm>
              <a:off x="6754462" y="5105400"/>
              <a:ext cx="1786033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39B31F1-C3DF-AF1C-44B5-1CAF342F36FE}"/>
                </a:ext>
              </a:extLst>
            </p:cNvPr>
            <p:cNvSpPr txBox="1"/>
            <p:nvPr/>
          </p:nvSpPr>
          <p:spPr>
            <a:xfrm>
              <a:off x="6852212" y="5164723"/>
              <a:ext cx="15584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C: end() {…}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7F7A9E3D-EEF1-F2F8-AF9A-1742211208D0}"/>
              </a:ext>
            </a:extLst>
          </p:cNvPr>
          <p:cNvGrpSpPr/>
          <p:nvPr/>
        </p:nvGrpSpPr>
        <p:grpSpPr>
          <a:xfrm>
            <a:off x="3810000" y="2121755"/>
            <a:ext cx="2102717" cy="3044368"/>
            <a:chOff x="3810000" y="2121755"/>
            <a:chExt cx="2102717" cy="304436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0B944A2-9000-14E9-9B59-7EF661FDD69B}"/>
                </a:ext>
              </a:extLst>
            </p:cNvPr>
            <p:cNvSpPr/>
            <p:nvPr/>
          </p:nvSpPr>
          <p:spPr>
            <a:xfrm>
              <a:off x="3810000" y="2495551"/>
              <a:ext cx="2026517" cy="70484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7739972-2F03-9D93-2FA4-DE30BE6DA939}"/>
                </a:ext>
              </a:extLst>
            </p:cNvPr>
            <p:cNvSpPr txBox="1"/>
            <p:nvPr/>
          </p:nvSpPr>
          <p:spPr>
            <a:xfrm>
              <a:off x="3810001" y="2539486"/>
              <a:ext cx="202651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&amp;Machine::start()</a:t>
              </a:r>
            </a:p>
            <a:p>
              <a:r>
                <a:rPr lang="en-US" sz="1600" dirty="0"/>
                <a:t>&amp;Machine::end()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A50556A-6D9C-BF67-7E7C-6D98918BB0BA}"/>
                </a:ext>
              </a:extLst>
            </p:cNvPr>
            <p:cNvSpPr txBox="1"/>
            <p:nvPr/>
          </p:nvSpPr>
          <p:spPr>
            <a:xfrm>
              <a:off x="4020004" y="2121755"/>
              <a:ext cx="14446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&amp;M: </a:t>
              </a:r>
              <a:r>
                <a:rPr lang="en-US" dirty="0" err="1"/>
                <a:t>vtable</a:t>
              </a:r>
              <a:endParaRPr lang="en-US" dirty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D6DA01C-C034-3CE9-6AD9-9B8EB04C2067}"/>
                </a:ext>
              </a:extLst>
            </p:cNvPr>
            <p:cNvSpPr/>
            <p:nvPr/>
          </p:nvSpPr>
          <p:spPr>
            <a:xfrm>
              <a:off x="3886200" y="4461274"/>
              <a:ext cx="2026517" cy="70484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D1FCFD5-9545-07FF-803F-DA30A9553FA6}"/>
                </a:ext>
              </a:extLst>
            </p:cNvPr>
            <p:cNvSpPr txBox="1"/>
            <p:nvPr/>
          </p:nvSpPr>
          <p:spPr>
            <a:xfrm>
              <a:off x="3886201" y="4505209"/>
              <a:ext cx="153920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&amp;Car::start()</a:t>
              </a:r>
            </a:p>
            <a:p>
              <a:r>
                <a:rPr lang="en-US" sz="1600" dirty="0"/>
                <a:t>&amp;Car::end()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35FFE50-7F7B-9662-277C-444AC1BC712D}"/>
                </a:ext>
              </a:extLst>
            </p:cNvPr>
            <p:cNvSpPr txBox="1"/>
            <p:nvPr/>
          </p:nvSpPr>
          <p:spPr>
            <a:xfrm>
              <a:off x="4096204" y="4087478"/>
              <a:ext cx="1412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&amp;C: </a:t>
              </a:r>
              <a:r>
                <a:rPr lang="en-US" dirty="0" err="1"/>
                <a:t>vtable</a:t>
              </a:r>
              <a:endParaRPr lang="en-US" dirty="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780B792-572D-BBE9-096D-4235EE79B3E4}"/>
              </a:ext>
            </a:extLst>
          </p:cNvPr>
          <p:cNvGrpSpPr/>
          <p:nvPr/>
        </p:nvGrpSpPr>
        <p:grpSpPr>
          <a:xfrm>
            <a:off x="2411802" y="2309113"/>
            <a:ext cx="640263" cy="787337"/>
            <a:chOff x="2411802" y="2309113"/>
            <a:chExt cx="640263" cy="787337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EABA1D4-0F59-C7E8-0307-A20A55E9D080}"/>
                </a:ext>
              </a:extLst>
            </p:cNvPr>
            <p:cNvSpPr/>
            <p:nvPr/>
          </p:nvSpPr>
          <p:spPr>
            <a:xfrm>
              <a:off x="2411802" y="2639250"/>
              <a:ext cx="636739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9F6F9AB-34E1-CF99-C43D-990ED03FDF4D}"/>
                </a:ext>
              </a:extLst>
            </p:cNvPr>
            <p:cNvSpPr txBox="1"/>
            <p:nvPr/>
          </p:nvSpPr>
          <p:spPr>
            <a:xfrm>
              <a:off x="2449015" y="2683184"/>
              <a:ext cx="6030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vptr</a:t>
              </a:r>
              <a:endParaRPr lang="en-US" sz="1600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7170BB3-3B16-E089-CF46-F79A885B479A}"/>
                </a:ext>
              </a:extLst>
            </p:cNvPr>
            <p:cNvSpPr txBox="1"/>
            <p:nvPr/>
          </p:nvSpPr>
          <p:spPr>
            <a:xfrm>
              <a:off x="2554495" y="2309113"/>
              <a:ext cx="38504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m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7C46D64-B893-0926-2C86-86F6FBD3DE4D}"/>
              </a:ext>
            </a:extLst>
          </p:cNvPr>
          <p:cNvGrpSpPr/>
          <p:nvPr/>
        </p:nvGrpSpPr>
        <p:grpSpPr>
          <a:xfrm>
            <a:off x="2427307" y="3801995"/>
            <a:ext cx="636739" cy="787337"/>
            <a:chOff x="2427307" y="3801995"/>
            <a:chExt cx="636739" cy="787337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B3AEE0F-8523-BA80-BA35-BA721575A9B6}"/>
                </a:ext>
              </a:extLst>
            </p:cNvPr>
            <p:cNvSpPr/>
            <p:nvPr/>
          </p:nvSpPr>
          <p:spPr>
            <a:xfrm>
              <a:off x="2427307" y="4132132"/>
              <a:ext cx="636739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439DEEF-25CD-2277-0523-E518A50ED128}"/>
                </a:ext>
              </a:extLst>
            </p:cNvPr>
            <p:cNvSpPr txBox="1"/>
            <p:nvPr/>
          </p:nvSpPr>
          <p:spPr>
            <a:xfrm>
              <a:off x="2460996" y="4176066"/>
              <a:ext cx="6030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vptr</a:t>
              </a:r>
              <a:endParaRPr lang="en-US" sz="1600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37ED0D0-0BC0-4EFB-32D3-E38B17689187}"/>
                </a:ext>
              </a:extLst>
            </p:cNvPr>
            <p:cNvSpPr txBox="1"/>
            <p:nvPr/>
          </p:nvSpPr>
          <p:spPr>
            <a:xfrm>
              <a:off x="2563669" y="3801995"/>
              <a:ext cx="42191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c1</a:t>
              </a:r>
            </a:p>
          </p:txBody>
        </p:sp>
      </p:grpSp>
      <p:sp>
        <p:nvSpPr>
          <p:cNvPr id="38" name="文本框 4">
            <a:extLst>
              <a:ext uri="{FF2B5EF4-FFF2-40B4-BE49-F238E27FC236}">
                <a16:creationId xmlns:a16="http://schemas.microsoft.com/office/drawing/2014/main" id="{07ED9839-C9C7-FA38-0894-38CAB97B9134}"/>
              </a:ext>
            </a:extLst>
          </p:cNvPr>
          <p:cNvSpPr txBox="1"/>
          <p:nvPr/>
        </p:nvSpPr>
        <p:spPr>
          <a:xfrm>
            <a:off x="381000" y="4953000"/>
            <a:ext cx="285100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Car c2;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Machine *</a:t>
            </a:r>
            <a:r>
              <a:rPr lang="en-US" altLang="zh-CN" sz="1600" dirty="0" err="1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mPtr</a:t>
            </a:r>
            <a:r>
              <a:rPr lang="en-US" altLang="zh-CN" sz="1600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 = &amp;c2;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6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600" dirty="0" err="1">
                <a:latin typeface="Courier New" pitchFamily="49" charset="0"/>
              </a:rPr>
              <a:t>mPtr</a:t>
            </a:r>
            <a:r>
              <a:rPr lang="en-US" altLang="zh-CN" sz="1600" dirty="0">
                <a:latin typeface="Courier New" pitchFamily="49" charset="0"/>
              </a:rPr>
              <a:t>-&gt;start();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5CD7888B-D8A2-6ED7-3871-A95AF110CE1A}"/>
              </a:ext>
            </a:extLst>
          </p:cNvPr>
          <p:cNvGrpSpPr/>
          <p:nvPr/>
        </p:nvGrpSpPr>
        <p:grpSpPr>
          <a:xfrm>
            <a:off x="2487461" y="5554595"/>
            <a:ext cx="636739" cy="787337"/>
            <a:chOff x="2487461" y="5554595"/>
            <a:chExt cx="636739" cy="787337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58643D06-4313-6042-B13B-3FEADC105C7E}"/>
                </a:ext>
              </a:extLst>
            </p:cNvPr>
            <p:cNvSpPr/>
            <p:nvPr/>
          </p:nvSpPr>
          <p:spPr>
            <a:xfrm>
              <a:off x="2487461" y="5884732"/>
              <a:ext cx="636739" cy="457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AE73093-FD1E-648D-E959-A97CEF612B10}"/>
                </a:ext>
              </a:extLst>
            </p:cNvPr>
            <p:cNvSpPr txBox="1"/>
            <p:nvPr/>
          </p:nvSpPr>
          <p:spPr>
            <a:xfrm>
              <a:off x="2521150" y="5928666"/>
              <a:ext cx="6030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vptr</a:t>
              </a:r>
              <a:endParaRPr lang="en-US" sz="1600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97D9A43-9040-92E7-4B48-9BE1D3AC4D51}"/>
                </a:ext>
              </a:extLst>
            </p:cNvPr>
            <p:cNvSpPr txBox="1"/>
            <p:nvPr/>
          </p:nvSpPr>
          <p:spPr>
            <a:xfrm>
              <a:off x="2623823" y="5554595"/>
              <a:ext cx="42191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c2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87EE7C5-4B11-04F7-93EF-14A18BF7E8C2}"/>
              </a:ext>
            </a:extLst>
          </p:cNvPr>
          <p:cNvGrpSpPr/>
          <p:nvPr/>
        </p:nvGrpSpPr>
        <p:grpSpPr>
          <a:xfrm>
            <a:off x="5228838" y="2322295"/>
            <a:ext cx="1525624" cy="3011705"/>
            <a:chOff x="5228838" y="2322295"/>
            <a:chExt cx="1525624" cy="3011705"/>
          </a:xfrm>
        </p:grpSpPr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D3EC7C7D-E8E6-9925-D573-91424CE1F86E}"/>
                </a:ext>
              </a:extLst>
            </p:cNvPr>
            <p:cNvCxnSpPr>
              <a:cxnSpLocks/>
              <a:endCxn id="11" idx="1"/>
            </p:cNvCxnSpPr>
            <p:nvPr/>
          </p:nvCxnSpPr>
          <p:spPr>
            <a:xfrm flipV="1">
              <a:off x="5733009" y="2322295"/>
              <a:ext cx="1021453" cy="35621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610FF677-59B8-272E-5116-6688EE844D93}"/>
                </a:ext>
              </a:extLst>
            </p:cNvPr>
            <p:cNvCxnSpPr>
              <a:cxnSpLocks/>
              <a:endCxn id="26" idx="1"/>
            </p:cNvCxnSpPr>
            <p:nvPr/>
          </p:nvCxnSpPr>
          <p:spPr>
            <a:xfrm>
              <a:off x="5635259" y="2984222"/>
              <a:ext cx="1119203" cy="29237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96F6F453-FC6B-2F85-AEB2-82595D97FA13}"/>
                </a:ext>
              </a:extLst>
            </p:cNvPr>
            <p:cNvCxnSpPr>
              <a:cxnSpLocks/>
              <a:endCxn id="24" idx="1"/>
            </p:cNvCxnSpPr>
            <p:nvPr/>
          </p:nvCxnSpPr>
          <p:spPr>
            <a:xfrm flipV="1">
              <a:off x="5324638" y="4267200"/>
              <a:ext cx="1429824" cy="40030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91B0F133-1BAA-15A7-FC80-CA0B8B584AFA}"/>
                </a:ext>
              </a:extLst>
            </p:cNvPr>
            <p:cNvCxnSpPr>
              <a:cxnSpLocks/>
              <a:endCxn id="28" idx="1"/>
            </p:cNvCxnSpPr>
            <p:nvPr/>
          </p:nvCxnSpPr>
          <p:spPr>
            <a:xfrm>
              <a:off x="5228838" y="4930942"/>
              <a:ext cx="1525624" cy="40305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44E8238D-6CB4-FD0C-DFBD-E8BAF45B8082}"/>
              </a:ext>
            </a:extLst>
          </p:cNvPr>
          <p:cNvCxnSpPr>
            <a:cxnSpLocks/>
          </p:cNvCxnSpPr>
          <p:nvPr/>
        </p:nvCxnSpPr>
        <p:spPr>
          <a:xfrm flipV="1">
            <a:off x="3026278" y="2502844"/>
            <a:ext cx="783721" cy="3720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05BE010-E23E-0900-9299-6C593A3AA174}"/>
              </a:ext>
            </a:extLst>
          </p:cNvPr>
          <p:cNvCxnSpPr>
            <a:cxnSpLocks/>
          </p:cNvCxnSpPr>
          <p:nvPr/>
        </p:nvCxnSpPr>
        <p:spPr>
          <a:xfrm>
            <a:off x="3081592" y="4342812"/>
            <a:ext cx="804608" cy="1245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5811DC9-63B0-B164-10B2-50C3294C9237}"/>
              </a:ext>
            </a:extLst>
          </p:cNvPr>
          <p:cNvCxnSpPr>
            <a:cxnSpLocks/>
          </p:cNvCxnSpPr>
          <p:nvPr/>
        </p:nvCxnSpPr>
        <p:spPr>
          <a:xfrm flipV="1">
            <a:off x="3124200" y="4467354"/>
            <a:ext cx="762000" cy="14313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D2CB00F5-0159-834D-F5C8-23C09F0A9D48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1463536" y="2711060"/>
            <a:ext cx="985479" cy="1414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FE73E2A-18AC-41A2-6E9D-898EF2175341}"/>
              </a:ext>
            </a:extLst>
          </p:cNvPr>
          <p:cNvCxnSpPr>
            <a:cxnSpLocks/>
          </p:cNvCxnSpPr>
          <p:nvPr/>
        </p:nvCxnSpPr>
        <p:spPr>
          <a:xfrm>
            <a:off x="1534830" y="4277618"/>
            <a:ext cx="867052" cy="809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1C7FDC4D-C3C7-809E-3AE0-09DDCA2DEBAF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1564414" y="5965288"/>
            <a:ext cx="923047" cy="1480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4214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3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71B64-E4F1-4796-A66F-69AC61B9D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C4F6A8-373F-42C7-AB41-7DB8CE09D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14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2858CE-5ABF-465B-BAC3-F48F2A4DCA6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Virtual function in multi-level inheritance</a:t>
            </a:r>
            <a:endParaRPr lang="en-H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03D5B4-B7B8-06FD-B432-26A3A6BEE290}"/>
              </a:ext>
            </a:extLst>
          </p:cNvPr>
          <p:cNvSpPr txBox="1"/>
          <p:nvPr/>
        </p:nvSpPr>
        <p:spPr>
          <a:xfrm>
            <a:off x="914400" y="6501728"/>
            <a:ext cx="20553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Code: lec10-05-example.cpp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ADB9636-1100-9B67-D3F7-0DB80EF0DB4D}"/>
              </a:ext>
            </a:extLst>
          </p:cNvPr>
          <p:cNvSpPr txBox="1"/>
          <p:nvPr/>
        </p:nvSpPr>
        <p:spPr>
          <a:xfrm>
            <a:off x="942975" y="2063528"/>
            <a:ext cx="4457701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class Machine {</a:t>
            </a:r>
            <a:br>
              <a:rPr lang="en-US" altLang="zh-TW" sz="1000" dirty="0">
                <a:latin typeface="Courier New" pitchFamily="49" charset="0"/>
              </a:rPr>
            </a:br>
            <a:r>
              <a:rPr lang="en-US" altLang="zh-TW" sz="1000" dirty="0">
                <a:solidFill>
                  <a:srgbClr val="C00000"/>
                </a:solidFill>
                <a:latin typeface="Courier New" pitchFamily="49" charset="0"/>
              </a:rPr>
              <a:t>public</a:t>
            </a:r>
            <a:r>
              <a:rPr lang="en-US" altLang="zh-TW" sz="1000" dirty="0">
                <a:latin typeface="Courier New" pitchFamily="49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</a:t>
            </a:r>
            <a:r>
              <a:rPr lang="en-US" altLang="zh-TW" sz="1000" dirty="0">
                <a:solidFill>
                  <a:srgbClr val="FF0000"/>
                </a:solidFill>
                <a:latin typeface="Courier New" pitchFamily="49" charset="0"/>
              </a:rPr>
              <a:t>virtual</a:t>
            </a:r>
            <a:r>
              <a:rPr lang="en-US" altLang="zh-TW" sz="1000" dirty="0">
                <a:latin typeface="Courier New" pitchFamily="49" charset="0"/>
              </a:rPr>
              <a:t> void start() { </a:t>
            </a:r>
            <a:r>
              <a:rPr lang="en-US" altLang="zh-TW" sz="1000" dirty="0" err="1">
                <a:latin typeface="Courier New" pitchFamily="49" charset="0"/>
              </a:rPr>
              <a:t>cout</a:t>
            </a:r>
            <a:r>
              <a:rPr lang="en-US" altLang="zh-TW" sz="1000" dirty="0">
                <a:latin typeface="Courier New" pitchFamily="49" charset="0"/>
              </a:rPr>
              <a:t> &lt;&lt; “starting” &lt;&lt; </a:t>
            </a:r>
            <a:r>
              <a:rPr lang="en-US" altLang="zh-TW" sz="1000" dirty="0" err="1">
                <a:latin typeface="Courier New" pitchFamily="49" charset="0"/>
              </a:rPr>
              <a:t>endl</a:t>
            </a:r>
            <a:r>
              <a:rPr lang="en-US" altLang="zh-TW" sz="1000" dirty="0">
                <a:latin typeface="Courier New" pitchFamily="49" charset="0"/>
              </a:rPr>
              <a:t>;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};</a:t>
            </a:r>
            <a:endParaRPr lang="en-US" altLang="zh-CN" sz="1000" dirty="0">
              <a:latin typeface="Courier New" pitchFamily="49" charset="0"/>
            </a:endParaRPr>
          </a:p>
        </p:txBody>
      </p:sp>
      <p:sp>
        <p:nvSpPr>
          <p:cNvPr id="7" name="文本框 4">
            <a:extLst>
              <a:ext uri="{FF2B5EF4-FFF2-40B4-BE49-F238E27FC236}">
                <a16:creationId xmlns:a16="http://schemas.microsoft.com/office/drawing/2014/main" id="{0B775D65-9DF0-0B89-49D7-400D14EDBE33}"/>
              </a:ext>
            </a:extLst>
          </p:cNvPr>
          <p:cNvSpPr txBox="1"/>
          <p:nvPr/>
        </p:nvSpPr>
        <p:spPr>
          <a:xfrm>
            <a:off x="942974" y="2976343"/>
            <a:ext cx="4457702" cy="5539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class Car :public Machine {</a:t>
            </a:r>
            <a:br>
              <a:rPr lang="en-US" altLang="zh-TW" sz="1000" dirty="0">
                <a:latin typeface="Courier New" pitchFamily="49" charset="0"/>
              </a:rPr>
            </a:br>
            <a:endParaRPr lang="en-US" altLang="zh-TW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};</a:t>
            </a:r>
            <a:endParaRPr lang="en-US" altLang="zh-CN" sz="1000" dirty="0">
              <a:latin typeface="Courier New" pitchFamily="49" charset="0"/>
            </a:endParaRPr>
          </a:p>
        </p:txBody>
      </p:sp>
      <p:sp>
        <p:nvSpPr>
          <p:cNvPr id="8" name="文本框 4">
            <a:extLst>
              <a:ext uri="{FF2B5EF4-FFF2-40B4-BE49-F238E27FC236}">
                <a16:creationId xmlns:a16="http://schemas.microsoft.com/office/drawing/2014/main" id="{8D81EA63-7003-88A3-5F9C-DD093F568AD9}"/>
              </a:ext>
            </a:extLst>
          </p:cNvPr>
          <p:cNvSpPr txBox="1"/>
          <p:nvPr/>
        </p:nvSpPr>
        <p:spPr>
          <a:xfrm>
            <a:off x="914400" y="3729200"/>
            <a:ext cx="4486276" cy="5539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class Truck :public Car {</a:t>
            </a:r>
            <a:br>
              <a:rPr lang="en-US" altLang="zh-TW" sz="1000" dirty="0">
                <a:latin typeface="Courier New" pitchFamily="49" charset="0"/>
              </a:rPr>
            </a:br>
            <a:endParaRPr lang="en-US" altLang="zh-TW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};</a:t>
            </a:r>
            <a:endParaRPr lang="en-US" altLang="zh-CN" sz="1000" dirty="0">
              <a:latin typeface="Courier New" pitchFamily="49" charset="0"/>
            </a:endParaRPr>
          </a:p>
        </p:txBody>
      </p:sp>
      <p:sp>
        <p:nvSpPr>
          <p:cNvPr id="9" name="文本框 4">
            <a:extLst>
              <a:ext uri="{FF2B5EF4-FFF2-40B4-BE49-F238E27FC236}">
                <a16:creationId xmlns:a16="http://schemas.microsoft.com/office/drawing/2014/main" id="{048F2C78-03F5-32A9-571A-DEDF6F925A11}"/>
              </a:ext>
            </a:extLst>
          </p:cNvPr>
          <p:cNvSpPr txBox="1"/>
          <p:nvPr/>
        </p:nvSpPr>
        <p:spPr>
          <a:xfrm>
            <a:off x="914400" y="4475202"/>
            <a:ext cx="4486276" cy="5539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class Bus :public Car {</a:t>
            </a:r>
          </a:p>
          <a:p>
            <a:pPr eaLnBrk="1" hangingPunct="1">
              <a:buFont typeface="Wingdings" pitchFamily="2" charset="2"/>
              <a:buNone/>
            </a:pPr>
            <a:br>
              <a:rPr lang="en-US" altLang="zh-TW" sz="1000" dirty="0">
                <a:latin typeface="Courier New" pitchFamily="49" charset="0"/>
              </a:rPr>
            </a:br>
            <a:r>
              <a:rPr lang="en-US" altLang="zh-TW" sz="1000" dirty="0">
                <a:latin typeface="Courier New" pitchFamily="49" charset="0"/>
              </a:rPr>
              <a:t>};</a:t>
            </a:r>
            <a:endParaRPr lang="en-US" altLang="zh-CN" sz="1000" dirty="0">
              <a:latin typeface="Courier New" pitchFamily="49" charset="0"/>
            </a:endParaRPr>
          </a:p>
        </p:txBody>
      </p:sp>
      <p:sp>
        <p:nvSpPr>
          <p:cNvPr id="10" name="文本框 4">
            <a:extLst>
              <a:ext uri="{FF2B5EF4-FFF2-40B4-BE49-F238E27FC236}">
                <a16:creationId xmlns:a16="http://schemas.microsoft.com/office/drawing/2014/main" id="{8A7D2E03-89B6-9B96-A6FB-CD76AD79F4E8}"/>
              </a:ext>
            </a:extLst>
          </p:cNvPr>
          <p:cNvSpPr txBox="1"/>
          <p:nvPr/>
        </p:nvSpPr>
        <p:spPr>
          <a:xfrm>
            <a:off x="990600" y="5221204"/>
            <a:ext cx="2362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void launch(/* */)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//…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}</a:t>
            </a:r>
          </a:p>
        </p:txBody>
      </p:sp>
      <p:sp>
        <p:nvSpPr>
          <p:cNvPr id="11" name="文本框 4">
            <a:extLst>
              <a:ext uri="{FF2B5EF4-FFF2-40B4-BE49-F238E27FC236}">
                <a16:creationId xmlns:a16="http://schemas.microsoft.com/office/drawing/2014/main" id="{33A3A1E1-0B07-F4FB-9FCD-4B5EB7150BA8}"/>
              </a:ext>
            </a:extLst>
          </p:cNvPr>
          <p:cNvSpPr txBox="1"/>
          <p:nvPr/>
        </p:nvSpPr>
        <p:spPr>
          <a:xfrm>
            <a:off x="3195638" y="5198935"/>
            <a:ext cx="23622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int main()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Machine *</a:t>
            </a:r>
            <a:r>
              <a:rPr lang="en-US" altLang="zh-CN" sz="1000" dirty="0" err="1">
                <a:latin typeface="Courier New" pitchFamily="49" charset="0"/>
              </a:rPr>
              <a:t>mPtr</a:t>
            </a:r>
            <a:r>
              <a:rPr lang="en-US" altLang="zh-CN" sz="1000" dirty="0">
                <a:latin typeface="Courier New" pitchFamily="49" charset="0"/>
              </a:rPr>
              <a:t>[4];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//…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for (int </a:t>
            </a:r>
            <a:r>
              <a:rPr lang="en-US" altLang="zh-CN" sz="1000" dirty="0" err="1">
                <a:latin typeface="Courier New" pitchFamily="49" charset="0"/>
              </a:rPr>
              <a:t>i</a:t>
            </a:r>
            <a:r>
              <a:rPr lang="en-US" altLang="zh-CN" sz="1000" dirty="0">
                <a:latin typeface="Courier New" pitchFamily="49" charset="0"/>
              </a:rPr>
              <a:t>=0; </a:t>
            </a:r>
            <a:r>
              <a:rPr lang="en-US" altLang="zh-CN" sz="1000" dirty="0" err="1">
                <a:latin typeface="Courier New" pitchFamily="49" charset="0"/>
              </a:rPr>
              <a:t>i</a:t>
            </a:r>
            <a:r>
              <a:rPr lang="en-US" altLang="zh-CN" sz="1000" dirty="0">
                <a:latin typeface="Courier New" pitchFamily="49" charset="0"/>
              </a:rPr>
              <a:t>&lt;4; </a:t>
            </a:r>
            <a:r>
              <a:rPr lang="en-US" altLang="zh-CN" sz="1000" dirty="0" err="1">
                <a:latin typeface="Courier New" pitchFamily="49" charset="0"/>
              </a:rPr>
              <a:t>i</a:t>
            </a:r>
            <a:r>
              <a:rPr lang="en-US" altLang="zh-CN" sz="1000" dirty="0">
                <a:latin typeface="Courier New" pitchFamily="49" charset="0"/>
              </a:rPr>
              <a:t>++)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launch(</a:t>
            </a:r>
            <a:r>
              <a:rPr lang="en-US" altLang="zh-CN" sz="1000" dirty="0" err="1">
                <a:latin typeface="Courier New" pitchFamily="49" charset="0"/>
              </a:rPr>
              <a:t>mPtr</a:t>
            </a:r>
            <a:r>
              <a:rPr lang="en-US" altLang="zh-CN" sz="1000" dirty="0">
                <a:latin typeface="Courier New" pitchFamily="49" charset="0"/>
              </a:rPr>
              <a:t>[</a:t>
            </a:r>
            <a:r>
              <a:rPr lang="en-US" altLang="zh-CN" sz="1000" dirty="0" err="1">
                <a:latin typeface="Courier New" pitchFamily="49" charset="0"/>
              </a:rPr>
              <a:t>i</a:t>
            </a:r>
            <a:r>
              <a:rPr lang="en-US" altLang="zh-CN" sz="1000" dirty="0">
                <a:latin typeface="Courier New" pitchFamily="49" charset="0"/>
              </a:rPr>
              <a:t>]);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}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}</a:t>
            </a:r>
          </a:p>
        </p:txBody>
      </p:sp>
      <p:sp>
        <p:nvSpPr>
          <p:cNvPr id="12" name="文本框 4">
            <a:extLst>
              <a:ext uri="{FF2B5EF4-FFF2-40B4-BE49-F238E27FC236}">
                <a16:creationId xmlns:a16="http://schemas.microsoft.com/office/drawing/2014/main" id="{6FFBFA75-40EC-C21C-7F96-8CB715C87D64}"/>
              </a:ext>
            </a:extLst>
          </p:cNvPr>
          <p:cNvSpPr txBox="1"/>
          <p:nvPr/>
        </p:nvSpPr>
        <p:spPr>
          <a:xfrm>
            <a:off x="6096000" y="5198935"/>
            <a:ext cx="2362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Output: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starting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driving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delivering cargos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carrying passengers</a:t>
            </a:r>
          </a:p>
        </p:txBody>
      </p:sp>
    </p:spTree>
    <p:extLst>
      <p:ext uri="{BB962C8B-B14F-4D97-AF65-F5344CB8AC3E}">
        <p14:creationId xmlns:p14="http://schemas.microsoft.com/office/powerpoint/2010/main" val="2419115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nimBg="1"/>
      <p:bldP spid="8" grpId="0" animBg="1"/>
      <p:bldP spid="9" grpId="0" animBg="1"/>
      <p:bldP spid="10" grpId="0"/>
      <p:bldP spid="11" grpId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1DA3D-9F57-5E7D-3F3C-9039F3236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Layout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19F032-36C7-543B-1F37-C368B4811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15</a:t>
            </a:fld>
            <a:endParaRPr lang="en-US" altLang="zh-TW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811D243-63F9-59C3-E153-0B43735122BA}"/>
              </a:ext>
            </a:extLst>
          </p:cNvPr>
          <p:cNvSpPr txBox="1"/>
          <p:nvPr/>
        </p:nvSpPr>
        <p:spPr>
          <a:xfrm>
            <a:off x="1295400" y="1698193"/>
            <a:ext cx="4267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class Base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public: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virtual void start() {}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virtual void end() {}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int b;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};</a:t>
            </a:r>
          </a:p>
        </p:txBody>
      </p:sp>
      <p:sp>
        <p:nvSpPr>
          <p:cNvPr id="19" name="文本框 4">
            <a:extLst>
              <a:ext uri="{FF2B5EF4-FFF2-40B4-BE49-F238E27FC236}">
                <a16:creationId xmlns:a16="http://schemas.microsoft.com/office/drawing/2014/main" id="{72B04614-EBA0-92D3-BA78-7E5F4BD00C53}"/>
              </a:ext>
            </a:extLst>
          </p:cNvPr>
          <p:cNvSpPr txBox="1"/>
          <p:nvPr/>
        </p:nvSpPr>
        <p:spPr>
          <a:xfrm>
            <a:off x="4800600" y="1651337"/>
            <a:ext cx="42672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class Derived :public Base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public: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void start() {} // overriding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int d;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};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00DC805-B0D2-E93B-7714-008B10344CF5}"/>
              </a:ext>
            </a:extLst>
          </p:cNvPr>
          <p:cNvCxnSpPr>
            <a:cxnSpLocks/>
          </p:cNvCxnSpPr>
          <p:nvPr/>
        </p:nvCxnSpPr>
        <p:spPr>
          <a:xfrm flipV="1">
            <a:off x="1676400" y="3738425"/>
            <a:ext cx="969296" cy="1802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F5AB238-AD02-520E-3AC8-AC31500BEE0C}"/>
              </a:ext>
            </a:extLst>
          </p:cNvPr>
          <p:cNvCxnSpPr>
            <a:cxnSpLocks/>
          </p:cNvCxnSpPr>
          <p:nvPr/>
        </p:nvCxnSpPr>
        <p:spPr>
          <a:xfrm flipV="1">
            <a:off x="5770418" y="5257294"/>
            <a:ext cx="1011382" cy="1017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13126A7-EC8A-A8B8-1E79-0F6331AB3AEF}"/>
              </a:ext>
            </a:extLst>
          </p:cNvPr>
          <p:cNvGrpSpPr/>
          <p:nvPr/>
        </p:nvGrpSpPr>
        <p:grpSpPr>
          <a:xfrm>
            <a:off x="2667000" y="2727387"/>
            <a:ext cx="1752600" cy="1620638"/>
            <a:chOff x="2667000" y="2727387"/>
            <a:chExt cx="1752600" cy="162063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87D2E8D-5D36-81C4-5DB8-FA9750769083}"/>
                </a:ext>
              </a:extLst>
            </p:cNvPr>
            <p:cNvSpPr/>
            <p:nvPr/>
          </p:nvSpPr>
          <p:spPr>
            <a:xfrm>
              <a:off x="2667000" y="3738425"/>
              <a:ext cx="1752600" cy="3048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Base::start()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229700E-B511-E55C-5F9D-D577032C4D48}"/>
                </a:ext>
              </a:extLst>
            </p:cNvPr>
            <p:cNvSpPr/>
            <p:nvPr/>
          </p:nvSpPr>
          <p:spPr>
            <a:xfrm>
              <a:off x="2667000" y="4043225"/>
              <a:ext cx="1752600" cy="3048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Base::end()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71FCC35-C57A-BDFE-64F7-9438EC1683AD}"/>
                </a:ext>
              </a:extLst>
            </p:cNvPr>
            <p:cNvSpPr/>
            <p:nvPr/>
          </p:nvSpPr>
          <p:spPr>
            <a:xfrm>
              <a:off x="2667000" y="3128825"/>
              <a:ext cx="1752600" cy="609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Other Info.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24B3F80-5188-2807-8B53-66CDC9B46B7B}"/>
                </a:ext>
              </a:extLst>
            </p:cNvPr>
            <p:cNvSpPr txBox="1"/>
            <p:nvPr/>
          </p:nvSpPr>
          <p:spPr>
            <a:xfrm>
              <a:off x="2667000" y="2727387"/>
              <a:ext cx="16369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Base: </a:t>
              </a:r>
              <a:r>
                <a:rPr lang="en-US" dirty="0" err="1"/>
                <a:t>vtable</a:t>
              </a:r>
              <a:endParaRPr lang="en-US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7A9ED64-75A0-59F1-393B-2CEEF50187CF}"/>
              </a:ext>
            </a:extLst>
          </p:cNvPr>
          <p:cNvGrpSpPr/>
          <p:nvPr/>
        </p:nvGrpSpPr>
        <p:grpSpPr>
          <a:xfrm>
            <a:off x="6590936" y="4139863"/>
            <a:ext cx="1976375" cy="1676400"/>
            <a:chOff x="6590936" y="4139863"/>
            <a:chExt cx="1976375" cy="1676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EB52894-B77E-841E-E913-56CD950AB0F1}"/>
                </a:ext>
              </a:extLst>
            </p:cNvPr>
            <p:cNvSpPr/>
            <p:nvPr/>
          </p:nvSpPr>
          <p:spPr>
            <a:xfrm>
              <a:off x="6781800" y="5206663"/>
              <a:ext cx="1676400" cy="3048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Derived::start()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F3CDF31-7D76-AE07-B1DD-E4E8E1CAA2BA}"/>
                </a:ext>
              </a:extLst>
            </p:cNvPr>
            <p:cNvSpPr/>
            <p:nvPr/>
          </p:nvSpPr>
          <p:spPr>
            <a:xfrm>
              <a:off x="6781800" y="5511463"/>
              <a:ext cx="1676400" cy="3048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Base ::end()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E8C028E-66CA-D5B6-6AD5-0A9E5E6A673E}"/>
                </a:ext>
              </a:extLst>
            </p:cNvPr>
            <p:cNvSpPr/>
            <p:nvPr/>
          </p:nvSpPr>
          <p:spPr>
            <a:xfrm>
              <a:off x="6781800" y="4597063"/>
              <a:ext cx="1676400" cy="609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Other Info.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862E5FA-D6FC-65E7-A16D-58DFB137F07D}"/>
                </a:ext>
              </a:extLst>
            </p:cNvPr>
            <p:cNvSpPr txBox="1"/>
            <p:nvPr/>
          </p:nvSpPr>
          <p:spPr>
            <a:xfrm>
              <a:off x="6590936" y="4139863"/>
              <a:ext cx="19763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Derived: </a:t>
              </a:r>
              <a:r>
                <a:rPr lang="en-US" dirty="0" err="1"/>
                <a:t>vtable</a:t>
              </a:r>
              <a:endParaRPr lang="en-US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7B1EE83-A3F8-B4C3-60E6-8C283037E90E}"/>
              </a:ext>
            </a:extLst>
          </p:cNvPr>
          <p:cNvGrpSpPr/>
          <p:nvPr/>
        </p:nvGrpSpPr>
        <p:grpSpPr>
          <a:xfrm>
            <a:off x="685800" y="3332879"/>
            <a:ext cx="990600" cy="1015146"/>
            <a:chOff x="685800" y="3332879"/>
            <a:chExt cx="990600" cy="1015146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AC8EEE9E-A000-9CEC-6972-5D5B8862B4FB}"/>
                </a:ext>
              </a:extLst>
            </p:cNvPr>
            <p:cNvGrpSpPr/>
            <p:nvPr/>
          </p:nvGrpSpPr>
          <p:grpSpPr>
            <a:xfrm>
              <a:off x="685800" y="3738425"/>
              <a:ext cx="990600" cy="609600"/>
              <a:chOff x="685800" y="3738425"/>
              <a:chExt cx="990600" cy="609600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5A24813-0BE1-1B88-B3DD-0B4B1946A52F}"/>
                  </a:ext>
                </a:extLst>
              </p:cNvPr>
              <p:cNvSpPr/>
              <p:nvPr/>
            </p:nvSpPr>
            <p:spPr>
              <a:xfrm>
                <a:off x="685800" y="3738425"/>
                <a:ext cx="990600" cy="3048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/>
                  <a:t>vptr</a:t>
                </a:r>
                <a:endParaRPr lang="en-US" dirty="0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28D6970-ED8D-3299-49A9-CA6E81AA5A6A}"/>
                  </a:ext>
                </a:extLst>
              </p:cNvPr>
              <p:cNvSpPr/>
              <p:nvPr/>
            </p:nvSpPr>
            <p:spPr>
              <a:xfrm>
                <a:off x="685800" y="4043225"/>
                <a:ext cx="990600" cy="3048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int b</a:t>
                </a:r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FD58B0B-D6D8-69D5-0287-23612AB2E8EE}"/>
                </a:ext>
              </a:extLst>
            </p:cNvPr>
            <p:cNvSpPr txBox="1"/>
            <p:nvPr/>
          </p:nvSpPr>
          <p:spPr>
            <a:xfrm>
              <a:off x="811447" y="3332879"/>
              <a:ext cx="7393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Base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D72BEAF-16E8-9D3E-89BA-C44D9730903D}"/>
              </a:ext>
            </a:extLst>
          </p:cNvPr>
          <p:cNvGrpSpPr/>
          <p:nvPr/>
        </p:nvGrpSpPr>
        <p:grpSpPr>
          <a:xfrm>
            <a:off x="3319390" y="4811762"/>
            <a:ext cx="2539121" cy="1309301"/>
            <a:chOff x="3319390" y="4811762"/>
            <a:chExt cx="2539121" cy="130930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154648F4-2947-69CD-C60B-A513BC709566}"/>
                </a:ext>
              </a:extLst>
            </p:cNvPr>
            <p:cNvGrpSpPr/>
            <p:nvPr/>
          </p:nvGrpSpPr>
          <p:grpSpPr>
            <a:xfrm>
              <a:off x="3319390" y="5206663"/>
              <a:ext cx="2454492" cy="914400"/>
              <a:chOff x="3319390" y="5206663"/>
              <a:chExt cx="2454492" cy="914400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C2378FB-7CB7-56D5-0C82-405639D96C10}"/>
                  </a:ext>
                </a:extLst>
              </p:cNvPr>
              <p:cNvSpPr/>
              <p:nvPr/>
            </p:nvSpPr>
            <p:spPr>
              <a:xfrm>
                <a:off x="4783282" y="5206663"/>
                <a:ext cx="990600" cy="3048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/>
                  <a:t>vptr</a:t>
                </a:r>
                <a:endParaRPr lang="en-US" dirty="0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A183AF3-F2B1-BA72-F20C-F1EE0926B15E}"/>
                  </a:ext>
                </a:extLst>
              </p:cNvPr>
              <p:cNvSpPr/>
              <p:nvPr/>
            </p:nvSpPr>
            <p:spPr>
              <a:xfrm>
                <a:off x="4783282" y="5511463"/>
                <a:ext cx="990600" cy="304800"/>
              </a:xfrm>
              <a:prstGeom prst="rect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int b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0E1CEE6-D74E-EA43-B9CF-44AE9E2E11FF}"/>
                  </a:ext>
                </a:extLst>
              </p:cNvPr>
              <p:cNvSpPr/>
              <p:nvPr/>
            </p:nvSpPr>
            <p:spPr>
              <a:xfrm>
                <a:off x="4779818" y="5816263"/>
                <a:ext cx="990600" cy="3048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int d</a:t>
                </a:r>
              </a:p>
            </p:txBody>
          </p:sp>
          <p:sp>
            <p:nvSpPr>
              <p:cNvPr id="22" name="Left Brace 21">
                <a:extLst>
                  <a:ext uri="{FF2B5EF4-FFF2-40B4-BE49-F238E27FC236}">
                    <a16:creationId xmlns:a16="http://schemas.microsoft.com/office/drawing/2014/main" id="{D7BF041A-501F-D987-C13E-BDE13F80D1C1}"/>
                  </a:ext>
                </a:extLst>
              </p:cNvPr>
              <p:cNvSpPr/>
              <p:nvPr/>
            </p:nvSpPr>
            <p:spPr>
              <a:xfrm>
                <a:off x="4502727" y="5257294"/>
                <a:ext cx="152400" cy="508337"/>
              </a:xfrm>
              <a:prstGeom prst="leftBrac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66E2120-CEA9-79D7-5BBD-21D8A07529DC}"/>
                  </a:ext>
                </a:extLst>
              </p:cNvPr>
              <p:cNvSpPr txBox="1"/>
              <p:nvPr/>
            </p:nvSpPr>
            <p:spPr>
              <a:xfrm>
                <a:off x="3319390" y="5359063"/>
                <a:ext cx="118333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 err="1"/>
                  <a:t>subobject</a:t>
                </a:r>
                <a:endParaRPr lang="en-US" sz="1600" dirty="0"/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99DFD32-BB23-2CE5-27C2-C6F41158F93C}"/>
                </a:ext>
              </a:extLst>
            </p:cNvPr>
            <p:cNvSpPr txBox="1"/>
            <p:nvPr/>
          </p:nvSpPr>
          <p:spPr>
            <a:xfrm>
              <a:off x="4779818" y="4811762"/>
              <a:ext cx="10786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Derived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E02B9C2-2D82-2F7A-CB7D-8E7693C1023A}"/>
              </a:ext>
            </a:extLst>
          </p:cNvPr>
          <p:cNvSpPr txBox="1"/>
          <p:nvPr/>
        </p:nvSpPr>
        <p:spPr>
          <a:xfrm>
            <a:off x="914400" y="6501728"/>
            <a:ext cx="19078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Code: lec10-06-layout.cpp</a:t>
            </a:r>
          </a:p>
        </p:txBody>
      </p:sp>
    </p:spTree>
    <p:extLst>
      <p:ext uri="{BB962C8B-B14F-4D97-AF65-F5344CB8AC3E}">
        <p14:creationId xmlns:p14="http://schemas.microsoft.com/office/powerpoint/2010/main" val="1947472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EBA93-E889-46F5-9D56-9690CC15B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Pure Virtual Functions and Abstract Classes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FCBEC8-BA12-43F9-B2C6-62D378363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16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8A9326-F8BF-4DE9-B86F-58BB36939D3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Pure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7030A0"/>
                </a:solidFill>
              </a:rPr>
              <a:t>virtual</a:t>
            </a:r>
            <a:r>
              <a:rPr lang="en-US" sz="2400" dirty="0"/>
              <a:t> function</a:t>
            </a:r>
          </a:p>
          <a:p>
            <a:pPr lvl="1"/>
            <a:r>
              <a:rPr lang="en-US" sz="2200" dirty="0"/>
              <a:t>Syntax</a:t>
            </a:r>
          </a:p>
          <a:p>
            <a:r>
              <a:rPr lang="en-US" sz="2400" dirty="0">
                <a:solidFill>
                  <a:srgbClr val="C00000"/>
                </a:solidFill>
              </a:rPr>
              <a:t>Abstract</a:t>
            </a:r>
            <a:r>
              <a:rPr lang="en-US" sz="2400" dirty="0"/>
              <a:t> class</a:t>
            </a:r>
          </a:p>
          <a:p>
            <a:pPr lvl="1"/>
            <a:r>
              <a:rPr lang="en-US" sz="2200" dirty="0"/>
              <a:t>A class is abstract if it has </a:t>
            </a:r>
            <a:r>
              <a:rPr lang="en-US" sz="2200" dirty="0">
                <a:solidFill>
                  <a:srgbClr val="FF0000"/>
                </a:solidFill>
              </a:rPr>
              <a:t>at least one </a:t>
            </a:r>
            <a:r>
              <a:rPr lang="en-US" sz="2200" b="1" dirty="0"/>
              <a:t>pure virtual </a:t>
            </a:r>
            <a:r>
              <a:rPr lang="en-US" sz="2200" dirty="0"/>
              <a:t>function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6E99A06-C3E5-40C9-B570-FEB84909E057}"/>
              </a:ext>
            </a:extLst>
          </p:cNvPr>
          <p:cNvSpPr txBox="1"/>
          <p:nvPr/>
        </p:nvSpPr>
        <p:spPr>
          <a:xfrm>
            <a:off x="2552700" y="2009001"/>
            <a:ext cx="4495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200" dirty="0">
                <a:solidFill>
                  <a:srgbClr val="FF0000"/>
                </a:solidFill>
                <a:latin typeface="Courier New" pitchFamily="49" charset="0"/>
              </a:rPr>
              <a:t>virtual</a:t>
            </a:r>
            <a:r>
              <a:rPr lang="en-US" altLang="zh-CN" sz="1200" dirty="0">
                <a:latin typeface="Courier New" pitchFamily="49" charset="0"/>
              </a:rPr>
              <a:t> </a:t>
            </a:r>
            <a:r>
              <a:rPr lang="en-US" altLang="zh-CN" sz="1200" dirty="0" err="1">
                <a:latin typeface="Courier New" pitchFamily="49" charset="0"/>
              </a:rPr>
              <a:t>returnType</a:t>
            </a:r>
            <a:r>
              <a:rPr lang="en-US" altLang="zh-CN" sz="1200" dirty="0">
                <a:latin typeface="Courier New" pitchFamily="49" charset="0"/>
              </a:rPr>
              <a:t> </a:t>
            </a:r>
            <a:r>
              <a:rPr lang="en-US" altLang="zh-CN" sz="1200" dirty="0" err="1">
                <a:latin typeface="Courier New" pitchFamily="49" charset="0"/>
              </a:rPr>
              <a:t>funcName</a:t>
            </a:r>
            <a:r>
              <a:rPr lang="en-US" altLang="zh-CN" sz="1200" dirty="0">
                <a:latin typeface="Courier New" pitchFamily="49" charset="0"/>
              </a:rPr>
              <a:t>([</a:t>
            </a:r>
            <a:r>
              <a:rPr lang="en-US" altLang="zh-CN" sz="1200" dirty="0" err="1">
                <a:latin typeface="Courier New" pitchFamily="49" charset="0"/>
              </a:rPr>
              <a:t>paraList</a:t>
            </a:r>
            <a:r>
              <a:rPr lang="en-US" altLang="zh-CN" sz="1200" dirty="0">
                <a:latin typeface="Courier New" pitchFamily="49" charset="0"/>
              </a:rPr>
              <a:t>]) </a:t>
            </a:r>
            <a:r>
              <a:rPr lang="en-US" altLang="zh-CN" sz="1200" dirty="0">
                <a:solidFill>
                  <a:srgbClr val="FF0000"/>
                </a:solidFill>
                <a:latin typeface="Courier New" pitchFamily="49" charset="0"/>
              </a:rPr>
              <a:t>= 0</a:t>
            </a:r>
            <a:r>
              <a:rPr lang="en-US" altLang="zh-CN" sz="1200" dirty="0">
                <a:latin typeface="Courier New" pitchFamily="49" charset="0"/>
              </a:rPr>
              <a:t>;</a:t>
            </a:r>
          </a:p>
        </p:txBody>
      </p:sp>
      <p:sp>
        <p:nvSpPr>
          <p:cNvPr id="6" name="文本框 4">
            <a:extLst>
              <a:ext uri="{FF2B5EF4-FFF2-40B4-BE49-F238E27FC236}">
                <a16:creationId xmlns:a16="http://schemas.microsoft.com/office/drawing/2014/main" id="{58A11A54-54B4-4D92-B474-05144C92AE31}"/>
              </a:ext>
            </a:extLst>
          </p:cNvPr>
          <p:cNvSpPr txBox="1"/>
          <p:nvPr/>
        </p:nvSpPr>
        <p:spPr>
          <a:xfrm>
            <a:off x="1143000" y="3512794"/>
            <a:ext cx="3048000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class Machine {</a:t>
            </a:r>
            <a:br>
              <a:rPr lang="en-US" altLang="zh-TW" sz="1000" dirty="0">
                <a:latin typeface="Courier New" pitchFamily="49" charset="0"/>
              </a:rPr>
            </a:br>
            <a:r>
              <a:rPr lang="en-US" altLang="zh-TW" sz="1000" dirty="0">
                <a:solidFill>
                  <a:srgbClr val="C00000"/>
                </a:solidFill>
                <a:latin typeface="Courier New" pitchFamily="49" charset="0"/>
              </a:rPr>
              <a:t>public</a:t>
            </a:r>
            <a:r>
              <a:rPr lang="en-US" altLang="zh-TW" sz="1000" dirty="0">
                <a:latin typeface="Courier New" pitchFamily="49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</a:t>
            </a:r>
            <a:r>
              <a:rPr lang="en-US" altLang="zh-TW" sz="1000" dirty="0">
                <a:solidFill>
                  <a:srgbClr val="FF0000"/>
                </a:solidFill>
                <a:latin typeface="Courier New" pitchFamily="49" charset="0"/>
              </a:rPr>
              <a:t>virtual</a:t>
            </a:r>
            <a:r>
              <a:rPr lang="en-US" altLang="zh-TW" sz="1000" dirty="0">
                <a:latin typeface="Courier New" pitchFamily="49" charset="0"/>
              </a:rPr>
              <a:t> void start() </a:t>
            </a:r>
            <a:r>
              <a:rPr lang="en-US" altLang="zh-TW" sz="1000" dirty="0">
                <a:solidFill>
                  <a:srgbClr val="FF0000"/>
                </a:solidFill>
                <a:latin typeface="Courier New" pitchFamily="49" charset="0"/>
              </a:rPr>
              <a:t>= 0</a:t>
            </a:r>
            <a:r>
              <a:rPr lang="en-US" altLang="zh-TW" sz="10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};</a:t>
            </a:r>
            <a:endParaRPr lang="en-US" altLang="zh-CN" sz="1000" dirty="0">
              <a:latin typeface="Courier New" pitchFamily="49" charset="0"/>
            </a:endParaRPr>
          </a:p>
        </p:txBody>
      </p:sp>
      <p:sp>
        <p:nvSpPr>
          <p:cNvPr id="7" name="文本框 4">
            <a:extLst>
              <a:ext uri="{FF2B5EF4-FFF2-40B4-BE49-F238E27FC236}">
                <a16:creationId xmlns:a16="http://schemas.microsoft.com/office/drawing/2014/main" id="{D8043D54-543B-4722-A2FF-5BEEE8370001}"/>
              </a:ext>
            </a:extLst>
          </p:cNvPr>
          <p:cNvSpPr txBox="1"/>
          <p:nvPr/>
        </p:nvSpPr>
        <p:spPr>
          <a:xfrm>
            <a:off x="1143000" y="4648200"/>
            <a:ext cx="3048000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class Car :public Machine {</a:t>
            </a:r>
            <a:br>
              <a:rPr lang="en-US" altLang="zh-TW" sz="1000" dirty="0">
                <a:latin typeface="Courier New" pitchFamily="49" charset="0"/>
              </a:rPr>
            </a:br>
            <a:r>
              <a:rPr lang="en-US" altLang="zh-TW" sz="1000" dirty="0">
                <a:solidFill>
                  <a:srgbClr val="C00000"/>
                </a:solidFill>
                <a:latin typeface="Courier New" pitchFamily="49" charset="0"/>
              </a:rPr>
              <a:t>public</a:t>
            </a:r>
            <a:r>
              <a:rPr lang="en-US" altLang="zh-TW" sz="1000" dirty="0">
                <a:latin typeface="Courier New" pitchFamily="49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void start() {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  </a:t>
            </a:r>
            <a:r>
              <a:rPr lang="en-US" altLang="zh-TW" sz="1000" dirty="0" err="1">
                <a:latin typeface="Courier New" pitchFamily="49" charset="0"/>
              </a:rPr>
              <a:t>cout</a:t>
            </a:r>
            <a:r>
              <a:rPr lang="en-US" altLang="zh-TW" sz="1000" dirty="0">
                <a:latin typeface="Courier New" pitchFamily="49" charset="0"/>
              </a:rPr>
              <a:t> &lt;&lt; “driving” &lt;&lt; </a:t>
            </a:r>
            <a:r>
              <a:rPr lang="en-US" altLang="zh-TW" sz="1000" dirty="0" err="1">
                <a:latin typeface="Courier New" pitchFamily="49" charset="0"/>
              </a:rPr>
              <a:t>endl</a:t>
            </a:r>
            <a:r>
              <a:rPr lang="en-US" altLang="zh-TW" sz="1000" dirty="0">
                <a:latin typeface="Courier New" pitchFamily="49" charset="0"/>
              </a:rPr>
              <a:t>;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};</a:t>
            </a:r>
            <a:endParaRPr lang="en-US" altLang="zh-CN" sz="1000" dirty="0">
              <a:latin typeface="Courier New" pitchFamily="49" charset="0"/>
            </a:endParaRPr>
          </a:p>
        </p:txBody>
      </p:sp>
      <p:sp>
        <p:nvSpPr>
          <p:cNvPr id="8" name="文本框 4">
            <a:extLst>
              <a:ext uri="{FF2B5EF4-FFF2-40B4-BE49-F238E27FC236}">
                <a16:creationId xmlns:a16="http://schemas.microsoft.com/office/drawing/2014/main" id="{9282BF2D-E578-4F89-ABD6-34E20845749B}"/>
              </a:ext>
            </a:extLst>
          </p:cNvPr>
          <p:cNvSpPr txBox="1"/>
          <p:nvPr/>
        </p:nvSpPr>
        <p:spPr>
          <a:xfrm>
            <a:off x="4822371" y="3899394"/>
            <a:ext cx="385354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void f()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Car c;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Machine *</a:t>
            </a:r>
            <a:r>
              <a:rPr lang="en-US" altLang="zh-CN" sz="1000" dirty="0" err="1">
                <a:latin typeface="Courier New" pitchFamily="49" charset="0"/>
              </a:rPr>
              <a:t>mPtr</a:t>
            </a:r>
            <a:r>
              <a:rPr lang="en-US" altLang="zh-CN" sz="1000" dirty="0">
                <a:latin typeface="Courier New" pitchFamily="49" charset="0"/>
              </a:rPr>
              <a:t> = &amp;c;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</a:t>
            </a:r>
            <a:r>
              <a:rPr lang="en-US" altLang="zh-CN" sz="1000" dirty="0" err="1">
                <a:latin typeface="Courier New" pitchFamily="49" charset="0"/>
              </a:rPr>
              <a:t>mPtr</a:t>
            </a:r>
            <a:r>
              <a:rPr lang="en-US" altLang="zh-CN" sz="1000" dirty="0">
                <a:latin typeface="Courier New" pitchFamily="49" charset="0"/>
              </a:rPr>
              <a:t>-&gt;start();  // driving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0810FB-CAC0-F2CC-177C-68732959E8F1}"/>
              </a:ext>
            </a:extLst>
          </p:cNvPr>
          <p:cNvSpPr txBox="1"/>
          <p:nvPr/>
        </p:nvSpPr>
        <p:spPr>
          <a:xfrm>
            <a:off x="914400" y="6501728"/>
            <a:ext cx="18020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Code: lec10-06-pure.cpp</a:t>
            </a:r>
          </a:p>
        </p:txBody>
      </p:sp>
    </p:spTree>
    <p:extLst>
      <p:ext uri="{BB962C8B-B14F-4D97-AF65-F5344CB8AC3E}">
        <p14:creationId xmlns:p14="http://schemas.microsoft.com/office/powerpoint/2010/main" val="1308685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nimBg="1"/>
      <p:bldP spid="8" grpId="0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82244-81B6-4128-8ED4-88A6AC3BF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Class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C76E1A-ED1E-47E9-AAEE-D535C050B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17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605212-F0C3-4692-ACB7-BB19D86E833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Some notes</a:t>
            </a:r>
          </a:p>
          <a:p>
            <a:pPr lvl="1"/>
            <a:r>
              <a:rPr lang="en-US" sz="2200" dirty="0"/>
              <a:t>We </a:t>
            </a:r>
            <a:r>
              <a:rPr lang="en-US" sz="2200" b="1" dirty="0"/>
              <a:t>cannot</a:t>
            </a:r>
            <a:r>
              <a:rPr lang="en-US" sz="2200" dirty="0"/>
              <a:t> create </a:t>
            </a:r>
            <a:r>
              <a:rPr lang="en-US" sz="2200" dirty="0">
                <a:solidFill>
                  <a:srgbClr val="C00000"/>
                </a:solidFill>
              </a:rPr>
              <a:t>objects</a:t>
            </a:r>
            <a:r>
              <a:rPr lang="en-US" sz="2200" dirty="0"/>
              <a:t> of </a:t>
            </a:r>
            <a:r>
              <a:rPr lang="en-US" sz="2200" dirty="0">
                <a:solidFill>
                  <a:srgbClr val="7030A0"/>
                </a:solidFill>
              </a:rPr>
              <a:t>abstract classes</a:t>
            </a:r>
            <a:r>
              <a:rPr lang="en-US" sz="2200" dirty="0"/>
              <a:t> </a:t>
            </a:r>
          </a:p>
          <a:p>
            <a:pPr lvl="1"/>
            <a:r>
              <a:rPr lang="en-US" sz="2200" dirty="0"/>
              <a:t>If the </a:t>
            </a:r>
            <a:r>
              <a:rPr lang="en-US" sz="2200" dirty="0">
                <a:solidFill>
                  <a:srgbClr val="0070C0"/>
                </a:solidFill>
              </a:rPr>
              <a:t>pure virtual function</a:t>
            </a:r>
            <a:r>
              <a:rPr lang="en-US" sz="2200" dirty="0"/>
              <a:t> is </a:t>
            </a:r>
            <a:r>
              <a:rPr lang="en-US" sz="2200" b="1" dirty="0"/>
              <a:t>not</a:t>
            </a:r>
            <a:r>
              <a:rPr lang="en-US" sz="2200" dirty="0"/>
              <a:t> </a:t>
            </a:r>
            <a:r>
              <a:rPr lang="en-US" sz="2200" b="1" dirty="0"/>
              <a:t>overridden</a:t>
            </a:r>
            <a:r>
              <a:rPr lang="en-US" sz="2200" dirty="0"/>
              <a:t> in the derived class, the derived class also becomes an abstract class</a:t>
            </a:r>
            <a:endParaRPr lang="en-HK" sz="22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A0DD918-37DC-DCAD-7D55-48ABB2DB76C4}"/>
              </a:ext>
            </a:extLst>
          </p:cNvPr>
          <p:cNvSpPr txBox="1"/>
          <p:nvPr/>
        </p:nvSpPr>
        <p:spPr>
          <a:xfrm>
            <a:off x="1143000" y="3512794"/>
            <a:ext cx="3048000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class Machine {</a:t>
            </a:r>
            <a:br>
              <a:rPr lang="en-US" altLang="zh-TW" sz="1000" dirty="0">
                <a:latin typeface="Courier New" pitchFamily="49" charset="0"/>
              </a:rPr>
            </a:br>
            <a:r>
              <a:rPr lang="en-US" altLang="zh-TW" sz="1000" dirty="0">
                <a:solidFill>
                  <a:srgbClr val="C00000"/>
                </a:solidFill>
                <a:latin typeface="Courier New" pitchFamily="49" charset="0"/>
              </a:rPr>
              <a:t>public</a:t>
            </a:r>
            <a:r>
              <a:rPr lang="en-US" altLang="zh-TW" sz="1000" dirty="0">
                <a:latin typeface="Courier New" pitchFamily="49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</a:t>
            </a:r>
            <a:r>
              <a:rPr lang="en-US" altLang="zh-TW" sz="1000" dirty="0">
                <a:solidFill>
                  <a:srgbClr val="FF0000"/>
                </a:solidFill>
                <a:latin typeface="Courier New" pitchFamily="49" charset="0"/>
              </a:rPr>
              <a:t>virtual</a:t>
            </a:r>
            <a:r>
              <a:rPr lang="en-US" altLang="zh-TW" sz="1000" dirty="0">
                <a:latin typeface="Courier New" pitchFamily="49" charset="0"/>
              </a:rPr>
              <a:t> void start() </a:t>
            </a:r>
            <a:r>
              <a:rPr lang="en-US" altLang="zh-TW" sz="1000" dirty="0">
                <a:solidFill>
                  <a:srgbClr val="FF0000"/>
                </a:solidFill>
                <a:latin typeface="Courier New" pitchFamily="49" charset="0"/>
              </a:rPr>
              <a:t>= 0</a:t>
            </a:r>
            <a:r>
              <a:rPr lang="en-US" altLang="zh-TW" sz="10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};</a:t>
            </a:r>
            <a:endParaRPr lang="en-US" altLang="zh-CN" sz="1000" dirty="0">
              <a:latin typeface="Courier New" pitchFamily="49" charset="0"/>
            </a:endParaRPr>
          </a:p>
        </p:txBody>
      </p:sp>
      <p:sp>
        <p:nvSpPr>
          <p:cNvPr id="6" name="文本框 4">
            <a:extLst>
              <a:ext uri="{FF2B5EF4-FFF2-40B4-BE49-F238E27FC236}">
                <a16:creationId xmlns:a16="http://schemas.microsoft.com/office/drawing/2014/main" id="{9A132D53-2F3C-01C5-081A-045CA43DAAFA}"/>
              </a:ext>
            </a:extLst>
          </p:cNvPr>
          <p:cNvSpPr txBox="1"/>
          <p:nvPr/>
        </p:nvSpPr>
        <p:spPr>
          <a:xfrm>
            <a:off x="1143000" y="4648200"/>
            <a:ext cx="3048000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class Car :public Machine {</a:t>
            </a:r>
            <a:br>
              <a:rPr lang="en-US" altLang="zh-TW" sz="1000" dirty="0">
                <a:latin typeface="Courier New" pitchFamily="49" charset="0"/>
              </a:rPr>
            </a:br>
            <a:r>
              <a:rPr lang="en-US" altLang="zh-TW" sz="1000" dirty="0">
                <a:latin typeface="Courier New" pitchFamily="49" charset="0"/>
              </a:rPr>
              <a:t>  // Do not override start()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// Car is also an abstract class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};</a:t>
            </a:r>
            <a:endParaRPr lang="en-US" altLang="zh-CN" sz="1000" dirty="0">
              <a:latin typeface="Courier New" pitchFamily="49" charset="0"/>
            </a:endParaRPr>
          </a:p>
        </p:txBody>
      </p:sp>
      <p:sp>
        <p:nvSpPr>
          <p:cNvPr id="7" name="文本框 4">
            <a:extLst>
              <a:ext uri="{FF2B5EF4-FFF2-40B4-BE49-F238E27FC236}">
                <a16:creationId xmlns:a16="http://schemas.microsoft.com/office/drawing/2014/main" id="{D226FF93-FE8B-8407-060F-4D0D0CABA4A2}"/>
              </a:ext>
            </a:extLst>
          </p:cNvPr>
          <p:cNvSpPr txBox="1"/>
          <p:nvPr/>
        </p:nvSpPr>
        <p:spPr>
          <a:xfrm>
            <a:off x="4822371" y="3899394"/>
            <a:ext cx="385354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void f()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Car c; // Error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5C0248-9861-0E24-EEEE-E8285490AB42}"/>
              </a:ext>
            </a:extLst>
          </p:cNvPr>
          <p:cNvSpPr txBox="1"/>
          <p:nvPr/>
        </p:nvSpPr>
        <p:spPr>
          <a:xfrm>
            <a:off x="914400" y="6501728"/>
            <a:ext cx="20345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Code: lec10-07-abstract.cpp</a:t>
            </a:r>
          </a:p>
        </p:txBody>
      </p:sp>
    </p:spTree>
    <p:extLst>
      <p:ext uri="{BB962C8B-B14F-4D97-AF65-F5344CB8AC3E}">
        <p14:creationId xmlns:p14="http://schemas.microsoft.com/office/powerpoint/2010/main" val="454387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F759B-1281-4CE8-B3C6-0F8B582CE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AC8F82-A81A-4E95-A696-6C9467222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18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CB0A99-48AB-4963-8E59-B0756B2805A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Introduction to Polymorphism</a:t>
            </a:r>
          </a:p>
          <a:p>
            <a:endParaRPr lang="en-US" dirty="0"/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Virtual function and dynamic/late binding</a:t>
            </a:r>
          </a:p>
          <a:p>
            <a:endParaRPr lang="en-US" dirty="0"/>
          </a:p>
          <a:p>
            <a:r>
              <a:rPr lang="en-US" dirty="0"/>
              <a:t>Virtual destructor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0667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EE95E-782B-4845-879F-4D54C543F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Destructor</a:t>
            </a:r>
            <a:endParaRPr lang="en-HK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7DFE39-5386-4771-899D-740E9430B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19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49C8FA-CD09-4A74-87CA-8E37C29AA0B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HK" sz="2400" b="1" dirty="0"/>
              <a:t>Why</a:t>
            </a:r>
            <a:r>
              <a:rPr lang="en-HK" sz="2400" dirty="0"/>
              <a:t> we need it? Consider the following case</a:t>
            </a:r>
          </a:p>
          <a:p>
            <a:pPr lvl="1"/>
            <a:r>
              <a:rPr lang="en-HK" sz="2000" dirty="0"/>
              <a:t>When we use a </a:t>
            </a:r>
            <a:r>
              <a:rPr lang="en-HK" sz="2000" dirty="0">
                <a:solidFill>
                  <a:srgbClr val="C00000"/>
                </a:solidFill>
              </a:rPr>
              <a:t>base class pointer</a:t>
            </a:r>
            <a:r>
              <a:rPr lang="en-HK" sz="2000" dirty="0"/>
              <a:t> to point to a </a:t>
            </a:r>
            <a:r>
              <a:rPr lang="en-HK" sz="2000" dirty="0">
                <a:solidFill>
                  <a:srgbClr val="7030A0"/>
                </a:solidFill>
              </a:rPr>
              <a:t>derived class object</a:t>
            </a:r>
            <a:r>
              <a:rPr lang="en-HK" sz="2000" dirty="0"/>
              <a:t>, if </a:t>
            </a:r>
            <a:r>
              <a:rPr lang="en-HK" sz="2000" b="1" dirty="0"/>
              <a:t>a variable</a:t>
            </a:r>
            <a:r>
              <a:rPr lang="en-HK" sz="2000" dirty="0"/>
              <a:t> is created </a:t>
            </a:r>
            <a:r>
              <a:rPr lang="en-HK" sz="2000" dirty="0">
                <a:solidFill>
                  <a:srgbClr val="FF0000"/>
                </a:solidFill>
              </a:rPr>
              <a:t>on the heap</a:t>
            </a:r>
            <a:r>
              <a:rPr lang="en-HK" sz="2000" dirty="0"/>
              <a:t> (using </a:t>
            </a:r>
            <a:r>
              <a:rPr lang="en-HK" sz="2000" b="1" dirty="0"/>
              <a:t>new</a:t>
            </a:r>
            <a:r>
              <a:rPr lang="en-HK" sz="2000" dirty="0"/>
              <a:t>), the pointer </a:t>
            </a:r>
            <a:r>
              <a:rPr lang="en-HK" sz="2000" b="1" dirty="0"/>
              <a:t>cannot</a:t>
            </a:r>
            <a:r>
              <a:rPr lang="en-HK" sz="2000" dirty="0"/>
              <a:t> call the </a:t>
            </a:r>
            <a:r>
              <a:rPr lang="en-HK" sz="2000" dirty="0">
                <a:solidFill>
                  <a:srgbClr val="0070C0"/>
                </a:solidFill>
              </a:rPr>
              <a:t>destructor</a:t>
            </a:r>
            <a:r>
              <a:rPr lang="en-HK" sz="2000" dirty="0"/>
              <a:t> of the </a:t>
            </a:r>
            <a:r>
              <a:rPr lang="en-HK" sz="2000" dirty="0">
                <a:solidFill>
                  <a:srgbClr val="0070C0"/>
                </a:solidFill>
              </a:rPr>
              <a:t>derived</a:t>
            </a:r>
            <a:r>
              <a:rPr lang="en-HK" sz="2000" dirty="0"/>
              <a:t> class</a:t>
            </a:r>
          </a:p>
          <a:p>
            <a:pPr lvl="1"/>
            <a:r>
              <a:rPr lang="en-HK" sz="2000" dirty="0"/>
              <a:t>So, the variables in the heap will </a:t>
            </a:r>
            <a:r>
              <a:rPr lang="en-HK" sz="2000" b="1" dirty="0"/>
              <a:t>not</a:t>
            </a:r>
            <a:r>
              <a:rPr lang="en-HK" sz="2000" dirty="0"/>
              <a:t> be released (memory leak)</a:t>
            </a:r>
          </a:p>
          <a:p>
            <a:endParaRPr lang="en-HK" sz="2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036A88E-DB7F-FF1A-AF3C-C9C2D55CF74C}"/>
              </a:ext>
            </a:extLst>
          </p:cNvPr>
          <p:cNvSpPr txBox="1"/>
          <p:nvPr/>
        </p:nvSpPr>
        <p:spPr>
          <a:xfrm>
            <a:off x="5151549" y="3429000"/>
            <a:ext cx="3048000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class Machine {</a:t>
            </a:r>
            <a:br>
              <a:rPr lang="en-US" altLang="zh-TW" sz="1000" dirty="0">
                <a:latin typeface="Courier New" pitchFamily="49" charset="0"/>
              </a:rPr>
            </a:br>
            <a:r>
              <a:rPr lang="en-US" altLang="zh-TW" sz="1000" dirty="0">
                <a:solidFill>
                  <a:srgbClr val="C00000"/>
                </a:solidFill>
                <a:latin typeface="Courier New" pitchFamily="49" charset="0"/>
              </a:rPr>
              <a:t>public</a:t>
            </a:r>
            <a:r>
              <a:rPr lang="en-US" altLang="zh-TW" sz="1000" dirty="0">
                <a:latin typeface="Courier New" pitchFamily="49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Machine() {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  </a:t>
            </a:r>
            <a:r>
              <a:rPr lang="en-US" altLang="zh-TW" sz="1000" dirty="0" err="1">
                <a:latin typeface="Courier New" pitchFamily="49" charset="0"/>
              </a:rPr>
              <a:t>cout</a:t>
            </a:r>
            <a:r>
              <a:rPr lang="en-US" altLang="zh-TW" sz="1000" dirty="0">
                <a:latin typeface="Courier New" pitchFamily="49" charset="0"/>
              </a:rPr>
              <a:t> &lt;&lt; "machine-con" &lt;&lt; </a:t>
            </a:r>
            <a:r>
              <a:rPr lang="en-US" altLang="zh-TW" sz="1000" dirty="0" err="1">
                <a:latin typeface="Courier New" pitchFamily="49" charset="0"/>
              </a:rPr>
              <a:t>endl</a:t>
            </a:r>
            <a:r>
              <a:rPr lang="en-US" altLang="zh-TW" sz="10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~Machine() {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  </a:t>
            </a:r>
            <a:r>
              <a:rPr lang="en-US" altLang="zh-TW" sz="1000" dirty="0" err="1">
                <a:latin typeface="Courier New" pitchFamily="49" charset="0"/>
              </a:rPr>
              <a:t>cout</a:t>
            </a:r>
            <a:r>
              <a:rPr lang="en-US" altLang="zh-TW" sz="1000" dirty="0">
                <a:latin typeface="Courier New" pitchFamily="49" charset="0"/>
              </a:rPr>
              <a:t> &lt;&lt; "machine-des" &lt;&lt; </a:t>
            </a:r>
            <a:r>
              <a:rPr lang="en-US" altLang="zh-TW" sz="1000" dirty="0" err="1">
                <a:latin typeface="Courier New" pitchFamily="49" charset="0"/>
              </a:rPr>
              <a:t>endl</a:t>
            </a:r>
            <a:r>
              <a:rPr lang="en-US" altLang="zh-TW" sz="10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};</a:t>
            </a:r>
            <a:endParaRPr lang="en-US" altLang="zh-CN" sz="1000" dirty="0">
              <a:latin typeface="Courier New" pitchFamily="49" charset="0"/>
            </a:endParaRPr>
          </a:p>
        </p:txBody>
      </p:sp>
      <p:sp>
        <p:nvSpPr>
          <p:cNvPr id="6" name="文本框 4">
            <a:extLst>
              <a:ext uri="{FF2B5EF4-FFF2-40B4-BE49-F238E27FC236}">
                <a16:creationId xmlns:a16="http://schemas.microsoft.com/office/drawing/2014/main" id="{DDCB9EB1-31C4-045D-2ACC-C51A48ACFF17}"/>
              </a:ext>
            </a:extLst>
          </p:cNvPr>
          <p:cNvSpPr txBox="1"/>
          <p:nvPr/>
        </p:nvSpPr>
        <p:spPr>
          <a:xfrm>
            <a:off x="1295400" y="3429000"/>
            <a:ext cx="3048000" cy="25545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class Car :public Machine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solidFill>
                  <a:srgbClr val="C00000"/>
                </a:solidFill>
                <a:latin typeface="Courier New" pitchFamily="49" charset="0"/>
              </a:rPr>
              <a:t>public</a:t>
            </a:r>
            <a:r>
              <a:rPr lang="en-US" altLang="zh-TW" sz="1000" dirty="0">
                <a:latin typeface="Courier New" pitchFamily="49" charset="0"/>
              </a:rPr>
              <a:t>:</a:t>
            </a:r>
            <a:br>
              <a:rPr lang="en-US" altLang="zh-TW" sz="1000" dirty="0">
                <a:latin typeface="Courier New" pitchFamily="49" charset="0"/>
              </a:rPr>
            </a:br>
            <a:r>
              <a:rPr lang="en-US" altLang="zh-TW" sz="1000" dirty="0">
                <a:latin typeface="Courier New" pitchFamily="49" charset="0"/>
              </a:rPr>
              <a:t>  Car () {	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  </a:t>
            </a:r>
            <a:r>
              <a:rPr lang="en-US" altLang="zh-TW" sz="1000" dirty="0" err="1">
                <a:latin typeface="Courier New" pitchFamily="49" charset="0"/>
              </a:rPr>
              <a:t>nPtr</a:t>
            </a:r>
            <a:r>
              <a:rPr lang="en-US" altLang="zh-TW" sz="1000" dirty="0">
                <a:latin typeface="Courier New" pitchFamily="49" charset="0"/>
              </a:rPr>
              <a:t> = new int;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  </a:t>
            </a:r>
            <a:r>
              <a:rPr lang="en-US" altLang="zh-TW" sz="1000" dirty="0" err="1">
                <a:latin typeface="Courier New" pitchFamily="49" charset="0"/>
              </a:rPr>
              <a:t>cout</a:t>
            </a:r>
            <a:r>
              <a:rPr lang="en-US" altLang="zh-TW" sz="1000" dirty="0">
                <a:latin typeface="Courier New" pitchFamily="49" charset="0"/>
              </a:rPr>
              <a:t> &lt;&lt; "car-con" &lt;&lt; </a:t>
            </a:r>
            <a:r>
              <a:rPr lang="en-US" altLang="zh-TW" sz="1000" dirty="0" err="1">
                <a:latin typeface="Courier New" pitchFamily="49" charset="0"/>
              </a:rPr>
              <a:t>endl</a:t>
            </a:r>
            <a:r>
              <a:rPr lang="en-US" altLang="zh-TW" sz="10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~Car()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  if (</a:t>
            </a:r>
            <a:r>
              <a:rPr lang="en-US" altLang="zh-TW" sz="1000" dirty="0" err="1">
                <a:latin typeface="Courier New" pitchFamily="49" charset="0"/>
              </a:rPr>
              <a:t>nPtr</a:t>
            </a:r>
            <a:r>
              <a:rPr lang="en-US" altLang="zh-TW" sz="1000" dirty="0">
                <a:latin typeface="Courier New" pitchFamily="49" charset="0"/>
              </a:rPr>
              <a:t> != NULL)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    delete </a:t>
            </a:r>
            <a:r>
              <a:rPr lang="en-US" altLang="zh-TW" sz="1000" dirty="0" err="1">
                <a:latin typeface="Courier New" pitchFamily="49" charset="0"/>
              </a:rPr>
              <a:t>nPtr</a:t>
            </a:r>
            <a:r>
              <a:rPr lang="en-US" altLang="zh-TW" sz="10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    </a:t>
            </a:r>
            <a:r>
              <a:rPr lang="en-US" altLang="zh-TW" sz="1000" dirty="0" err="1">
                <a:latin typeface="Courier New" pitchFamily="49" charset="0"/>
              </a:rPr>
              <a:t>nPtr</a:t>
            </a:r>
            <a:r>
              <a:rPr lang="en-US" altLang="zh-TW" sz="1000" dirty="0">
                <a:latin typeface="Courier New" pitchFamily="49" charset="0"/>
              </a:rPr>
              <a:t> = NULL;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 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  </a:t>
            </a:r>
            <a:r>
              <a:rPr lang="en-US" altLang="zh-TW" sz="1000" dirty="0" err="1">
                <a:latin typeface="Courier New" pitchFamily="49" charset="0"/>
              </a:rPr>
              <a:t>cout</a:t>
            </a:r>
            <a:r>
              <a:rPr lang="en-US" altLang="zh-TW" sz="1000" dirty="0">
                <a:latin typeface="Courier New" pitchFamily="49" charset="0"/>
              </a:rPr>
              <a:t> &lt;&lt; "car-des" &lt;&lt; </a:t>
            </a:r>
            <a:r>
              <a:rPr lang="en-US" altLang="zh-TW" sz="1000" dirty="0" err="1">
                <a:latin typeface="Courier New" pitchFamily="49" charset="0"/>
              </a:rPr>
              <a:t>endl</a:t>
            </a:r>
            <a:r>
              <a:rPr lang="en-US" altLang="zh-TW" sz="10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}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TW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int *</a:t>
            </a:r>
            <a:r>
              <a:rPr lang="en-US" altLang="zh-TW" sz="1000" dirty="0" err="1">
                <a:latin typeface="Courier New" pitchFamily="49" charset="0"/>
              </a:rPr>
              <a:t>nPtr</a:t>
            </a:r>
            <a:r>
              <a:rPr lang="en-US" altLang="zh-TW" sz="10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};</a:t>
            </a:r>
            <a:endParaRPr lang="en-US" altLang="zh-CN" sz="1000" dirty="0">
              <a:latin typeface="Courier New" pitchFamily="49" charset="0"/>
            </a:endParaRPr>
          </a:p>
        </p:txBody>
      </p:sp>
      <p:sp>
        <p:nvSpPr>
          <p:cNvPr id="7" name="文本框 4">
            <a:extLst>
              <a:ext uri="{FF2B5EF4-FFF2-40B4-BE49-F238E27FC236}">
                <a16:creationId xmlns:a16="http://schemas.microsoft.com/office/drawing/2014/main" id="{DBC3F9C1-55A7-6192-A8C7-C781A696B9FD}"/>
              </a:ext>
            </a:extLst>
          </p:cNvPr>
          <p:cNvSpPr txBox="1"/>
          <p:nvPr/>
        </p:nvSpPr>
        <p:spPr>
          <a:xfrm>
            <a:off x="5105400" y="5310426"/>
            <a:ext cx="304800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void f()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Machine *</a:t>
            </a:r>
            <a:r>
              <a:rPr lang="en-US" altLang="zh-CN" sz="1000" dirty="0" err="1">
                <a:latin typeface="Courier New" pitchFamily="49" charset="0"/>
              </a:rPr>
              <a:t>mPtr</a:t>
            </a:r>
            <a:r>
              <a:rPr lang="en-US" altLang="zh-CN" sz="1000" dirty="0">
                <a:latin typeface="Courier New" pitchFamily="49" charset="0"/>
              </a:rPr>
              <a:t> = new Car;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delete </a:t>
            </a:r>
            <a:r>
              <a:rPr lang="en-US" altLang="zh-CN" sz="1000" dirty="0" err="1">
                <a:latin typeface="Courier New" pitchFamily="49" charset="0"/>
              </a:rPr>
              <a:t>mPtr</a:t>
            </a:r>
            <a:r>
              <a:rPr lang="en-US" altLang="zh-CN" sz="10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</a:t>
            </a:r>
            <a:r>
              <a:rPr lang="en-US" altLang="zh-CN" sz="1000" dirty="0" err="1">
                <a:latin typeface="Courier New" pitchFamily="49" charset="0"/>
              </a:rPr>
              <a:t>mPtr</a:t>
            </a:r>
            <a:r>
              <a:rPr lang="en-US" altLang="zh-CN" sz="1000" dirty="0">
                <a:latin typeface="Courier New" pitchFamily="49" charset="0"/>
              </a:rPr>
              <a:t> = NULL;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4BF308-F671-70C5-D915-E22EBAF331AA}"/>
              </a:ext>
            </a:extLst>
          </p:cNvPr>
          <p:cNvSpPr txBox="1"/>
          <p:nvPr/>
        </p:nvSpPr>
        <p:spPr>
          <a:xfrm>
            <a:off x="914400" y="6501728"/>
            <a:ext cx="2172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Code: lec10-09-destructor.cpp</a:t>
            </a:r>
          </a:p>
        </p:txBody>
      </p:sp>
    </p:spTree>
    <p:extLst>
      <p:ext uri="{BB962C8B-B14F-4D97-AF65-F5344CB8AC3E}">
        <p14:creationId xmlns:p14="http://schemas.microsoft.com/office/powerpoint/2010/main" val="3555419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6608C-BE22-85E4-F3CE-36FE3F77F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Thinking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23FA8F-ED5B-8830-1203-4986B633E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20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B8A669-D383-D5F0-0847-1F82810D8E0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Analyze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f2()</a:t>
            </a:r>
            <a:r>
              <a:rPr lang="en-US" dirty="0"/>
              <a:t> below: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2FD906A-BFD1-AA7B-21CA-430CA2E637CC}"/>
              </a:ext>
            </a:extLst>
          </p:cNvPr>
          <p:cNvSpPr txBox="1"/>
          <p:nvPr/>
        </p:nvSpPr>
        <p:spPr>
          <a:xfrm>
            <a:off x="5164428" y="2305615"/>
            <a:ext cx="3048000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class Machine {</a:t>
            </a:r>
            <a:br>
              <a:rPr lang="en-US" altLang="zh-TW" sz="1000" dirty="0">
                <a:latin typeface="Courier New" pitchFamily="49" charset="0"/>
              </a:rPr>
            </a:br>
            <a:r>
              <a:rPr lang="en-US" altLang="zh-TW" sz="1000" dirty="0">
                <a:solidFill>
                  <a:srgbClr val="C00000"/>
                </a:solidFill>
                <a:latin typeface="Courier New" pitchFamily="49" charset="0"/>
              </a:rPr>
              <a:t>public</a:t>
            </a:r>
            <a:r>
              <a:rPr lang="en-US" altLang="zh-TW" sz="1000" dirty="0">
                <a:latin typeface="Courier New" pitchFamily="49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Machine() {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  </a:t>
            </a:r>
            <a:r>
              <a:rPr lang="en-US" altLang="zh-TW" sz="1000" dirty="0" err="1">
                <a:latin typeface="Courier New" pitchFamily="49" charset="0"/>
              </a:rPr>
              <a:t>cout</a:t>
            </a:r>
            <a:r>
              <a:rPr lang="en-US" altLang="zh-TW" sz="1000" dirty="0">
                <a:latin typeface="Courier New" pitchFamily="49" charset="0"/>
              </a:rPr>
              <a:t> &lt;&lt; "machine-con" &lt;&lt; </a:t>
            </a:r>
            <a:r>
              <a:rPr lang="en-US" altLang="zh-TW" sz="1000" dirty="0" err="1">
                <a:latin typeface="Courier New" pitchFamily="49" charset="0"/>
              </a:rPr>
              <a:t>endl</a:t>
            </a:r>
            <a:r>
              <a:rPr lang="en-US" altLang="zh-TW" sz="10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~Machine() {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  </a:t>
            </a:r>
            <a:r>
              <a:rPr lang="en-US" altLang="zh-TW" sz="1000" dirty="0" err="1">
                <a:latin typeface="Courier New" pitchFamily="49" charset="0"/>
              </a:rPr>
              <a:t>cout</a:t>
            </a:r>
            <a:r>
              <a:rPr lang="en-US" altLang="zh-TW" sz="1000" dirty="0">
                <a:latin typeface="Courier New" pitchFamily="49" charset="0"/>
              </a:rPr>
              <a:t> &lt;&lt; "machine-des" &lt;&lt; </a:t>
            </a:r>
            <a:r>
              <a:rPr lang="en-US" altLang="zh-TW" sz="1000" dirty="0" err="1">
                <a:latin typeface="Courier New" pitchFamily="49" charset="0"/>
              </a:rPr>
              <a:t>endl</a:t>
            </a:r>
            <a:r>
              <a:rPr lang="en-US" altLang="zh-TW" sz="10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};</a:t>
            </a:r>
            <a:endParaRPr lang="en-US" altLang="zh-CN" sz="1000" dirty="0">
              <a:latin typeface="Courier New" pitchFamily="49" charset="0"/>
            </a:endParaRPr>
          </a:p>
        </p:txBody>
      </p:sp>
      <p:sp>
        <p:nvSpPr>
          <p:cNvPr id="6" name="文本框 4">
            <a:extLst>
              <a:ext uri="{FF2B5EF4-FFF2-40B4-BE49-F238E27FC236}">
                <a16:creationId xmlns:a16="http://schemas.microsoft.com/office/drawing/2014/main" id="{6A26DFF2-95AC-6949-3B5A-056047A5DC2D}"/>
              </a:ext>
            </a:extLst>
          </p:cNvPr>
          <p:cNvSpPr txBox="1"/>
          <p:nvPr/>
        </p:nvSpPr>
        <p:spPr>
          <a:xfrm>
            <a:off x="1308279" y="2305615"/>
            <a:ext cx="3048000" cy="25545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class Car :public Machine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solidFill>
                  <a:srgbClr val="C00000"/>
                </a:solidFill>
                <a:latin typeface="Courier New" pitchFamily="49" charset="0"/>
              </a:rPr>
              <a:t>public</a:t>
            </a:r>
            <a:r>
              <a:rPr lang="en-US" altLang="zh-TW" sz="1000" dirty="0">
                <a:latin typeface="Courier New" pitchFamily="49" charset="0"/>
              </a:rPr>
              <a:t>:</a:t>
            </a:r>
            <a:br>
              <a:rPr lang="en-US" altLang="zh-TW" sz="1000" dirty="0">
                <a:latin typeface="Courier New" pitchFamily="49" charset="0"/>
              </a:rPr>
            </a:br>
            <a:r>
              <a:rPr lang="en-US" altLang="zh-TW" sz="1000" dirty="0">
                <a:latin typeface="Courier New" pitchFamily="49" charset="0"/>
              </a:rPr>
              <a:t>  Car () {	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  </a:t>
            </a:r>
            <a:r>
              <a:rPr lang="en-US" altLang="zh-TW" sz="1000" dirty="0" err="1">
                <a:latin typeface="Courier New" pitchFamily="49" charset="0"/>
              </a:rPr>
              <a:t>nPtr</a:t>
            </a:r>
            <a:r>
              <a:rPr lang="en-US" altLang="zh-TW" sz="1000" dirty="0">
                <a:latin typeface="Courier New" pitchFamily="49" charset="0"/>
              </a:rPr>
              <a:t> = new int;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  </a:t>
            </a:r>
            <a:r>
              <a:rPr lang="en-US" altLang="zh-TW" sz="1000" dirty="0" err="1">
                <a:latin typeface="Courier New" pitchFamily="49" charset="0"/>
              </a:rPr>
              <a:t>cout</a:t>
            </a:r>
            <a:r>
              <a:rPr lang="en-US" altLang="zh-TW" sz="1000" dirty="0">
                <a:latin typeface="Courier New" pitchFamily="49" charset="0"/>
              </a:rPr>
              <a:t> &lt;&lt; "car-con" &lt;&lt; </a:t>
            </a:r>
            <a:r>
              <a:rPr lang="en-US" altLang="zh-TW" sz="1000" dirty="0" err="1">
                <a:latin typeface="Courier New" pitchFamily="49" charset="0"/>
              </a:rPr>
              <a:t>endl</a:t>
            </a:r>
            <a:r>
              <a:rPr lang="en-US" altLang="zh-TW" sz="10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~Car()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  if (</a:t>
            </a:r>
            <a:r>
              <a:rPr lang="en-US" altLang="zh-TW" sz="1000" dirty="0" err="1">
                <a:latin typeface="Courier New" pitchFamily="49" charset="0"/>
              </a:rPr>
              <a:t>nPtr</a:t>
            </a:r>
            <a:r>
              <a:rPr lang="en-US" altLang="zh-TW" sz="1000" dirty="0">
                <a:latin typeface="Courier New" pitchFamily="49" charset="0"/>
              </a:rPr>
              <a:t> != NULL)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    delete </a:t>
            </a:r>
            <a:r>
              <a:rPr lang="en-US" altLang="zh-TW" sz="1000" dirty="0" err="1">
                <a:latin typeface="Courier New" pitchFamily="49" charset="0"/>
              </a:rPr>
              <a:t>nPtr</a:t>
            </a:r>
            <a:r>
              <a:rPr lang="en-US" altLang="zh-TW" sz="10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    </a:t>
            </a:r>
            <a:r>
              <a:rPr lang="en-US" altLang="zh-TW" sz="1000" dirty="0" err="1">
                <a:latin typeface="Courier New" pitchFamily="49" charset="0"/>
              </a:rPr>
              <a:t>nPtr</a:t>
            </a:r>
            <a:r>
              <a:rPr lang="en-US" altLang="zh-TW" sz="1000" dirty="0">
                <a:latin typeface="Courier New" pitchFamily="49" charset="0"/>
              </a:rPr>
              <a:t> = NULL;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 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  </a:t>
            </a:r>
            <a:r>
              <a:rPr lang="en-US" altLang="zh-TW" sz="1000" dirty="0" err="1">
                <a:latin typeface="Courier New" pitchFamily="49" charset="0"/>
              </a:rPr>
              <a:t>cout</a:t>
            </a:r>
            <a:r>
              <a:rPr lang="en-US" altLang="zh-TW" sz="1000" dirty="0">
                <a:latin typeface="Courier New" pitchFamily="49" charset="0"/>
              </a:rPr>
              <a:t> &lt;&lt; "car-des" &lt;&lt; </a:t>
            </a:r>
            <a:r>
              <a:rPr lang="en-US" altLang="zh-TW" sz="1000" dirty="0" err="1">
                <a:latin typeface="Courier New" pitchFamily="49" charset="0"/>
              </a:rPr>
              <a:t>endl</a:t>
            </a:r>
            <a:r>
              <a:rPr lang="en-US" altLang="zh-TW" sz="10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}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TW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int *</a:t>
            </a:r>
            <a:r>
              <a:rPr lang="en-US" altLang="zh-TW" sz="1000" dirty="0" err="1">
                <a:latin typeface="Courier New" pitchFamily="49" charset="0"/>
              </a:rPr>
              <a:t>nPtr</a:t>
            </a:r>
            <a:r>
              <a:rPr lang="en-US" altLang="zh-TW" sz="10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};</a:t>
            </a:r>
            <a:endParaRPr lang="en-US" altLang="zh-CN" sz="1000" dirty="0">
              <a:latin typeface="Courier New" pitchFamily="49" charset="0"/>
            </a:endParaRPr>
          </a:p>
        </p:txBody>
      </p:sp>
      <p:sp>
        <p:nvSpPr>
          <p:cNvPr id="7" name="文本框 4">
            <a:extLst>
              <a:ext uri="{FF2B5EF4-FFF2-40B4-BE49-F238E27FC236}">
                <a16:creationId xmlns:a16="http://schemas.microsoft.com/office/drawing/2014/main" id="{28948262-B9BE-F397-8025-9D971A0AEC68}"/>
              </a:ext>
            </a:extLst>
          </p:cNvPr>
          <p:cNvSpPr txBox="1"/>
          <p:nvPr/>
        </p:nvSpPr>
        <p:spPr>
          <a:xfrm>
            <a:off x="5164427" y="4141003"/>
            <a:ext cx="304800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void f()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Machine *</a:t>
            </a:r>
            <a:r>
              <a:rPr lang="en-US" altLang="zh-CN" sz="1000" dirty="0" err="1">
                <a:latin typeface="Courier New" pitchFamily="49" charset="0"/>
              </a:rPr>
              <a:t>mPtr</a:t>
            </a:r>
            <a:r>
              <a:rPr lang="en-US" altLang="zh-CN" sz="1000" dirty="0">
                <a:latin typeface="Courier New" pitchFamily="49" charset="0"/>
              </a:rPr>
              <a:t> = new Car;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delete </a:t>
            </a:r>
            <a:r>
              <a:rPr lang="en-US" altLang="zh-CN" sz="1000" dirty="0" err="1">
                <a:latin typeface="Courier New" pitchFamily="49" charset="0"/>
              </a:rPr>
              <a:t>mPtr</a:t>
            </a:r>
            <a:r>
              <a:rPr lang="en-US" altLang="zh-CN" sz="10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</a:t>
            </a:r>
            <a:r>
              <a:rPr lang="en-US" altLang="zh-CN" sz="1000" dirty="0" err="1">
                <a:latin typeface="Courier New" pitchFamily="49" charset="0"/>
              </a:rPr>
              <a:t>mPtr</a:t>
            </a:r>
            <a:r>
              <a:rPr lang="en-US" altLang="zh-CN" sz="1000" dirty="0">
                <a:latin typeface="Courier New" pitchFamily="49" charset="0"/>
              </a:rPr>
              <a:t> = NULL;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}</a:t>
            </a:r>
          </a:p>
        </p:txBody>
      </p:sp>
      <p:sp>
        <p:nvSpPr>
          <p:cNvPr id="11" name="文本框 4">
            <a:extLst>
              <a:ext uri="{FF2B5EF4-FFF2-40B4-BE49-F238E27FC236}">
                <a16:creationId xmlns:a16="http://schemas.microsoft.com/office/drawing/2014/main" id="{EF8CF005-DDFB-A7A8-7680-94E835BA56A0}"/>
              </a:ext>
            </a:extLst>
          </p:cNvPr>
          <p:cNvSpPr txBox="1"/>
          <p:nvPr/>
        </p:nvSpPr>
        <p:spPr>
          <a:xfrm>
            <a:off x="5137708" y="5197709"/>
            <a:ext cx="30480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200" dirty="0">
                <a:latin typeface="Courier New" pitchFamily="49" charset="0"/>
              </a:rPr>
              <a:t>void f2()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200" dirty="0">
                <a:latin typeface="Courier New" pitchFamily="49" charset="0"/>
              </a:rPr>
              <a:t>  Car c;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200" dirty="0">
                <a:latin typeface="Courier New" pitchFamily="49" charset="0"/>
              </a:rPr>
              <a:t>  Machine *</a:t>
            </a:r>
            <a:r>
              <a:rPr lang="en-US" altLang="zh-CN" sz="1200" dirty="0" err="1">
                <a:latin typeface="Courier New" pitchFamily="49" charset="0"/>
              </a:rPr>
              <a:t>mPtr</a:t>
            </a:r>
            <a:r>
              <a:rPr lang="en-US" altLang="zh-CN" sz="1200" dirty="0">
                <a:latin typeface="Courier New" pitchFamily="49" charset="0"/>
              </a:rPr>
              <a:t> = &amp;c;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200" dirty="0">
                <a:latin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38677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F1C78-899F-11AA-5BE4-0DF7CF623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Destructor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A86ECC-0C88-42C8-A253-E36CE8B0F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21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1BDA9F-CF47-EF13-395D-946DAB543CD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How to avoid this memory leak?</a:t>
            </a:r>
          </a:p>
          <a:p>
            <a:pPr lvl="1"/>
            <a:r>
              <a:rPr lang="en-US" sz="2200" dirty="0">
                <a:solidFill>
                  <a:srgbClr val="C00000"/>
                </a:solidFill>
              </a:rPr>
              <a:t>virtual destructor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5F11BFA-A8C7-EE5E-5B2B-BD191A34AF94}"/>
              </a:ext>
            </a:extLst>
          </p:cNvPr>
          <p:cNvSpPr txBox="1"/>
          <p:nvPr/>
        </p:nvSpPr>
        <p:spPr>
          <a:xfrm>
            <a:off x="5105400" y="2789238"/>
            <a:ext cx="3048000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class Machine {</a:t>
            </a:r>
            <a:br>
              <a:rPr lang="en-US" altLang="zh-TW" sz="1000" dirty="0">
                <a:latin typeface="Courier New" pitchFamily="49" charset="0"/>
              </a:rPr>
            </a:br>
            <a:r>
              <a:rPr lang="en-US" altLang="zh-TW" sz="1000" dirty="0">
                <a:solidFill>
                  <a:srgbClr val="C00000"/>
                </a:solidFill>
                <a:latin typeface="Courier New" pitchFamily="49" charset="0"/>
              </a:rPr>
              <a:t>public</a:t>
            </a:r>
            <a:r>
              <a:rPr lang="en-US" altLang="zh-TW" sz="1000" dirty="0">
                <a:latin typeface="Courier New" pitchFamily="49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Machine() {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  </a:t>
            </a:r>
            <a:r>
              <a:rPr lang="en-US" altLang="zh-TW" sz="1000" dirty="0" err="1">
                <a:latin typeface="Courier New" pitchFamily="49" charset="0"/>
              </a:rPr>
              <a:t>cout</a:t>
            </a:r>
            <a:r>
              <a:rPr lang="en-US" altLang="zh-TW" sz="1000" dirty="0">
                <a:latin typeface="Courier New" pitchFamily="49" charset="0"/>
              </a:rPr>
              <a:t> &lt;&lt; "machine-con" &lt;&lt; </a:t>
            </a:r>
            <a:r>
              <a:rPr lang="en-US" altLang="zh-TW" sz="1000" dirty="0" err="1">
                <a:latin typeface="Courier New" pitchFamily="49" charset="0"/>
              </a:rPr>
              <a:t>endl</a:t>
            </a:r>
            <a:r>
              <a:rPr lang="en-US" altLang="zh-TW" sz="10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</a:t>
            </a:r>
            <a:r>
              <a:rPr lang="en-US" altLang="zh-TW" sz="1000" b="1" dirty="0">
                <a:solidFill>
                  <a:srgbClr val="FF0000"/>
                </a:solidFill>
                <a:latin typeface="Courier New" pitchFamily="49" charset="0"/>
              </a:rPr>
              <a:t>virtual</a:t>
            </a:r>
            <a:r>
              <a:rPr lang="en-US" altLang="zh-TW" sz="1000" dirty="0">
                <a:solidFill>
                  <a:srgbClr val="FF0000"/>
                </a:solidFill>
                <a:latin typeface="Courier New" pitchFamily="49" charset="0"/>
              </a:rPr>
              <a:t> </a:t>
            </a:r>
            <a:r>
              <a:rPr lang="en-US" altLang="zh-TW" sz="1000" dirty="0">
                <a:latin typeface="Courier New" pitchFamily="49" charset="0"/>
              </a:rPr>
              <a:t>~Machine() {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  </a:t>
            </a:r>
            <a:r>
              <a:rPr lang="en-US" altLang="zh-TW" sz="1000" dirty="0" err="1">
                <a:latin typeface="Courier New" pitchFamily="49" charset="0"/>
              </a:rPr>
              <a:t>cout</a:t>
            </a:r>
            <a:r>
              <a:rPr lang="en-US" altLang="zh-TW" sz="1000" dirty="0">
                <a:latin typeface="Courier New" pitchFamily="49" charset="0"/>
              </a:rPr>
              <a:t> &lt;&lt; "machine-des" &lt;&lt; </a:t>
            </a:r>
            <a:r>
              <a:rPr lang="en-US" altLang="zh-TW" sz="1000" dirty="0" err="1">
                <a:latin typeface="Courier New" pitchFamily="49" charset="0"/>
              </a:rPr>
              <a:t>endl</a:t>
            </a:r>
            <a:r>
              <a:rPr lang="en-US" altLang="zh-TW" sz="10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};</a:t>
            </a:r>
            <a:endParaRPr lang="en-US" altLang="zh-CN" sz="1000" dirty="0">
              <a:latin typeface="Courier New" pitchFamily="49" charset="0"/>
            </a:endParaRPr>
          </a:p>
        </p:txBody>
      </p:sp>
      <p:sp>
        <p:nvSpPr>
          <p:cNvPr id="6" name="文本框 4">
            <a:extLst>
              <a:ext uri="{FF2B5EF4-FFF2-40B4-BE49-F238E27FC236}">
                <a16:creationId xmlns:a16="http://schemas.microsoft.com/office/drawing/2014/main" id="{53B2BC38-2525-B00F-7FF4-B66B32857A3F}"/>
              </a:ext>
            </a:extLst>
          </p:cNvPr>
          <p:cNvSpPr txBox="1"/>
          <p:nvPr/>
        </p:nvSpPr>
        <p:spPr>
          <a:xfrm>
            <a:off x="1249251" y="2789238"/>
            <a:ext cx="3048000" cy="25545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class Car :public Machine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solidFill>
                  <a:srgbClr val="C00000"/>
                </a:solidFill>
                <a:latin typeface="Courier New" pitchFamily="49" charset="0"/>
              </a:rPr>
              <a:t>public</a:t>
            </a:r>
            <a:r>
              <a:rPr lang="en-US" altLang="zh-TW" sz="1000" dirty="0">
                <a:latin typeface="Courier New" pitchFamily="49" charset="0"/>
              </a:rPr>
              <a:t>:</a:t>
            </a:r>
            <a:br>
              <a:rPr lang="en-US" altLang="zh-TW" sz="1000" dirty="0">
                <a:latin typeface="Courier New" pitchFamily="49" charset="0"/>
              </a:rPr>
            </a:br>
            <a:r>
              <a:rPr lang="en-US" altLang="zh-TW" sz="1000" dirty="0">
                <a:latin typeface="Courier New" pitchFamily="49" charset="0"/>
              </a:rPr>
              <a:t>  Car () {	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  </a:t>
            </a:r>
            <a:r>
              <a:rPr lang="en-US" altLang="zh-TW" sz="1000" dirty="0" err="1">
                <a:latin typeface="Courier New" pitchFamily="49" charset="0"/>
              </a:rPr>
              <a:t>nPtr</a:t>
            </a:r>
            <a:r>
              <a:rPr lang="en-US" altLang="zh-TW" sz="1000" dirty="0">
                <a:latin typeface="Courier New" pitchFamily="49" charset="0"/>
              </a:rPr>
              <a:t> = new int;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  </a:t>
            </a:r>
            <a:r>
              <a:rPr lang="en-US" altLang="zh-TW" sz="1000" dirty="0" err="1">
                <a:latin typeface="Courier New" pitchFamily="49" charset="0"/>
              </a:rPr>
              <a:t>cout</a:t>
            </a:r>
            <a:r>
              <a:rPr lang="en-US" altLang="zh-TW" sz="1000" dirty="0">
                <a:latin typeface="Courier New" pitchFamily="49" charset="0"/>
              </a:rPr>
              <a:t> &lt;&lt; "car-con" &lt;&lt; </a:t>
            </a:r>
            <a:r>
              <a:rPr lang="en-US" altLang="zh-TW" sz="1000" dirty="0" err="1">
                <a:latin typeface="Courier New" pitchFamily="49" charset="0"/>
              </a:rPr>
              <a:t>endl</a:t>
            </a:r>
            <a:r>
              <a:rPr lang="en-US" altLang="zh-TW" sz="10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~Car()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  if (</a:t>
            </a:r>
            <a:r>
              <a:rPr lang="en-US" altLang="zh-TW" sz="1000" dirty="0" err="1">
                <a:latin typeface="Courier New" pitchFamily="49" charset="0"/>
              </a:rPr>
              <a:t>nPtr</a:t>
            </a:r>
            <a:r>
              <a:rPr lang="en-US" altLang="zh-TW" sz="1000" dirty="0">
                <a:latin typeface="Courier New" pitchFamily="49" charset="0"/>
              </a:rPr>
              <a:t> != NULL)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    delete </a:t>
            </a:r>
            <a:r>
              <a:rPr lang="en-US" altLang="zh-TW" sz="1000" dirty="0" err="1">
                <a:latin typeface="Courier New" pitchFamily="49" charset="0"/>
              </a:rPr>
              <a:t>nPtr</a:t>
            </a:r>
            <a:r>
              <a:rPr lang="en-US" altLang="zh-TW" sz="10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    </a:t>
            </a:r>
            <a:r>
              <a:rPr lang="en-US" altLang="zh-TW" sz="1000" dirty="0" err="1">
                <a:latin typeface="Courier New" pitchFamily="49" charset="0"/>
              </a:rPr>
              <a:t>nPtr</a:t>
            </a:r>
            <a:r>
              <a:rPr lang="en-US" altLang="zh-TW" sz="1000" dirty="0">
                <a:latin typeface="Courier New" pitchFamily="49" charset="0"/>
              </a:rPr>
              <a:t> = NULL;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 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  </a:t>
            </a:r>
            <a:r>
              <a:rPr lang="en-US" altLang="zh-TW" sz="1000" dirty="0" err="1">
                <a:latin typeface="Courier New" pitchFamily="49" charset="0"/>
              </a:rPr>
              <a:t>cout</a:t>
            </a:r>
            <a:r>
              <a:rPr lang="en-US" altLang="zh-TW" sz="1000" dirty="0">
                <a:latin typeface="Courier New" pitchFamily="49" charset="0"/>
              </a:rPr>
              <a:t> &lt;&lt; "car-des" &lt;&lt; </a:t>
            </a:r>
            <a:r>
              <a:rPr lang="en-US" altLang="zh-TW" sz="1000" dirty="0" err="1">
                <a:latin typeface="Courier New" pitchFamily="49" charset="0"/>
              </a:rPr>
              <a:t>endl</a:t>
            </a:r>
            <a:r>
              <a:rPr lang="en-US" altLang="zh-TW" sz="10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}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TW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int *</a:t>
            </a:r>
            <a:r>
              <a:rPr lang="en-US" altLang="zh-TW" sz="1000" dirty="0" err="1">
                <a:latin typeface="Courier New" pitchFamily="49" charset="0"/>
              </a:rPr>
              <a:t>nPtr</a:t>
            </a:r>
            <a:r>
              <a:rPr lang="en-US" altLang="zh-TW" sz="10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};</a:t>
            </a:r>
            <a:endParaRPr lang="en-US" altLang="zh-CN" sz="1000" dirty="0">
              <a:latin typeface="Courier New" pitchFamily="49" charset="0"/>
            </a:endParaRPr>
          </a:p>
        </p:txBody>
      </p:sp>
      <p:sp>
        <p:nvSpPr>
          <p:cNvPr id="7" name="文本框 4">
            <a:extLst>
              <a:ext uri="{FF2B5EF4-FFF2-40B4-BE49-F238E27FC236}">
                <a16:creationId xmlns:a16="http://schemas.microsoft.com/office/drawing/2014/main" id="{DC3FB981-5C3D-AAA8-B240-D841054494BA}"/>
              </a:ext>
            </a:extLst>
          </p:cNvPr>
          <p:cNvSpPr txBox="1"/>
          <p:nvPr/>
        </p:nvSpPr>
        <p:spPr>
          <a:xfrm>
            <a:off x="5105399" y="4495800"/>
            <a:ext cx="304800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void f()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Machine *</a:t>
            </a:r>
            <a:r>
              <a:rPr lang="en-US" altLang="zh-CN" sz="1000" dirty="0" err="1">
                <a:latin typeface="Courier New" pitchFamily="49" charset="0"/>
              </a:rPr>
              <a:t>mPtr</a:t>
            </a:r>
            <a:r>
              <a:rPr lang="en-US" altLang="zh-CN" sz="1000" dirty="0">
                <a:latin typeface="Courier New" pitchFamily="49" charset="0"/>
              </a:rPr>
              <a:t> = new Car;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delete </a:t>
            </a:r>
            <a:r>
              <a:rPr lang="en-US" altLang="zh-CN" sz="1000" dirty="0" err="1">
                <a:latin typeface="Courier New" pitchFamily="49" charset="0"/>
              </a:rPr>
              <a:t>mPtr</a:t>
            </a:r>
            <a:r>
              <a:rPr lang="en-US" altLang="zh-CN" sz="10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</a:t>
            </a:r>
            <a:r>
              <a:rPr lang="en-US" altLang="zh-CN" sz="1000" dirty="0" err="1">
                <a:latin typeface="Courier New" pitchFamily="49" charset="0"/>
              </a:rPr>
              <a:t>mPtr</a:t>
            </a:r>
            <a:r>
              <a:rPr lang="en-US" altLang="zh-CN" sz="1000" dirty="0">
                <a:latin typeface="Courier New" pitchFamily="49" charset="0"/>
              </a:rPr>
              <a:t> = NULL;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0582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406C6-2F7A-235A-F758-387B9AEA9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Summary of Virtual Destructor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392164-06B6-2B4D-F89D-85F23D71B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22</a:t>
            </a:fld>
            <a:endParaRPr lang="en-US" altLang="zh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23D68D-9175-FD53-58EF-ADB45A67CA0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When a </a:t>
            </a:r>
            <a:r>
              <a:rPr lang="en-US" sz="2400" dirty="0">
                <a:solidFill>
                  <a:srgbClr val="C00000"/>
                </a:solidFill>
              </a:rPr>
              <a:t>base</a:t>
            </a:r>
            <a:r>
              <a:rPr lang="en-US" sz="2400" dirty="0"/>
              <a:t> class is designed to support </a:t>
            </a:r>
            <a:r>
              <a:rPr lang="en-US" sz="2400" dirty="0">
                <a:solidFill>
                  <a:srgbClr val="7030A0"/>
                </a:solidFill>
              </a:rPr>
              <a:t>polymorphism</a:t>
            </a:r>
            <a:r>
              <a:rPr lang="en-US" sz="2400" dirty="0"/>
              <a:t>, it is better to provide the </a:t>
            </a:r>
            <a:r>
              <a:rPr lang="en-US" sz="2400" dirty="0">
                <a:solidFill>
                  <a:srgbClr val="0070C0"/>
                </a:solidFill>
              </a:rPr>
              <a:t>virtual destructor</a:t>
            </a:r>
          </a:p>
          <a:p>
            <a:pPr lvl="1"/>
            <a:r>
              <a:rPr lang="en-US" sz="2200" dirty="0"/>
              <a:t>Unless you are sure that there is no variable defined on the heap, no need to define virtual destructor</a:t>
            </a:r>
          </a:p>
          <a:p>
            <a:r>
              <a:rPr lang="en-US" sz="2400" dirty="0"/>
              <a:t>Only destructors can be virtual. </a:t>
            </a:r>
            <a:r>
              <a:rPr lang="en-US" sz="2400" dirty="0">
                <a:solidFill>
                  <a:srgbClr val="00B050"/>
                </a:solidFill>
              </a:rPr>
              <a:t>Constructor</a:t>
            </a:r>
            <a:r>
              <a:rPr lang="en-US" sz="2400" dirty="0"/>
              <a:t> </a:t>
            </a:r>
            <a:r>
              <a:rPr lang="en-US" sz="2400" b="1" dirty="0"/>
              <a:t>cannot</a:t>
            </a:r>
            <a:r>
              <a:rPr lang="en-US" sz="2400" dirty="0"/>
              <a:t> be declared as virtual function</a:t>
            </a:r>
          </a:p>
        </p:txBody>
      </p:sp>
    </p:spTree>
    <p:extLst>
      <p:ext uri="{BB962C8B-B14F-4D97-AF65-F5344CB8AC3E}">
        <p14:creationId xmlns:p14="http://schemas.microsoft.com/office/powerpoint/2010/main" val="2803588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35AF5-CDCB-85E7-D570-A1123893E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18700C-2B25-3CAA-8093-D393F19BE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53ED2-267D-454B-B9E3-59503D7C3DE8}" type="slidenum">
              <a:rPr lang="zh-TW" altLang="en-US" smtClean="0"/>
              <a:pPr>
                <a:defRPr/>
              </a:pPr>
              <a:t>23</a:t>
            </a:fld>
            <a:endParaRPr lang="en-US" altLang="zh-TW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C01A756-F58D-B514-ECE8-7DC6D3A59BA9}"/>
              </a:ext>
            </a:extLst>
          </p:cNvPr>
          <p:cNvSpPr txBox="1"/>
          <p:nvPr/>
        </p:nvSpPr>
        <p:spPr>
          <a:xfrm>
            <a:off x="1375029" y="1498937"/>
            <a:ext cx="2762251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class Shape {</a:t>
            </a:r>
            <a:br>
              <a:rPr lang="en-US" altLang="zh-TW" sz="1000" dirty="0">
                <a:latin typeface="Courier New" pitchFamily="49" charset="0"/>
              </a:rPr>
            </a:br>
            <a:r>
              <a:rPr lang="en-US" altLang="zh-TW" sz="1000" dirty="0">
                <a:solidFill>
                  <a:srgbClr val="C00000"/>
                </a:solidFill>
                <a:latin typeface="Courier New" pitchFamily="49" charset="0"/>
              </a:rPr>
              <a:t>public</a:t>
            </a:r>
            <a:r>
              <a:rPr lang="en-US" altLang="zh-TW" sz="1000" dirty="0">
                <a:latin typeface="Courier New" pitchFamily="49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</a:t>
            </a:r>
            <a:r>
              <a:rPr lang="en-US" altLang="zh-TW" sz="1000" dirty="0">
                <a:solidFill>
                  <a:srgbClr val="FF0000"/>
                </a:solidFill>
                <a:latin typeface="Courier New" pitchFamily="49" charset="0"/>
              </a:rPr>
              <a:t>virtual</a:t>
            </a:r>
            <a:r>
              <a:rPr lang="en-US" altLang="zh-TW" sz="1000" dirty="0">
                <a:latin typeface="Courier New" pitchFamily="49" charset="0"/>
              </a:rPr>
              <a:t> double area() = 0;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</a:t>
            </a:r>
            <a:r>
              <a:rPr lang="en-US" altLang="zh-TW" sz="1000" dirty="0">
                <a:solidFill>
                  <a:srgbClr val="FF0000"/>
                </a:solidFill>
                <a:latin typeface="Courier New" pitchFamily="49" charset="0"/>
              </a:rPr>
              <a:t>virtual</a:t>
            </a:r>
            <a:r>
              <a:rPr lang="en-US" altLang="zh-TW" sz="1000" dirty="0">
                <a:latin typeface="Courier New" pitchFamily="49" charset="0"/>
              </a:rPr>
              <a:t> void print() = 0;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</a:t>
            </a:r>
            <a:r>
              <a:rPr lang="en-US" altLang="zh-TW" sz="1000" dirty="0">
                <a:solidFill>
                  <a:schemeClr val="bg1">
                    <a:lumMod val="75000"/>
                  </a:schemeClr>
                </a:solidFill>
                <a:latin typeface="Courier New" pitchFamily="49" charset="0"/>
              </a:rPr>
              <a:t>virtual ~Shape() {}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};</a:t>
            </a:r>
            <a:endParaRPr lang="en-US" altLang="zh-CN" sz="1000" dirty="0">
              <a:latin typeface="Courier New" pitchFamily="49" charset="0"/>
            </a:endParaRPr>
          </a:p>
        </p:txBody>
      </p:sp>
      <p:sp>
        <p:nvSpPr>
          <p:cNvPr id="6" name="文本框 4">
            <a:extLst>
              <a:ext uri="{FF2B5EF4-FFF2-40B4-BE49-F238E27FC236}">
                <a16:creationId xmlns:a16="http://schemas.microsoft.com/office/drawing/2014/main" id="{F0368AE1-653D-37F2-0A5C-772028DB65C2}"/>
              </a:ext>
            </a:extLst>
          </p:cNvPr>
          <p:cNvSpPr txBox="1"/>
          <p:nvPr/>
        </p:nvSpPr>
        <p:spPr>
          <a:xfrm>
            <a:off x="374904" y="2562761"/>
            <a:ext cx="2381251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class Circle :public Shape {</a:t>
            </a:r>
            <a:br>
              <a:rPr lang="en-US" altLang="zh-TW" sz="1000" dirty="0">
                <a:latin typeface="Courier New" pitchFamily="49" charset="0"/>
              </a:rPr>
            </a:br>
            <a:r>
              <a:rPr lang="en-US" altLang="zh-TW" sz="1000" dirty="0">
                <a:solidFill>
                  <a:srgbClr val="C00000"/>
                </a:solidFill>
                <a:latin typeface="Courier New" pitchFamily="49" charset="0"/>
              </a:rPr>
              <a:t>public</a:t>
            </a:r>
            <a:r>
              <a:rPr lang="en-US" altLang="zh-TW" sz="1000" dirty="0">
                <a:latin typeface="Courier New" pitchFamily="49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Circle(double d) {}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double area() {}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void print() {}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private: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double r;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};</a:t>
            </a:r>
            <a:endParaRPr lang="en-US" altLang="zh-CN" sz="1000" dirty="0">
              <a:latin typeface="Courier New" pitchFamily="49" charset="0"/>
            </a:endParaRPr>
          </a:p>
        </p:txBody>
      </p:sp>
      <p:sp>
        <p:nvSpPr>
          <p:cNvPr id="7" name="文本框 4">
            <a:extLst>
              <a:ext uri="{FF2B5EF4-FFF2-40B4-BE49-F238E27FC236}">
                <a16:creationId xmlns:a16="http://schemas.microsoft.com/office/drawing/2014/main" id="{F9AD0A59-EF00-9C71-38C5-3DEE9943438E}"/>
              </a:ext>
            </a:extLst>
          </p:cNvPr>
          <p:cNvSpPr txBox="1"/>
          <p:nvPr/>
        </p:nvSpPr>
        <p:spPr>
          <a:xfrm>
            <a:off x="2895600" y="2562760"/>
            <a:ext cx="2762251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class Rectangle :public Shape {</a:t>
            </a:r>
            <a:br>
              <a:rPr lang="en-US" altLang="zh-TW" sz="1000" dirty="0">
                <a:latin typeface="Courier New" pitchFamily="49" charset="0"/>
              </a:rPr>
            </a:br>
            <a:r>
              <a:rPr lang="en-US" altLang="zh-TW" sz="1000" dirty="0">
                <a:solidFill>
                  <a:srgbClr val="C00000"/>
                </a:solidFill>
                <a:latin typeface="Courier New" pitchFamily="49" charset="0"/>
              </a:rPr>
              <a:t>public</a:t>
            </a:r>
            <a:r>
              <a:rPr lang="en-US" altLang="zh-TW" sz="1000" dirty="0">
                <a:latin typeface="Courier New" pitchFamily="49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Rectangle(double a, double b) {}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double area() {}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void print() {}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private: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double wide, </a:t>
            </a:r>
            <a:r>
              <a:rPr lang="en-US" altLang="zh-TW" sz="1000" dirty="0" err="1">
                <a:latin typeface="Courier New" pitchFamily="49" charset="0"/>
              </a:rPr>
              <a:t>len</a:t>
            </a:r>
            <a:r>
              <a:rPr lang="en-US" altLang="zh-TW" sz="10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};</a:t>
            </a:r>
            <a:endParaRPr lang="en-US" altLang="zh-CN" sz="1000" dirty="0">
              <a:latin typeface="Courier New" pitchFamily="49" charset="0"/>
            </a:endParaRPr>
          </a:p>
        </p:txBody>
      </p:sp>
      <p:sp>
        <p:nvSpPr>
          <p:cNvPr id="8" name="文本框 4">
            <a:extLst>
              <a:ext uri="{FF2B5EF4-FFF2-40B4-BE49-F238E27FC236}">
                <a16:creationId xmlns:a16="http://schemas.microsoft.com/office/drawing/2014/main" id="{B871260E-BDD1-6CC8-448E-547136FD0C07}"/>
              </a:ext>
            </a:extLst>
          </p:cNvPr>
          <p:cNvSpPr txBox="1"/>
          <p:nvPr/>
        </p:nvSpPr>
        <p:spPr>
          <a:xfrm>
            <a:off x="351091" y="3962400"/>
            <a:ext cx="3505200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class Triangle :public Shape {</a:t>
            </a:r>
            <a:br>
              <a:rPr lang="en-US" altLang="zh-TW" sz="1000" dirty="0">
                <a:latin typeface="Courier New" pitchFamily="49" charset="0"/>
              </a:rPr>
            </a:br>
            <a:r>
              <a:rPr lang="en-US" altLang="zh-TW" sz="1000" dirty="0">
                <a:solidFill>
                  <a:srgbClr val="C00000"/>
                </a:solidFill>
                <a:latin typeface="Courier New" pitchFamily="49" charset="0"/>
              </a:rPr>
              <a:t>public</a:t>
            </a:r>
            <a:r>
              <a:rPr lang="en-US" altLang="zh-TW" sz="1000" dirty="0">
                <a:latin typeface="Courier New" pitchFamily="49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Triangle(double a, double b, double c) {}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double area() {}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void print() {}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private: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  double a, b, c;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1000" dirty="0">
                <a:latin typeface="Courier New" pitchFamily="49" charset="0"/>
              </a:rPr>
              <a:t>};</a:t>
            </a:r>
            <a:endParaRPr lang="en-US" altLang="zh-CN" sz="1000" dirty="0">
              <a:latin typeface="Courier New" pitchFamily="49" charset="0"/>
            </a:endParaRPr>
          </a:p>
        </p:txBody>
      </p:sp>
      <p:sp>
        <p:nvSpPr>
          <p:cNvPr id="9" name="文本框 4">
            <a:extLst>
              <a:ext uri="{FF2B5EF4-FFF2-40B4-BE49-F238E27FC236}">
                <a16:creationId xmlns:a16="http://schemas.microsoft.com/office/drawing/2014/main" id="{D2D56C5D-F6D0-6D96-D6F9-9F62E2ECCA95}"/>
              </a:ext>
            </a:extLst>
          </p:cNvPr>
          <p:cNvSpPr txBox="1"/>
          <p:nvPr/>
        </p:nvSpPr>
        <p:spPr>
          <a:xfrm>
            <a:off x="6095999" y="1417638"/>
            <a:ext cx="3048001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Input the number of shapes: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3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~~~~~~~~1~~~~~~~~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c: circle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r: rectangle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t: triangle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~~~~~~~~~~~~~~~~~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c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Radius: 10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~~~~~~~~2~~~~~~~~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c: circle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r: rectangle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t: triangle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~~~~~~~~~~~~~~~~~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r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Two sides: 5 6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~~~~~~~~3~~~~~~~~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c: circle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r: rectangle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t: triangle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~~~~~~~~~~~~~~~~~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t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Three sides: 3 4 5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The radius of the circle is 10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The area of the circle is 314.15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The width of the rectangle is 5 and the length is 6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The area of the rectangle is 30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000" dirty="0">
              <a:latin typeface="Courier New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The sides of the triangle is 3, 4, and 5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The area of the triangle is 6</a:t>
            </a:r>
          </a:p>
        </p:txBody>
      </p:sp>
      <p:sp>
        <p:nvSpPr>
          <p:cNvPr id="12" name="文本框 4">
            <a:extLst>
              <a:ext uri="{FF2B5EF4-FFF2-40B4-BE49-F238E27FC236}">
                <a16:creationId xmlns:a16="http://schemas.microsoft.com/office/drawing/2014/main" id="{C6F5D3C9-11BF-C0A2-4CBD-D47BBD789FC8}"/>
              </a:ext>
            </a:extLst>
          </p:cNvPr>
          <p:cNvSpPr txBox="1"/>
          <p:nvPr/>
        </p:nvSpPr>
        <p:spPr>
          <a:xfrm>
            <a:off x="1809747" y="5305961"/>
            <a:ext cx="44386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int main ()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int n;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</a:t>
            </a:r>
            <a:r>
              <a:rPr lang="en-US" altLang="zh-CN" sz="1000" dirty="0" err="1">
                <a:latin typeface="Courier New" pitchFamily="49" charset="0"/>
              </a:rPr>
              <a:t>cout</a:t>
            </a:r>
            <a:r>
              <a:rPr lang="en-US" altLang="zh-CN" sz="1000" dirty="0">
                <a:latin typeface="Courier New" pitchFamily="49" charset="0"/>
              </a:rPr>
              <a:t> &lt;&lt; "Input the number of shapes: " &lt;&lt; </a:t>
            </a:r>
            <a:r>
              <a:rPr lang="en-US" altLang="zh-CN" sz="1000" dirty="0" err="1">
                <a:latin typeface="Courier New" pitchFamily="49" charset="0"/>
              </a:rPr>
              <a:t>endl</a:t>
            </a:r>
            <a:r>
              <a:rPr lang="en-US" altLang="zh-CN" sz="1000" dirty="0">
                <a:latin typeface="Courier New" pitchFamily="49" charset="0"/>
              </a:rPr>
              <a:t>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</a:t>
            </a:r>
            <a:r>
              <a:rPr lang="en-US" altLang="zh-CN" sz="1000" dirty="0" err="1">
                <a:latin typeface="Courier New" pitchFamily="49" charset="0"/>
              </a:rPr>
              <a:t>cin</a:t>
            </a:r>
            <a:r>
              <a:rPr lang="en-US" altLang="zh-CN" sz="1000" dirty="0">
                <a:latin typeface="Courier New" pitchFamily="49" charset="0"/>
              </a:rPr>
              <a:t> &gt;&gt; n;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Shape** </a:t>
            </a:r>
            <a:r>
              <a:rPr lang="en-US" altLang="zh-CN" sz="1000" dirty="0" err="1">
                <a:latin typeface="Courier New" pitchFamily="49" charset="0"/>
              </a:rPr>
              <a:t>arr</a:t>
            </a:r>
            <a:r>
              <a:rPr lang="en-US" altLang="zh-CN" sz="1000" dirty="0">
                <a:latin typeface="Courier New" pitchFamily="49" charset="0"/>
              </a:rPr>
              <a:t> = new Shape*[n];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    //…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000" dirty="0">
                <a:latin typeface="Courier New" pitchFamily="49" charset="0"/>
              </a:rPr>
              <a:t>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4727A1-4848-798A-BD0B-65FF56E14DCF}"/>
              </a:ext>
            </a:extLst>
          </p:cNvPr>
          <p:cNvSpPr txBox="1"/>
          <p:nvPr/>
        </p:nvSpPr>
        <p:spPr>
          <a:xfrm>
            <a:off x="271510" y="5783322"/>
            <a:ext cx="179408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Code: lec10-10-area.cpp</a:t>
            </a:r>
          </a:p>
        </p:txBody>
      </p:sp>
    </p:spTree>
    <p:extLst>
      <p:ext uri="{BB962C8B-B14F-4D97-AF65-F5344CB8AC3E}">
        <p14:creationId xmlns:p14="http://schemas.microsoft.com/office/powerpoint/2010/main" val="924446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/>
      <p:bldP spid="12" grpId="0"/>
      <p:bldP spid="15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16349</TotalTime>
  <Words>2387</Words>
  <Application>Microsoft Macintosh PowerPoint</Application>
  <PresentationFormat>On-screen Show (4:3)</PresentationFormat>
  <Paragraphs>543</Paragraphs>
  <Slides>23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Courier New</vt:lpstr>
      <vt:lpstr>Verdana</vt:lpstr>
      <vt:lpstr>Wingdings</vt:lpstr>
      <vt:lpstr>Wingdings 2</vt:lpstr>
      <vt:lpstr>Equity</vt:lpstr>
      <vt:lpstr>PowerPoint Presentation</vt:lpstr>
      <vt:lpstr>Outline</vt:lpstr>
      <vt:lpstr>Polymorphism</vt:lpstr>
      <vt:lpstr>Types of Polymorphism</vt:lpstr>
      <vt:lpstr>Types of Polymorphism</vt:lpstr>
      <vt:lpstr>Types of Polymorphism</vt:lpstr>
      <vt:lpstr>Outline</vt:lpstr>
      <vt:lpstr>Types of Polymorphism</vt:lpstr>
      <vt:lpstr>Summary</vt:lpstr>
      <vt:lpstr>Summary</vt:lpstr>
      <vt:lpstr>Critical Thinking</vt:lpstr>
      <vt:lpstr>Critical Thinking</vt:lpstr>
      <vt:lpstr>Critical Thinking</vt:lpstr>
      <vt:lpstr>Practice</vt:lpstr>
      <vt:lpstr>Memory Layout</vt:lpstr>
      <vt:lpstr>Pure Virtual Functions and Abstract Classes</vt:lpstr>
      <vt:lpstr>Abstract Class</vt:lpstr>
      <vt:lpstr>Outline</vt:lpstr>
      <vt:lpstr>Virtual Destructor</vt:lpstr>
      <vt:lpstr>Critical Thinking</vt:lpstr>
      <vt:lpstr>Virtual Destructor</vt:lpstr>
      <vt:lpstr>Summary of Virtual Destructor</vt:lpstr>
      <vt:lpstr>Practice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Programming</dc:title>
  <dc:subject/>
  <dc:creator/>
  <cp:keywords/>
  <dc:description/>
  <cp:lastModifiedBy>LI Zhenjiang 李镇江</cp:lastModifiedBy>
  <cp:revision>1328</cp:revision>
  <dcterms:created xsi:type="dcterms:W3CDTF">2009-04-30T13:38:41Z</dcterms:created>
  <dcterms:modified xsi:type="dcterms:W3CDTF">2025-03-29T15:17:23Z</dcterms:modified>
  <cp:category/>
</cp:coreProperties>
</file>