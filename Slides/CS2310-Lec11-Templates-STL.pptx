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711" r:id="rId1"/>
    <p:sldMasterId id="2147483723" r:id="rId2"/>
  </p:sldMasterIdLst>
  <p:notesMasterIdLst>
    <p:notesMasterId r:id="rId32"/>
  </p:notesMasterIdLst>
  <p:sldIdLst>
    <p:sldId id="283" r:id="rId3"/>
    <p:sldId id="606" r:id="rId4"/>
    <p:sldId id="643" r:id="rId5"/>
    <p:sldId id="644" r:id="rId6"/>
    <p:sldId id="645" r:id="rId7"/>
    <p:sldId id="646" r:id="rId8"/>
    <p:sldId id="647" r:id="rId9"/>
    <p:sldId id="648" r:id="rId10"/>
    <p:sldId id="670" r:id="rId11"/>
    <p:sldId id="649" r:id="rId12"/>
    <p:sldId id="650" r:id="rId13"/>
    <p:sldId id="651" r:id="rId14"/>
    <p:sldId id="653" r:id="rId15"/>
    <p:sldId id="671" r:id="rId16"/>
    <p:sldId id="655" r:id="rId17"/>
    <p:sldId id="656" r:id="rId18"/>
    <p:sldId id="660" r:id="rId19"/>
    <p:sldId id="657" r:id="rId20"/>
    <p:sldId id="658" r:id="rId21"/>
    <p:sldId id="659" r:id="rId22"/>
    <p:sldId id="663" r:id="rId23"/>
    <p:sldId id="664" r:id="rId24"/>
    <p:sldId id="665" r:id="rId25"/>
    <p:sldId id="666" r:id="rId26"/>
    <p:sldId id="661" r:id="rId27"/>
    <p:sldId id="672" r:id="rId28"/>
    <p:sldId id="667" r:id="rId29"/>
    <p:sldId id="668" r:id="rId30"/>
    <p:sldId id="600" r:id="rId31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9900"/>
    <a:srgbClr val="6699FF"/>
    <a:srgbClr val="FFCCCC"/>
    <a:srgbClr val="99FF66"/>
    <a:srgbClr val="006600"/>
    <a:srgbClr val="003399"/>
    <a:srgbClr val="FF3300"/>
    <a:srgbClr val="66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78"/>
    <p:restoredTop sz="86531" autoAdjust="0"/>
  </p:normalViewPr>
  <p:slideViewPr>
    <p:cSldViewPr>
      <p:cViewPr varScale="1">
        <p:scale>
          <a:sx n="110" d="100"/>
          <a:sy n="110" d="100"/>
        </p:scale>
        <p:origin x="2392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heme" Target="theme/theme1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76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49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noProof="0"/>
              <a:t>Click to edit Master text styles</a:t>
            </a:r>
          </a:p>
          <a:p>
            <a:pPr lvl="1"/>
            <a:r>
              <a:rPr lang="en-US" altLang="zh-TW" noProof="0"/>
              <a:t>Second level</a:t>
            </a:r>
          </a:p>
          <a:p>
            <a:pPr lvl="2"/>
            <a:r>
              <a:rPr lang="en-US" altLang="zh-TW" noProof="0"/>
              <a:t>Third level</a:t>
            </a:r>
          </a:p>
          <a:p>
            <a:pPr lvl="3"/>
            <a:r>
              <a:rPr lang="en-US" altLang="zh-TW" noProof="0"/>
              <a:t>Fourth level</a:t>
            </a:r>
          </a:p>
          <a:p>
            <a:pPr lvl="4"/>
            <a:r>
              <a:rPr lang="en-US" altLang="zh-TW" noProof="0"/>
              <a:t>Fifth level</a:t>
            </a:r>
          </a:p>
        </p:txBody>
      </p:sp>
      <p:sp>
        <p:nvSpPr>
          <p:cNvPr id="849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49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Arial" charset="0"/>
              </a:defRPr>
            </a:lvl1pPr>
          </a:lstStyle>
          <a:p>
            <a:pPr>
              <a:defRPr/>
            </a:pPr>
            <a:fld id="{77222C60-64E2-40CB-9633-4681D5EA9E9A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3872406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514196-70E2-4D90-A2E3-BFDED2C3A698}" type="slidenum">
              <a:rPr lang="en-US" altLang="zh-HK" smtClean="0"/>
              <a:pPr/>
              <a:t>1</a:t>
            </a:fld>
            <a:endParaRPr lang="en-US" altLang="zh-HK"/>
          </a:p>
        </p:txBody>
      </p:sp>
    </p:spTree>
    <p:extLst>
      <p:ext uri="{BB962C8B-B14F-4D97-AF65-F5344CB8AC3E}">
        <p14:creationId xmlns:p14="http://schemas.microsoft.com/office/powerpoint/2010/main" val="28240084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7222C60-64E2-40CB-9633-4681D5EA9E9A}" type="slidenum">
              <a:rPr lang="zh-TW" altLang="en-US" smtClean="0"/>
              <a:pPr>
                <a:defRPr/>
              </a:pPr>
              <a:t>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695348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H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7222C60-64E2-40CB-9633-4681D5EA9E9A}" type="slidenum">
              <a:rPr lang="zh-TW" altLang="en-US" smtClean="0"/>
              <a:pPr>
                <a:defRPr/>
              </a:pPr>
              <a:t>3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003988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7222C60-64E2-40CB-9633-4681D5EA9E9A}" type="slidenum">
              <a:rPr lang="zh-TW" altLang="en-US" smtClean="0"/>
              <a:pPr>
                <a:defRPr/>
              </a:pPr>
              <a:t>11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1647661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7222C60-64E2-40CB-9633-4681D5EA9E9A}" type="slidenum">
              <a:rPr lang="zh-TW" altLang="en-US" smtClean="0"/>
              <a:pPr>
                <a:defRPr/>
              </a:pPr>
              <a:t>17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043876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7222C60-64E2-40CB-9633-4681D5EA9E9A}" type="slidenum">
              <a:rPr lang="zh-TW" altLang="en-US" smtClean="0"/>
              <a:pPr>
                <a:defRPr/>
              </a:pPr>
              <a:t>25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757965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altLang="zh-HK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1B5C2743-D08D-4184-B069-AF685F75E0BA}" type="slidenum">
              <a:rPr lang="zh-TW" altLang="en-US" smtClean="0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 altLang="zh-HK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kumimoji="0" lang="en-US" altLang="zh-HK" dirty="0"/>
              <a:t>Click to edit Master title style</a:t>
            </a:r>
            <a:endParaRPr kumimoji="0"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653ED2-267D-454B-B9E3-59503D7C3DE8}" type="slidenum">
              <a:rPr lang="zh-TW" altLang="en-US" smtClean="0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524000"/>
            <a:ext cx="7772400" cy="4495800"/>
          </a:xfrm>
        </p:spPr>
        <p:txBody>
          <a:bodyPr vert="horz"/>
          <a:lstStyle/>
          <a:p>
            <a:pPr lvl="0" eaLnBrk="1" latinLnBrk="0" hangingPunct="1"/>
            <a:r>
              <a:rPr lang="en-US" altLang="zh-HK" dirty="0"/>
              <a:t>Click to edit Master text styles</a:t>
            </a:r>
          </a:p>
          <a:p>
            <a:pPr lvl="1" eaLnBrk="1" latinLnBrk="0" hangingPunct="1"/>
            <a:r>
              <a:rPr lang="en-US" altLang="zh-HK" dirty="0"/>
              <a:t>Second level</a:t>
            </a:r>
          </a:p>
          <a:p>
            <a:pPr lvl="2" eaLnBrk="1" latinLnBrk="0" hangingPunct="1"/>
            <a:r>
              <a:rPr lang="en-US" altLang="zh-HK" dirty="0"/>
              <a:t>Third level</a:t>
            </a:r>
          </a:p>
          <a:p>
            <a:pPr lvl="3" eaLnBrk="1" latinLnBrk="0" hangingPunct="1"/>
            <a:r>
              <a:rPr lang="en-US" altLang="zh-HK" dirty="0"/>
              <a:t>Fourth level</a:t>
            </a:r>
          </a:p>
          <a:p>
            <a:pPr lvl="4" eaLnBrk="1" latinLnBrk="0" hangingPunct="1"/>
            <a:r>
              <a:rPr lang="en-US" altLang="zh-HK" dirty="0"/>
              <a:t>Fifth level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 altLang="zh-HK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altLang="zh-HK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pPr>
              <a:defRPr/>
            </a:pPr>
            <a:fld id="{FF23F5B4-AE80-465C-A3ED-50E8D613BC72}" type="slidenum">
              <a:rPr lang="zh-TW" altLang="en-US" smtClean="0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HK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9EA6A3-6FB3-45C3-B5E4-65C2A039E8A0}" type="slidenum">
              <a:rPr lang="zh-TW" altLang="en-US" smtClean="0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altLang="zh-HK"/>
              <a:t>Click to edit Master text styles</a:t>
            </a:r>
          </a:p>
          <a:p>
            <a:pPr lvl="1" eaLnBrk="1" latinLnBrk="0" hangingPunct="1"/>
            <a:r>
              <a:rPr lang="en-US" altLang="zh-HK"/>
              <a:t>Second level</a:t>
            </a:r>
          </a:p>
          <a:p>
            <a:pPr lvl="2" eaLnBrk="1" latinLnBrk="0" hangingPunct="1"/>
            <a:r>
              <a:rPr lang="en-US" altLang="zh-HK"/>
              <a:t>Third level</a:t>
            </a:r>
          </a:p>
          <a:p>
            <a:pPr lvl="3" eaLnBrk="1" latinLnBrk="0" hangingPunct="1"/>
            <a:r>
              <a:rPr lang="en-US" altLang="zh-HK"/>
              <a:t>Fourth level</a:t>
            </a:r>
          </a:p>
          <a:p>
            <a:pPr lvl="4" eaLnBrk="1" latinLnBrk="0" hangingPunct="1"/>
            <a:r>
              <a:rPr lang="en-US" altLang="zh-HK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altLang="zh-HK"/>
              <a:t>Click to edit Master text styles</a:t>
            </a:r>
          </a:p>
          <a:p>
            <a:pPr lvl="1" eaLnBrk="1" latinLnBrk="0" hangingPunct="1"/>
            <a:r>
              <a:rPr lang="en-US" altLang="zh-HK"/>
              <a:t>Second level</a:t>
            </a:r>
          </a:p>
          <a:p>
            <a:pPr lvl="2" eaLnBrk="1" latinLnBrk="0" hangingPunct="1"/>
            <a:r>
              <a:rPr lang="en-US" altLang="zh-HK"/>
              <a:t>Third level</a:t>
            </a:r>
          </a:p>
          <a:p>
            <a:pPr lvl="3" eaLnBrk="1" latinLnBrk="0" hangingPunct="1"/>
            <a:r>
              <a:rPr lang="en-US" altLang="zh-HK"/>
              <a:t>Fourth level</a:t>
            </a:r>
          </a:p>
          <a:p>
            <a:pPr lvl="4" eaLnBrk="1" latinLnBrk="0" hangingPunct="1"/>
            <a:r>
              <a:rPr lang="en-US" altLang="zh-HK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altLang="zh-HK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altLang="zh-HK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altLang="zh-HK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4E4F29A-11F9-4289-BAEA-3DBF06A7BD43}" type="slidenum">
              <a:rPr lang="zh-TW" altLang="en-US" smtClean="0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altLang="zh-HK"/>
              <a:t>Click to edit Master text styles</a:t>
            </a:r>
          </a:p>
          <a:p>
            <a:pPr lvl="1" eaLnBrk="1" latinLnBrk="0" hangingPunct="1"/>
            <a:r>
              <a:rPr lang="en-US" altLang="zh-HK"/>
              <a:t>Second level</a:t>
            </a:r>
          </a:p>
          <a:p>
            <a:pPr lvl="2" eaLnBrk="1" latinLnBrk="0" hangingPunct="1"/>
            <a:r>
              <a:rPr lang="en-US" altLang="zh-HK"/>
              <a:t>Third level</a:t>
            </a:r>
          </a:p>
          <a:p>
            <a:pPr lvl="3" eaLnBrk="1" latinLnBrk="0" hangingPunct="1"/>
            <a:r>
              <a:rPr lang="en-US" altLang="zh-HK"/>
              <a:t>Fourth level</a:t>
            </a:r>
          </a:p>
          <a:p>
            <a:pPr lvl="4" eaLnBrk="1" latinLnBrk="0" hangingPunct="1"/>
            <a:r>
              <a:rPr lang="en-US" altLang="zh-HK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altLang="zh-HK"/>
              <a:t>Click to edit Master text styles</a:t>
            </a:r>
          </a:p>
          <a:p>
            <a:pPr lvl="1" eaLnBrk="1" latinLnBrk="0" hangingPunct="1"/>
            <a:r>
              <a:rPr lang="en-US" altLang="zh-HK"/>
              <a:t>Second level</a:t>
            </a:r>
          </a:p>
          <a:p>
            <a:pPr lvl="2" eaLnBrk="1" latinLnBrk="0" hangingPunct="1"/>
            <a:r>
              <a:rPr lang="en-US" altLang="zh-HK"/>
              <a:t>Third level</a:t>
            </a:r>
          </a:p>
          <a:p>
            <a:pPr lvl="3" eaLnBrk="1" latinLnBrk="0" hangingPunct="1"/>
            <a:r>
              <a:rPr lang="en-US" altLang="zh-HK"/>
              <a:t>Fourth level</a:t>
            </a:r>
          </a:p>
          <a:p>
            <a:pPr lvl="4" eaLnBrk="1" latinLnBrk="0" hangingPunct="1"/>
            <a:r>
              <a:rPr lang="en-US" altLang="zh-HK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HK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C61D845-962E-4455-A2B5-DA53818F64D6}" type="slidenum">
              <a:rPr lang="zh-TW" altLang="en-US" smtClean="0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51D6685-4528-47AC-A86E-0E8CF3BF5C8A}" type="slidenum">
              <a:rPr lang="zh-TW" altLang="en-US" smtClean="0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 altLang="zh-HK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altLang="zh-HK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75FE0DA-0414-4FA6-B45F-BDA2ABAF19A0}" type="slidenum">
              <a:rPr lang="zh-TW" altLang="en-US" smtClean="0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 altLang="zh-HK"/>
              <a:t>Click to edit Master text styles</a:t>
            </a:r>
          </a:p>
          <a:p>
            <a:pPr lvl="1" eaLnBrk="1" latinLnBrk="0" hangingPunct="1"/>
            <a:r>
              <a:rPr lang="en-US" altLang="zh-HK"/>
              <a:t>Second level</a:t>
            </a:r>
          </a:p>
          <a:p>
            <a:pPr lvl="2" eaLnBrk="1" latinLnBrk="0" hangingPunct="1"/>
            <a:r>
              <a:rPr lang="en-US" altLang="zh-HK"/>
              <a:t>Third level</a:t>
            </a:r>
          </a:p>
          <a:p>
            <a:pPr lvl="3" eaLnBrk="1" latinLnBrk="0" hangingPunct="1"/>
            <a:r>
              <a:rPr lang="en-US" altLang="zh-HK"/>
              <a:t>Fourth level</a:t>
            </a:r>
          </a:p>
          <a:p>
            <a:pPr lvl="4" eaLnBrk="1" latinLnBrk="0" hangingPunct="1"/>
            <a:r>
              <a:rPr lang="en-US" altLang="zh-HK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 altLang="zh-HK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altLang="zh-HK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pPr>
              <a:defRPr/>
            </a:pPr>
            <a:fld id="{71D8F204-56D6-4B7B-B280-C1165CC7AAF8}" type="slidenum">
              <a:rPr lang="zh-TW" altLang="en-US" smtClean="0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altLang="zh-HK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HK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altLang="zh-HK"/>
              <a:t>Click to edit Master text styles</a:t>
            </a:r>
          </a:p>
          <a:p>
            <a:pPr lvl="1" eaLnBrk="1" latinLnBrk="0" hangingPunct="1"/>
            <a:r>
              <a:rPr lang="en-US" altLang="zh-HK"/>
              <a:t>Second level</a:t>
            </a:r>
          </a:p>
          <a:p>
            <a:pPr lvl="2" eaLnBrk="1" latinLnBrk="0" hangingPunct="1"/>
            <a:r>
              <a:rPr lang="en-US" altLang="zh-HK"/>
              <a:t>Third level</a:t>
            </a:r>
          </a:p>
          <a:p>
            <a:pPr lvl="3" eaLnBrk="1" latinLnBrk="0" hangingPunct="1"/>
            <a:r>
              <a:rPr lang="en-US" altLang="zh-HK"/>
              <a:t>Fourth level</a:t>
            </a:r>
          </a:p>
          <a:p>
            <a:pPr lvl="4" eaLnBrk="1" latinLnBrk="0" hangingPunct="1"/>
            <a:r>
              <a:rPr lang="en-US" altLang="zh-HK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A9C601E-6505-4D45-8656-5A38EBD2497C}" type="slidenum">
              <a:rPr lang="zh-TW" altLang="en-US" smtClean="0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 altLang="zh-HK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 altLang="zh-HK"/>
              <a:t>Click to edit Master text styles</a:t>
            </a:r>
          </a:p>
          <a:p>
            <a:pPr lvl="1" eaLnBrk="1" latinLnBrk="0" hangingPunct="1"/>
            <a:r>
              <a:rPr lang="en-US" altLang="zh-HK"/>
              <a:t>Second level</a:t>
            </a:r>
          </a:p>
          <a:p>
            <a:pPr lvl="2" eaLnBrk="1" latinLnBrk="0" hangingPunct="1"/>
            <a:r>
              <a:rPr lang="en-US" altLang="zh-HK"/>
              <a:t>Third level</a:t>
            </a:r>
          </a:p>
          <a:p>
            <a:pPr lvl="3" eaLnBrk="1" latinLnBrk="0" hangingPunct="1"/>
            <a:r>
              <a:rPr lang="en-US" altLang="zh-HK"/>
              <a:t>Fourth level</a:t>
            </a:r>
          </a:p>
          <a:p>
            <a:pPr lvl="4" eaLnBrk="1" latinLnBrk="0" hangingPunct="1"/>
            <a:r>
              <a:rPr lang="en-US" altLang="zh-HK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EAFCE8-421B-4D24-950F-59FC806B6FF6}" type="slidenum">
              <a:rPr lang="zh-TW" altLang="en-US" smtClean="0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/>
            <a:endParaRPr lang="en-US" altLang="zh-HK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 useBgFill="1">
        <p:nvSpPr>
          <p:cNvPr id="5" name="Rounded Rectangle 10"/>
          <p:cNvSpPr/>
          <p:nvPr/>
        </p:nvSpPr>
        <p:spPr>
          <a:xfrm>
            <a:off x="65088" y="69850"/>
            <a:ext cx="9013825" cy="6691313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/>
            <a:endParaRPr lang="en-US" altLang="zh-HK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6" name="Rectangle 11"/>
          <p:cNvSpPr/>
          <p:nvPr/>
        </p:nvSpPr>
        <p:spPr>
          <a:xfrm>
            <a:off x="63500" y="1449388"/>
            <a:ext cx="9020175" cy="15271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/>
            <a:endParaRPr lang="en-US" altLang="zh-HK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7" name="Rectangle 12"/>
          <p:cNvSpPr/>
          <p:nvPr/>
        </p:nvSpPr>
        <p:spPr>
          <a:xfrm>
            <a:off x="63500" y="1397000"/>
            <a:ext cx="9020175" cy="12065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/>
            <a:endParaRPr lang="en-US" altLang="zh-HK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Rectangle 14"/>
          <p:cNvSpPr/>
          <p:nvPr/>
        </p:nvSpPr>
        <p:spPr>
          <a:xfrm>
            <a:off x="63500" y="2976563"/>
            <a:ext cx="9020175" cy="1111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/>
            <a:endParaRPr lang="en-US" altLang="zh-HK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HK"/>
          </a:p>
        </p:txBody>
      </p:sp>
      <p:sp>
        <p:nvSpPr>
          <p:cNvPr id="12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HK"/>
          </a:p>
        </p:txBody>
      </p:sp>
      <p:sp>
        <p:nvSpPr>
          <p:cNvPr id="13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0A5275-5314-4236-8D22-3033BA1DFB7B}" type="slidenum">
              <a:rPr lang="en-US" altLang="zh-HK"/>
              <a:pPr/>
              <a:t>‹#›</a:t>
            </a:fld>
            <a:endParaRPr lang="en-US" altLang="zh-HK"/>
          </a:p>
        </p:txBody>
      </p:sp>
    </p:spTree>
    <p:extLst>
      <p:ext uri="{BB962C8B-B14F-4D97-AF65-F5344CB8AC3E}">
        <p14:creationId xmlns:p14="http://schemas.microsoft.com/office/powerpoint/2010/main" val="1881399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HK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HK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4B6E79-AB13-4C50-96FB-BE00BC43F4F2}" type="slidenum">
              <a:rPr lang="en-US" altLang="zh-HK"/>
              <a:pPr/>
              <a:t>‹#›</a:t>
            </a:fld>
            <a:endParaRPr lang="en-US" altLang="zh-HK"/>
          </a:p>
        </p:txBody>
      </p:sp>
    </p:spTree>
    <p:extLst>
      <p:ext uri="{BB962C8B-B14F-4D97-AF65-F5344CB8AC3E}">
        <p14:creationId xmlns:p14="http://schemas.microsoft.com/office/powerpoint/2010/main" val="4051775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/>
            <a:endParaRPr lang="en-US" altLang="zh-HK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 useBgFill="1">
        <p:nvSpPr>
          <p:cNvPr id="5" name="Rounded Rectangle 10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/>
            <a:endParaRPr lang="en-US" altLang="zh-HK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6" name="Rectangle 11"/>
          <p:cNvSpPr/>
          <p:nvPr/>
        </p:nvSpPr>
        <p:spPr>
          <a:xfrm flipV="1">
            <a:off x="69850" y="2376488"/>
            <a:ext cx="901382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/>
            <a:endParaRPr lang="en-US" altLang="zh-HK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7" name="Rectangle 12"/>
          <p:cNvSpPr/>
          <p:nvPr/>
        </p:nvSpPr>
        <p:spPr>
          <a:xfrm>
            <a:off x="69850" y="2341563"/>
            <a:ext cx="9013825" cy="4603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/>
            <a:endParaRPr lang="en-US" altLang="zh-HK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8" name="Rectangle 14"/>
          <p:cNvSpPr/>
          <p:nvPr/>
        </p:nvSpPr>
        <p:spPr>
          <a:xfrm>
            <a:off x="68263" y="2468563"/>
            <a:ext cx="9015412" cy="4603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/>
            <a:endParaRPr lang="en-US" altLang="zh-HK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/>
          <a:lstStyle>
            <a:lvl1pPr algn="l">
              <a:buNone/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HK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HK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050" y="6208713"/>
            <a:ext cx="457200" cy="457200"/>
          </a:xfrm>
        </p:spPr>
        <p:txBody>
          <a:bodyPr/>
          <a:lstStyle>
            <a:lvl1pPr>
              <a:defRPr/>
            </a:lvl1pPr>
          </a:lstStyle>
          <a:p>
            <a:fld id="{90AA2765-8BAE-4E0B-8166-2549A89DBE9C}" type="slidenum">
              <a:rPr lang="en-US" altLang="zh-HK"/>
              <a:pPr/>
              <a:t>‹#›</a:t>
            </a:fld>
            <a:endParaRPr lang="en-US" altLang="zh-HK"/>
          </a:p>
        </p:txBody>
      </p:sp>
    </p:spTree>
    <p:extLst>
      <p:ext uri="{BB962C8B-B14F-4D97-AF65-F5344CB8AC3E}">
        <p14:creationId xmlns:p14="http://schemas.microsoft.com/office/powerpoint/2010/main" val="7400797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HK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HK"/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C641D9-4736-48C0-9F32-683DB3DB40B3}" type="slidenum">
              <a:rPr lang="en-US" altLang="zh-HK"/>
              <a:pPr/>
              <a:t>‹#›</a:t>
            </a:fld>
            <a:endParaRPr lang="en-US" altLang="zh-HK"/>
          </a:p>
        </p:txBody>
      </p:sp>
    </p:spTree>
    <p:extLst>
      <p:ext uri="{BB962C8B-B14F-4D97-AF65-F5344CB8AC3E}">
        <p14:creationId xmlns:p14="http://schemas.microsoft.com/office/powerpoint/2010/main" val="15335561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HK"/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HK"/>
          </a:p>
        </p:txBody>
      </p:sp>
      <p:sp>
        <p:nvSpPr>
          <p:cNvPr id="9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2CCED3-6E55-42D3-A639-CDA373CC7819}" type="slidenum">
              <a:rPr lang="en-US" altLang="zh-HK"/>
              <a:pPr/>
              <a:t>‹#›</a:t>
            </a:fld>
            <a:endParaRPr lang="en-US" altLang="zh-HK"/>
          </a:p>
        </p:txBody>
      </p:sp>
    </p:spTree>
    <p:extLst>
      <p:ext uri="{BB962C8B-B14F-4D97-AF65-F5344CB8AC3E}">
        <p14:creationId xmlns:p14="http://schemas.microsoft.com/office/powerpoint/2010/main" val="34880602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HK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HK"/>
          </a:p>
        </p:txBody>
      </p:sp>
      <p:sp>
        <p:nvSpPr>
          <p:cNvPr id="5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02D5313-7579-41E6-B8B8-0E2D31524F75}" type="slidenum">
              <a:rPr lang="en-US" altLang="zh-HK"/>
              <a:pPr/>
              <a:t>‹#›</a:t>
            </a:fld>
            <a:endParaRPr lang="en-US" altLang="zh-HK"/>
          </a:p>
        </p:txBody>
      </p:sp>
    </p:spTree>
    <p:extLst>
      <p:ext uri="{BB962C8B-B14F-4D97-AF65-F5344CB8AC3E}">
        <p14:creationId xmlns:p14="http://schemas.microsoft.com/office/powerpoint/2010/main" val="247458908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H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HK"/>
          </a:p>
        </p:txBody>
      </p:sp>
      <p:sp>
        <p:nvSpPr>
          <p:cNvPr id="4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444C1A-BC5E-472E-886A-4F9DA5492FBC}" type="slidenum">
              <a:rPr lang="en-US" altLang="zh-HK"/>
              <a:pPr/>
              <a:t>‹#›</a:t>
            </a:fld>
            <a:endParaRPr lang="en-US" altLang="zh-HK"/>
          </a:p>
        </p:txBody>
      </p:sp>
    </p:spTree>
    <p:extLst>
      <p:ext uri="{BB962C8B-B14F-4D97-AF65-F5344CB8AC3E}">
        <p14:creationId xmlns:p14="http://schemas.microsoft.com/office/powerpoint/2010/main" val="228192435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9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/>
            <a:endParaRPr lang="en-US" altLang="zh-HK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 useBgFill="1">
        <p:nvSpPr>
          <p:cNvPr id="6" name="Rounded Rectangle 10"/>
          <p:cNvSpPr/>
          <p:nvPr/>
        </p:nvSpPr>
        <p:spPr>
          <a:xfrm>
            <a:off x="63500" y="69850"/>
            <a:ext cx="9013825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/>
            <a:endParaRPr lang="en-US" altLang="zh-HK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/>
          <a:lstStyle>
            <a:lvl1pPr algn="l">
              <a:buNone/>
              <a:defRPr sz="40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HK"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HK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EA4E364-4666-4D5E-9AF5-D41505CF6FF0}" type="slidenum">
              <a:rPr lang="en-US" altLang="zh-HK"/>
              <a:pPr/>
              <a:t>‹#›</a:t>
            </a:fld>
            <a:endParaRPr lang="en-US" altLang="zh-HK"/>
          </a:p>
        </p:txBody>
      </p:sp>
    </p:spTree>
    <p:extLst>
      <p:ext uri="{BB962C8B-B14F-4D97-AF65-F5344CB8AC3E}">
        <p14:creationId xmlns:p14="http://schemas.microsoft.com/office/powerpoint/2010/main" val="186631296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9"/>
          <p:cNvSpPr/>
          <p:nvPr/>
        </p:nvSpPr>
        <p:spPr>
          <a:xfrm flipV="1">
            <a:off x="68263" y="4683125"/>
            <a:ext cx="900747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/>
            <a:endParaRPr lang="en-US" altLang="zh-HK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6" name="Rectangle 10"/>
          <p:cNvSpPr/>
          <p:nvPr/>
        </p:nvSpPr>
        <p:spPr>
          <a:xfrm>
            <a:off x="68263" y="4649788"/>
            <a:ext cx="9007475" cy="4603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/>
            <a:endParaRPr lang="en-US" altLang="zh-HK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7" name="Rectangle 11"/>
          <p:cNvSpPr/>
          <p:nvPr/>
        </p:nvSpPr>
        <p:spPr>
          <a:xfrm>
            <a:off x="68263" y="4773613"/>
            <a:ext cx="9007475" cy="476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/>
            <a:endParaRPr lang="en-US" altLang="zh-HK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HK"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HK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050" y="6208713"/>
            <a:ext cx="457200" cy="457200"/>
          </a:xfrm>
        </p:spPr>
        <p:txBody>
          <a:bodyPr/>
          <a:lstStyle>
            <a:lvl1pPr>
              <a:defRPr/>
            </a:lvl1pPr>
          </a:lstStyle>
          <a:p>
            <a:fld id="{DA63FC35-C303-446E-ACD8-2F501CABF90D}" type="slidenum">
              <a:rPr lang="en-US" altLang="zh-HK"/>
              <a:pPr/>
              <a:t>‹#›</a:t>
            </a:fld>
            <a:endParaRPr lang="en-US" altLang="zh-HK"/>
          </a:p>
        </p:txBody>
      </p:sp>
    </p:spTree>
    <p:extLst>
      <p:ext uri="{BB962C8B-B14F-4D97-AF65-F5344CB8AC3E}">
        <p14:creationId xmlns:p14="http://schemas.microsoft.com/office/powerpoint/2010/main" val="14144514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HK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HK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8B6EFB5-3473-4CFC-A701-8BAC7C51B0FA}" type="slidenum">
              <a:rPr lang="en-US" altLang="zh-HK"/>
              <a:pPr/>
              <a:t>‹#›</a:t>
            </a:fld>
            <a:endParaRPr lang="en-US" altLang="zh-HK"/>
          </a:p>
        </p:txBody>
      </p:sp>
    </p:spTree>
    <p:extLst>
      <p:ext uri="{BB962C8B-B14F-4D97-AF65-F5344CB8AC3E}">
        <p14:creationId xmlns:p14="http://schemas.microsoft.com/office/powerpoint/2010/main" val="13875211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HK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HK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FF70A7B-9FC0-4FCA-B61A-63B71AA2C9F0}" type="slidenum">
              <a:rPr lang="en-US" altLang="zh-HK"/>
              <a:pPr/>
              <a:t>‹#›</a:t>
            </a:fld>
            <a:endParaRPr lang="en-US" altLang="zh-HK"/>
          </a:p>
        </p:txBody>
      </p:sp>
    </p:spTree>
    <p:extLst>
      <p:ext uri="{BB962C8B-B14F-4D97-AF65-F5344CB8AC3E}">
        <p14:creationId xmlns:p14="http://schemas.microsoft.com/office/powerpoint/2010/main" val="218125103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solidFill>
            <a:schemeClr val="bg1">
              <a:lumMod val="95000"/>
            </a:schemeClr>
          </a:solidFill>
          <a:effectLst/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566738" y="1752600"/>
            <a:ext cx="8001000" cy="4267200"/>
          </a:xfrm>
        </p:spPr>
        <p:txBody>
          <a:bodyPr rtlCol="0">
            <a:normAutofit/>
          </a:bodyPr>
          <a:lstStyle/>
          <a:p>
            <a:pPr lvl="0"/>
            <a:endParaRPr lang="en-US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E81039-40FD-40B8-A66C-809E6F949F0D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27443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 altLang="zh-HK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altLang="zh-HK"/>
              <a:t>Click to edit Master text styles</a:t>
            </a:r>
          </a:p>
          <a:p>
            <a:pPr lvl="1" eaLnBrk="1" latinLnBrk="0" hangingPunct="1"/>
            <a:r>
              <a:rPr kumimoji="0" lang="en-US" altLang="zh-HK"/>
              <a:t>Second level</a:t>
            </a:r>
          </a:p>
          <a:p>
            <a:pPr lvl="2" eaLnBrk="1" latinLnBrk="0" hangingPunct="1"/>
            <a:r>
              <a:rPr kumimoji="0" lang="en-US" altLang="zh-HK"/>
              <a:t>Third level</a:t>
            </a:r>
          </a:p>
          <a:p>
            <a:pPr lvl="3" eaLnBrk="1" latinLnBrk="0" hangingPunct="1"/>
            <a:r>
              <a:rPr kumimoji="0" lang="en-US" altLang="zh-HK"/>
              <a:t>Fourth level</a:t>
            </a:r>
          </a:p>
          <a:p>
            <a:pPr lvl="4" eaLnBrk="1" latinLnBrk="0" hangingPunct="1"/>
            <a:r>
              <a:rPr kumimoji="0" lang="en-US" altLang="zh-HK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fld id="{7C787ADA-DBD0-44B6-BABA-8F720F2E124F}" type="slidenum">
              <a:rPr lang="zh-TW" altLang="en-US" smtClean="0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/>
            <a:endParaRPr lang="en-US" altLang="zh-HK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 useBgFill="1">
        <p:nvSpPr>
          <p:cNvPr id="8" name="Rounded Rectangle 7"/>
          <p:cNvSpPr/>
          <p:nvPr/>
        </p:nvSpPr>
        <p:spPr>
          <a:xfrm>
            <a:off x="63500" y="69850"/>
            <a:ext cx="9013825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/>
            <a:endParaRPr lang="en-US" altLang="zh-HK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028" name="Title Placeholder 21"/>
          <p:cNvSpPr>
            <a:spLocks noGrp="1"/>
          </p:cNvSpPr>
          <p:nvPr>
            <p:ph type="title"/>
          </p:nvPr>
        </p:nvSpPr>
        <p:spPr bwMode="auto"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HK"/>
              <a:t>Click to edit Master title style</a:t>
            </a:r>
          </a:p>
        </p:txBody>
      </p:sp>
      <p:sp>
        <p:nvSpPr>
          <p:cNvPr id="1029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HK"/>
              <a:t>Click to edit Master text styles</a:t>
            </a:r>
          </a:p>
          <a:p>
            <a:pPr lvl="1"/>
            <a:r>
              <a:rPr lang="en-US" altLang="zh-HK"/>
              <a:t>Second level</a:t>
            </a:r>
          </a:p>
          <a:p>
            <a:pPr lvl="2"/>
            <a:r>
              <a:rPr lang="en-US" altLang="zh-HK"/>
              <a:t>Third level</a:t>
            </a:r>
          </a:p>
          <a:p>
            <a:pPr lvl="3"/>
            <a:r>
              <a:rPr lang="en-US" altLang="zh-HK"/>
              <a:t>Fourth level</a:t>
            </a:r>
          </a:p>
          <a:p>
            <a:pPr lvl="4"/>
            <a:r>
              <a:rPr lang="en-US" altLang="zh-HK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chemeClr val="tx2"/>
                </a:solidFill>
              </a:defRPr>
            </a:lvl1pPr>
          </a:lstStyle>
          <a:p>
            <a:endParaRPr lang="en-US" altLang="zh-H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chemeClr val="tx2"/>
                </a:solidFill>
              </a:defRPr>
            </a:lvl1pPr>
          </a:lstStyle>
          <a:p>
            <a:endParaRPr lang="en-US" altLang="zh-HK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prstTxWarp prst="textNoShape">
              <a:avLst/>
            </a:prstTxWarp>
            <a:noAutofit/>
          </a:bodyPr>
          <a:lstStyle>
            <a:lvl1pPr algn="ctr" eaLnBrk="1" hangingPunct="1">
              <a:defRPr sz="1400">
                <a:solidFill>
                  <a:srgbClr val="FFFFFF"/>
                </a:solidFill>
                <a:latin typeface="Calibri" panose="020F0502020204030204" pitchFamily="34" charset="0"/>
              </a:defRPr>
            </a:lvl1pPr>
          </a:lstStyle>
          <a:p>
            <a:fld id="{D985E90E-00F8-4E5E-9572-2742AF785A8C}" type="slidenum">
              <a:rPr lang="en-US" altLang="zh-HK"/>
              <a:pPr/>
              <a:t>‹#›</a:t>
            </a:fld>
            <a:endParaRPr lang="en-US" altLang="zh-HK"/>
          </a:p>
        </p:txBody>
      </p:sp>
    </p:spTree>
    <p:extLst>
      <p:ext uri="{BB962C8B-B14F-4D97-AF65-F5344CB8AC3E}">
        <p14:creationId xmlns:p14="http://schemas.microsoft.com/office/powerpoint/2010/main" val="899014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  <p:sldLayoutId id="2147483735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9pPr>
    </p:titleStyle>
    <p:bodyStyle>
      <a:lvl1pPr marL="273050" indent="-273050" algn="l" rtl="0" eaLnBrk="0" fontAlgn="base" hangingPunct="0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28600" algn="l" rtl="0" eaLnBrk="0" fontAlgn="base" hangingPunct="0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anose="05020102010507070707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609600" y="4343400"/>
            <a:ext cx="7848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None/>
              <a:defRPr sz="2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spcBef>
                <a:spcPts val="370"/>
              </a:spcBef>
              <a:buClr>
                <a:schemeClr val="accent3"/>
              </a:buClr>
              <a:buNone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spcBef>
                <a:spcPts val="370"/>
              </a:spcBef>
              <a:buClr>
                <a:schemeClr val="accent2"/>
              </a:buClr>
              <a:buNone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None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None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endParaRPr lang="en-US" altLang="zh-TW" sz="2200" dirty="0"/>
          </a:p>
          <a:p>
            <a:pPr eaLnBrk="1" hangingPunct="1"/>
            <a:r>
              <a:rPr lang="en-US" altLang="zh-TW" sz="2200" i="1" dirty="0"/>
              <a:t>Computer Science, City University of Hong Kong</a:t>
            </a:r>
          </a:p>
          <a:p>
            <a:pPr eaLnBrk="1" hangingPunct="1"/>
            <a:r>
              <a:rPr lang="en-US" altLang="zh-TW" sz="2200" i="1" dirty="0"/>
              <a:t>Semester B 2024-25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352425" y="1905000"/>
            <a:ext cx="8715375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9144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alibri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alibri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alibri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alibri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alibri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alibri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alibri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alibri" pitchFamily="34" charset="0"/>
              </a:defRPr>
            </a:lvl9pPr>
          </a:lstStyle>
          <a:p>
            <a:pPr eaLnBrk="1" hangingPunct="1"/>
            <a:r>
              <a:rPr lang="en-US" altLang="zh-TW" dirty="0"/>
              <a:t>CS2310 Computer Programming</a:t>
            </a:r>
            <a:br>
              <a:rPr lang="en-US" altLang="zh-TW" dirty="0"/>
            </a:br>
            <a:endParaRPr lang="en-US" altLang="zh-TW" dirty="0"/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2362200" y="3286780"/>
            <a:ext cx="434497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en-US" altLang="zh-TW" sz="2800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LT11: C++ Templates and STL</a:t>
            </a:r>
            <a:endParaRPr lang="en-US" altLang="zh-HK" sz="2800" dirty="0">
              <a:solidFill>
                <a:srgbClr val="D34817">
                  <a:lumMod val="75000"/>
                </a:srgb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05413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F759B-1281-4CE8-B3C6-0F8B582CE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  <a:endParaRPr lang="en-HK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8AC8F82-A81A-4E95-A696-6C9467222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653ED2-267D-454B-B9E3-59503D7C3DE8}" type="slidenum">
              <a:rPr lang="zh-TW" altLang="en-US" smtClean="0"/>
              <a:pPr>
                <a:defRPr/>
              </a:pPr>
              <a:t>2</a:t>
            </a:fld>
            <a:endParaRPr lang="en-US" altLang="zh-TW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CB0A99-48AB-4963-8E59-B0756B2805A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Templates</a:t>
            </a:r>
          </a:p>
          <a:p>
            <a:endParaRPr lang="en-US" dirty="0"/>
          </a:p>
          <a:p>
            <a:r>
              <a:rPr lang="en-US" dirty="0"/>
              <a:t>Introduction to STL</a:t>
            </a:r>
          </a:p>
          <a:p>
            <a:endParaRPr lang="en-US" dirty="0"/>
          </a:p>
          <a:p>
            <a:r>
              <a:rPr lang="en-US" dirty="0"/>
              <a:t>Review</a:t>
            </a:r>
            <a:endParaRPr lang="en-HK" dirty="0"/>
          </a:p>
        </p:txBody>
      </p:sp>
    </p:spTree>
    <p:extLst>
      <p:ext uri="{BB962C8B-B14F-4D97-AF65-F5344CB8AC3E}">
        <p14:creationId xmlns:p14="http://schemas.microsoft.com/office/powerpoint/2010/main" val="13127181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329B8-75B1-42D4-B1A5-06B57AA3B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Generic Programming (Generics)</a:t>
            </a:r>
            <a:endParaRPr lang="en-HK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1D7ADD9-E22A-426C-BD83-D16A914A9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653ED2-267D-454B-B9E3-59503D7C3DE8}" type="slidenum">
              <a:rPr lang="zh-TW" altLang="en-US" smtClean="0"/>
              <a:pPr>
                <a:defRPr/>
              </a:pPr>
              <a:t>3</a:t>
            </a:fld>
            <a:endParaRPr lang="en-US" altLang="zh-TW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D23891-3C5D-4AD4-BEBD-0C9F5B3AFF1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Generics</a:t>
            </a:r>
            <a:r>
              <a:rPr lang="en-US" sz="2400" dirty="0"/>
              <a:t> allow </a:t>
            </a:r>
            <a:r>
              <a:rPr lang="en-US" sz="2400" dirty="0">
                <a:solidFill>
                  <a:srgbClr val="C00000"/>
                </a:solidFill>
              </a:rPr>
              <a:t>data types</a:t>
            </a:r>
            <a:r>
              <a:rPr lang="en-US" sz="2400" dirty="0"/>
              <a:t>, including </a:t>
            </a:r>
            <a:r>
              <a:rPr lang="en-US" sz="2400" b="1" dirty="0"/>
              <a:t>default types</a:t>
            </a:r>
            <a:r>
              <a:rPr lang="en-US" sz="2400" dirty="0"/>
              <a:t> (int, char,  double, etc.) and </a:t>
            </a:r>
            <a:r>
              <a:rPr lang="en-US" sz="2400" b="1" dirty="0"/>
              <a:t>user-defined</a:t>
            </a:r>
            <a:r>
              <a:rPr lang="en-US" sz="2400" dirty="0"/>
              <a:t> types, as arguments to </a:t>
            </a:r>
            <a:r>
              <a:rPr lang="en-US" sz="2400" dirty="0">
                <a:solidFill>
                  <a:srgbClr val="7030A0"/>
                </a:solidFill>
              </a:rPr>
              <a:t>functions</a:t>
            </a:r>
            <a:r>
              <a:rPr lang="en-US" sz="2400" dirty="0"/>
              <a:t> or </a:t>
            </a:r>
            <a:r>
              <a:rPr lang="en-US" sz="2400" dirty="0">
                <a:solidFill>
                  <a:srgbClr val="0070C0"/>
                </a:solidFill>
              </a:rPr>
              <a:t>classes</a:t>
            </a:r>
            <a:r>
              <a:rPr lang="en-US" sz="2400" dirty="0"/>
              <a:t>, so that they can handle all these data types</a:t>
            </a:r>
          </a:p>
          <a:p>
            <a:r>
              <a:rPr lang="en-US" sz="2400" dirty="0"/>
              <a:t>Generics can be implemented using </a:t>
            </a:r>
            <a:r>
              <a:rPr lang="en-US" sz="2400" b="1" dirty="0">
                <a:solidFill>
                  <a:srgbClr val="FF0000"/>
                </a:solidFill>
              </a:rPr>
              <a:t>templates</a:t>
            </a:r>
            <a:r>
              <a:rPr lang="en-US" sz="2400" dirty="0"/>
              <a:t> in C++</a:t>
            </a:r>
          </a:p>
          <a:p>
            <a:pPr lvl="1"/>
            <a:r>
              <a:rPr lang="en-US" sz="2200" dirty="0">
                <a:solidFill>
                  <a:srgbClr val="C00000"/>
                </a:solidFill>
              </a:rPr>
              <a:t>Improve code reusability</a:t>
            </a:r>
          </a:p>
          <a:p>
            <a:pPr lvl="1"/>
            <a:r>
              <a:rPr lang="en-US" sz="2200" dirty="0">
                <a:solidFill>
                  <a:srgbClr val="7030A0"/>
                </a:solidFill>
              </a:rPr>
              <a:t>Avoid function overloading</a:t>
            </a:r>
          </a:p>
          <a:p>
            <a:pPr lvl="2"/>
            <a:r>
              <a:rPr lang="en-US" sz="1800" dirty="0">
                <a:solidFill>
                  <a:schemeClr val="bg1">
                    <a:lumMod val="75000"/>
                  </a:schemeClr>
                </a:solidFill>
              </a:rPr>
              <a:t>Function overloading is typically used when overloaded functions perform very </a:t>
            </a:r>
            <a:r>
              <a:rPr lang="en-US" sz="1800" dirty="0">
                <a:solidFill>
                  <a:srgbClr val="00B050"/>
                </a:solidFill>
              </a:rPr>
              <a:t>similar</a:t>
            </a:r>
            <a:r>
              <a:rPr lang="en-US" sz="1800" dirty="0">
                <a:solidFill>
                  <a:schemeClr val="bg1">
                    <a:lumMod val="75000"/>
                  </a:schemeClr>
                </a:solidFill>
              </a:rPr>
              <a:t> (but </a:t>
            </a:r>
            <a:r>
              <a:rPr lang="en-US" sz="1800" dirty="0">
                <a:solidFill>
                  <a:srgbClr val="FFC000"/>
                </a:solidFill>
              </a:rPr>
              <a:t>not identical</a:t>
            </a:r>
            <a:r>
              <a:rPr lang="en-US" sz="1800" dirty="0">
                <a:solidFill>
                  <a:schemeClr val="bg1">
                    <a:lumMod val="75000"/>
                  </a:schemeClr>
                </a:solidFill>
              </a:rPr>
              <a:t>) operations</a:t>
            </a:r>
          </a:p>
          <a:p>
            <a:pPr lvl="2"/>
            <a:r>
              <a:rPr lang="en-US" sz="1800" dirty="0">
                <a:solidFill>
                  <a:schemeClr val="bg1">
                    <a:lumMod val="75000"/>
                  </a:schemeClr>
                </a:solidFill>
              </a:rPr>
              <a:t>Templates are typically used when multiple functions perform the </a:t>
            </a:r>
            <a:r>
              <a:rPr lang="en-US" sz="1800" dirty="0">
                <a:solidFill>
                  <a:srgbClr val="00B050"/>
                </a:solidFill>
              </a:rPr>
              <a:t>same</a:t>
            </a:r>
            <a:r>
              <a:rPr lang="en-US" sz="1800" dirty="0">
                <a:solidFill>
                  <a:schemeClr val="bg1">
                    <a:lumMod val="75000"/>
                  </a:schemeClr>
                </a:solidFill>
              </a:rPr>
              <a:t> operations (but for </a:t>
            </a:r>
            <a:r>
              <a:rPr lang="en-US" sz="1800" dirty="0">
                <a:solidFill>
                  <a:srgbClr val="FFC000"/>
                </a:solidFill>
              </a:rPr>
              <a:t>different data types</a:t>
            </a:r>
            <a:r>
              <a:rPr lang="en-US" sz="1800" dirty="0">
                <a:solidFill>
                  <a:schemeClr val="bg1">
                    <a:lumMod val="75000"/>
                  </a:schemeClr>
                </a:solidFill>
              </a:rPr>
              <a:t>)</a:t>
            </a:r>
            <a:endParaRPr lang="en-HK" sz="18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1787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BE733-D7E1-4BA4-B655-1A65D9DB3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Templates in C++</a:t>
            </a:r>
            <a:endParaRPr lang="en-HK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247CD6B-47D0-44B7-9892-1787A3879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653ED2-267D-454B-B9E3-59503D7C3DE8}" type="slidenum">
              <a:rPr lang="zh-TW" altLang="en-US" smtClean="0"/>
              <a:pPr>
                <a:defRPr/>
              </a:pPr>
              <a:t>4</a:t>
            </a:fld>
            <a:endParaRPr lang="en-US" altLang="zh-TW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741AC8-F3BE-450F-A32F-C21C1FBA13F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14400" y="1524000"/>
            <a:ext cx="7924800" cy="4495800"/>
          </a:xfrm>
        </p:spPr>
        <p:txBody>
          <a:bodyPr>
            <a:normAutofit/>
          </a:bodyPr>
          <a:lstStyle/>
          <a:p>
            <a:r>
              <a:rPr lang="en-US" sz="2400" b="1" dirty="0"/>
              <a:t>Two types</a:t>
            </a:r>
            <a:r>
              <a:rPr lang="en-US" sz="2400" dirty="0"/>
              <a:t> of templates</a:t>
            </a:r>
          </a:p>
          <a:p>
            <a:pPr lvl="1"/>
            <a:r>
              <a:rPr lang="en-US" sz="1800" b="1" dirty="0">
                <a:solidFill>
                  <a:srgbClr val="C00000"/>
                </a:solidFill>
              </a:rPr>
              <a:t>function</a:t>
            </a:r>
            <a:r>
              <a:rPr lang="en-US" sz="1800" dirty="0">
                <a:solidFill>
                  <a:srgbClr val="C00000"/>
                </a:solidFill>
              </a:rPr>
              <a:t> templates </a:t>
            </a:r>
            <a:r>
              <a:rPr lang="en-US" sz="1800" dirty="0"/>
              <a:t>and </a:t>
            </a:r>
            <a:r>
              <a:rPr lang="en-US" sz="1800" b="1" dirty="0">
                <a:solidFill>
                  <a:srgbClr val="7030A0"/>
                </a:solidFill>
              </a:rPr>
              <a:t>class</a:t>
            </a:r>
            <a:r>
              <a:rPr lang="en-US" sz="1800" dirty="0">
                <a:solidFill>
                  <a:srgbClr val="7030A0"/>
                </a:solidFill>
              </a:rPr>
              <a:t> templates</a:t>
            </a:r>
          </a:p>
          <a:p>
            <a:r>
              <a:rPr lang="en-US" sz="2400" dirty="0"/>
              <a:t>Two new </a:t>
            </a:r>
            <a:r>
              <a:rPr lang="en-US" sz="2400" b="1" dirty="0"/>
              <a:t>keywords</a:t>
            </a:r>
          </a:p>
          <a:p>
            <a:pPr lvl="1"/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template</a:t>
            </a:r>
            <a:r>
              <a:rPr lang="en-US" sz="1800" dirty="0"/>
              <a:t> and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typename</a:t>
            </a:r>
            <a:r>
              <a:rPr lang="en-US" sz="1800" dirty="0"/>
              <a:t> (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typename</a:t>
            </a:r>
            <a:r>
              <a:rPr lang="en-US" sz="1800" dirty="0"/>
              <a:t> can always be </a:t>
            </a:r>
            <a:r>
              <a:rPr lang="en-US" sz="1800" dirty="0">
                <a:solidFill>
                  <a:srgbClr val="0070C0"/>
                </a:solidFill>
              </a:rPr>
              <a:t>replaced</a:t>
            </a:r>
            <a:r>
              <a:rPr lang="en-US" sz="1800" dirty="0"/>
              <a:t> by 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1800" dirty="0"/>
              <a:t>)</a:t>
            </a:r>
          </a:p>
          <a:p>
            <a:r>
              <a:rPr lang="en-US" sz="2000" dirty="0"/>
              <a:t>Syntax</a:t>
            </a:r>
          </a:p>
          <a:p>
            <a:pPr lvl="1"/>
            <a:endParaRPr lang="en-US" sz="1800" dirty="0"/>
          </a:p>
          <a:p>
            <a:pPr lvl="1"/>
            <a:r>
              <a:rPr lang="en-US" sz="1800" dirty="0">
                <a:solidFill>
                  <a:srgbClr val="C00000"/>
                </a:solidFill>
              </a:rPr>
              <a:t>T</a:t>
            </a:r>
            <a:r>
              <a:rPr lang="en-US" sz="1800" dirty="0"/>
              <a:t>: a generic type. This name can be changed (e.g., </a:t>
            </a:r>
            <a:r>
              <a:rPr lang="en-US" sz="1800" dirty="0">
                <a:solidFill>
                  <a:srgbClr val="FFC000"/>
                </a:solidFill>
              </a:rPr>
              <a:t>U</a:t>
            </a:r>
            <a:r>
              <a:rPr lang="en-US" sz="1800" dirty="0"/>
              <a:t>), but it is usually an </a:t>
            </a:r>
            <a:r>
              <a:rPr lang="en-US" sz="1800" b="1" dirty="0"/>
              <a:t>upper-case letter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3A810CD-E7A9-46A5-A774-0FD7327CE25D}"/>
              </a:ext>
            </a:extLst>
          </p:cNvPr>
          <p:cNvSpPr txBox="1"/>
          <p:nvPr/>
        </p:nvSpPr>
        <p:spPr>
          <a:xfrm>
            <a:off x="2895600" y="4419600"/>
            <a:ext cx="28453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1200" dirty="0">
                <a:solidFill>
                  <a:srgbClr val="0000FF"/>
                </a:solidFill>
                <a:latin typeface="Courier New" pitchFamily="49" charset="0"/>
              </a:rPr>
              <a:t>template</a:t>
            </a:r>
            <a:r>
              <a:rPr lang="en-US" altLang="zh-CN" sz="1200" dirty="0">
                <a:latin typeface="Courier New" pitchFamily="49" charset="0"/>
              </a:rPr>
              <a:t> &lt;</a:t>
            </a:r>
            <a:r>
              <a:rPr lang="en-US" altLang="zh-CN" sz="1200" dirty="0" err="1">
                <a:solidFill>
                  <a:srgbClr val="0000FF"/>
                </a:solidFill>
                <a:latin typeface="Courier New" pitchFamily="49" charset="0"/>
              </a:rPr>
              <a:t>typename</a:t>
            </a:r>
            <a:r>
              <a:rPr lang="en-US" altLang="zh-CN" sz="1200" dirty="0">
                <a:latin typeface="Courier New" pitchFamily="49" charset="0"/>
              </a:rPr>
              <a:t> </a:t>
            </a:r>
            <a:r>
              <a:rPr lang="en-US" altLang="zh-CN" sz="1200" dirty="0">
                <a:solidFill>
                  <a:srgbClr val="C00000"/>
                </a:solidFill>
                <a:latin typeface="Courier New" pitchFamily="49" charset="0"/>
              </a:rPr>
              <a:t>T</a:t>
            </a:r>
            <a:r>
              <a:rPr lang="en-US" altLang="zh-CN" sz="1200" dirty="0">
                <a:latin typeface="Courier New" pitchFamily="49" charset="0"/>
              </a:rPr>
              <a:t>&gt;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200" dirty="0">
                <a:solidFill>
                  <a:srgbClr val="C00000"/>
                </a:solidFill>
                <a:latin typeface="Courier New" pitchFamily="49" charset="0"/>
              </a:rPr>
              <a:t>T</a:t>
            </a:r>
            <a:r>
              <a:rPr lang="en-US" altLang="zh-CN" sz="1200" dirty="0">
                <a:latin typeface="Courier New" pitchFamily="49" charset="0"/>
              </a:rPr>
              <a:t> </a:t>
            </a:r>
            <a:r>
              <a:rPr lang="en-US" altLang="zh-CN" sz="1200" dirty="0" err="1">
                <a:latin typeface="Courier New" pitchFamily="49" charset="0"/>
              </a:rPr>
              <a:t>myAdd</a:t>
            </a:r>
            <a:r>
              <a:rPr lang="en-US" altLang="zh-CN" sz="1200" dirty="0">
                <a:latin typeface="Courier New" pitchFamily="49" charset="0"/>
              </a:rPr>
              <a:t>(</a:t>
            </a:r>
            <a:r>
              <a:rPr lang="en-US" altLang="zh-CN" sz="1200" dirty="0">
                <a:solidFill>
                  <a:srgbClr val="C00000"/>
                </a:solidFill>
                <a:latin typeface="Courier New" pitchFamily="49" charset="0"/>
              </a:rPr>
              <a:t>T</a:t>
            </a:r>
            <a:r>
              <a:rPr lang="en-US" altLang="zh-CN" sz="1200" dirty="0">
                <a:latin typeface="Courier New" pitchFamily="49" charset="0"/>
              </a:rPr>
              <a:t> a, </a:t>
            </a:r>
            <a:r>
              <a:rPr lang="en-US" altLang="zh-CN" sz="1200" dirty="0">
                <a:solidFill>
                  <a:srgbClr val="C00000"/>
                </a:solidFill>
                <a:latin typeface="Courier New" pitchFamily="49" charset="0"/>
              </a:rPr>
              <a:t>T</a:t>
            </a:r>
            <a:r>
              <a:rPr lang="en-US" altLang="zh-CN" sz="1200" dirty="0">
                <a:latin typeface="Courier New" pitchFamily="49" charset="0"/>
              </a:rPr>
              <a:t> b)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200" dirty="0">
                <a:latin typeface="Courier New" pitchFamily="49" charset="0"/>
              </a:rPr>
              <a:t>  return a + b;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200" dirty="0">
                <a:latin typeface="Courier New" pitchFamily="49" charset="0"/>
              </a:rPr>
              <a:t>}</a:t>
            </a:r>
          </a:p>
        </p:txBody>
      </p:sp>
      <p:sp>
        <p:nvSpPr>
          <p:cNvPr id="6" name="文本框 4">
            <a:extLst>
              <a:ext uri="{FF2B5EF4-FFF2-40B4-BE49-F238E27FC236}">
                <a16:creationId xmlns:a16="http://schemas.microsoft.com/office/drawing/2014/main" id="{A7DA45D0-6006-4583-9AF8-1C13A226F124}"/>
              </a:ext>
            </a:extLst>
          </p:cNvPr>
          <p:cNvSpPr txBox="1"/>
          <p:nvPr/>
        </p:nvSpPr>
        <p:spPr>
          <a:xfrm>
            <a:off x="2895600" y="3195935"/>
            <a:ext cx="4450773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TW" sz="1200" dirty="0">
                <a:solidFill>
                  <a:srgbClr val="0000FF"/>
                </a:solidFill>
                <a:latin typeface="Courier New" pitchFamily="49" charset="0"/>
              </a:rPr>
              <a:t>template</a:t>
            </a:r>
            <a:r>
              <a:rPr lang="en-US" altLang="zh-TW" sz="1200" dirty="0">
                <a:latin typeface="Courier New" pitchFamily="49" charset="0"/>
              </a:rPr>
              <a:t> &lt;</a:t>
            </a:r>
            <a:r>
              <a:rPr lang="en-US" altLang="zh-TW" sz="1200" dirty="0" err="1">
                <a:solidFill>
                  <a:srgbClr val="0000FF"/>
                </a:solidFill>
                <a:latin typeface="Courier New" pitchFamily="49" charset="0"/>
              </a:rPr>
              <a:t>typename</a:t>
            </a:r>
            <a:r>
              <a:rPr lang="en-US" altLang="zh-TW" sz="1200" dirty="0">
                <a:latin typeface="Courier New" pitchFamily="49" charset="0"/>
              </a:rPr>
              <a:t> </a:t>
            </a:r>
            <a:r>
              <a:rPr lang="en-US" altLang="zh-TW" sz="1200" dirty="0">
                <a:solidFill>
                  <a:srgbClr val="C00000"/>
                </a:solidFill>
                <a:latin typeface="Courier New" pitchFamily="49" charset="0"/>
              </a:rPr>
              <a:t>T</a:t>
            </a:r>
            <a:r>
              <a:rPr lang="en-US" altLang="zh-TW" sz="1200" dirty="0">
                <a:latin typeface="Courier New" pitchFamily="49" charset="0"/>
              </a:rPr>
              <a:t>&gt;</a:t>
            </a:r>
            <a:br>
              <a:rPr lang="en-US" altLang="zh-TW" sz="1200" dirty="0">
                <a:latin typeface="Courier New" pitchFamily="49" charset="0"/>
              </a:rPr>
            </a:br>
            <a:r>
              <a:rPr lang="en-US" altLang="zh-TW" sz="1200" dirty="0">
                <a:latin typeface="Courier New" pitchFamily="49" charset="0"/>
              </a:rPr>
              <a:t>function/class declaration or definition</a:t>
            </a:r>
            <a:endParaRPr lang="en-US" altLang="zh-CN" sz="1200" dirty="0">
              <a:latin typeface="Courier New" pitchFamily="49" charset="0"/>
            </a:endParaRPr>
          </a:p>
        </p:txBody>
      </p:sp>
      <p:sp>
        <p:nvSpPr>
          <p:cNvPr id="7" name="文本框 4">
            <a:extLst>
              <a:ext uri="{FF2B5EF4-FFF2-40B4-BE49-F238E27FC236}">
                <a16:creationId xmlns:a16="http://schemas.microsoft.com/office/drawing/2014/main" id="{0C9C3ADC-E535-4B62-923C-78B9B7915ACD}"/>
              </a:ext>
            </a:extLst>
          </p:cNvPr>
          <p:cNvSpPr txBox="1"/>
          <p:nvPr/>
        </p:nvSpPr>
        <p:spPr>
          <a:xfrm>
            <a:off x="2895600" y="5380681"/>
            <a:ext cx="4800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1200" dirty="0">
                <a:latin typeface="Courier New" pitchFamily="49" charset="0"/>
              </a:rPr>
              <a:t>int main()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200" dirty="0">
                <a:latin typeface="Courier New" pitchFamily="49" charset="0"/>
              </a:rPr>
              <a:t>  </a:t>
            </a:r>
            <a:r>
              <a:rPr lang="en-US" altLang="zh-CN" sz="1200" dirty="0" err="1">
                <a:latin typeface="Courier New" pitchFamily="49" charset="0"/>
              </a:rPr>
              <a:t>cout</a:t>
            </a:r>
            <a:r>
              <a:rPr lang="en-US" altLang="zh-CN" sz="1200" dirty="0">
                <a:latin typeface="Courier New" pitchFamily="49" charset="0"/>
              </a:rPr>
              <a:t> &lt;&lt; </a:t>
            </a:r>
            <a:r>
              <a:rPr lang="en-US" altLang="zh-CN" sz="1200" dirty="0" err="1">
                <a:latin typeface="Courier New" pitchFamily="49" charset="0"/>
              </a:rPr>
              <a:t>myAdd</a:t>
            </a:r>
            <a:r>
              <a:rPr lang="en-US" altLang="zh-CN" sz="1200" b="1" dirty="0">
                <a:solidFill>
                  <a:srgbClr val="FF0000"/>
                </a:solidFill>
                <a:latin typeface="Courier New" pitchFamily="49" charset="0"/>
              </a:rPr>
              <a:t>&lt;int&gt;</a:t>
            </a:r>
            <a:r>
              <a:rPr lang="en-US" altLang="zh-CN" sz="1200" dirty="0">
                <a:latin typeface="Courier New" pitchFamily="49" charset="0"/>
              </a:rPr>
              <a:t>(1, 2) &lt;&lt; </a:t>
            </a:r>
            <a:r>
              <a:rPr lang="en-US" altLang="zh-CN" sz="1200" dirty="0" err="1">
                <a:latin typeface="Courier New" pitchFamily="49" charset="0"/>
              </a:rPr>
              <a:t>endl</a:t>
            </a:r>
            <a:r>
              <a:rPr lang="en-US" altLang="zh-CN" sz="1200" dirty="0">
                <a:latin typeface="Courier New" pitchFamily="49" charset="0"/>
              </a:rPr>
              <a:t>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200" dirty="0">
                <a:latin typeface="Courier New" pitchFamily="49" charset="0"/>
              </a:rPr>
              <a:t>  </a:t>
            </a:r>
            <a:r>
              <a:rPr lang="en-US" altLang="zh-CN" sz="1200" dirty="0" err="1">
                <a:latin typeface="Courier New" pitchFamily="49" charset="0"/>
              </a:rPr>
              <a:t>cout</a:t>
            </a:r>
            <a:r>
              <a:rPr lang="en-US" altLang="zh-CN" sz="1200" dirty="0">
                <a:latin typeface="Courier New" pitchFamily="49" charset="0"/>
              </a:rPr>
              <a:t> &lt;&lt; </a:t>
            </a:r>
            <a:r>
              <a:rPr lang="en-US" altLang="zh-CN" sz="1200" dirty="0" err="1">
                <a:latin typeface="Courier New" pitchFamily="49" charset="0"/>
              </a:rPr>
              <a:t>myAdd</a:t>
            </a:r>
            <a:r>
              <a:rPr lang="en-US" altLang="zh-CN" sz="1200" b="1" dirty="0">
                <a:solidFill>
                  <a:srgbClr val="7030A0"/>
                </a:solidFill>
                <a:latin typeface="Courier New" pitchFamily="49" charset="0"/>
              </a:rPr>
              <a:t>&lt;double&gt;</a:t>
            </a:r>
            <a:r>
              <a:rPr lang="en-US" altLang="zh-CN" sz="1200" dirty="0">
                <a:latin typeface="Courier New" pitchFamily="49" charset="0"/>
              </a:rPr>
              <a:t>(1.2, 2.3) &lt;&lt; </a:t>
            </a:r>
            <a:r>
              <a:rPr lang="en-US" altLang="zh-CN" sz="1200" dirty="0" err="1">
                <a:latin typeface="Courier New" pitchFamily="49" charset="0"/>
              </a:rPr>
              <a:t>endl</a:t>
            </a:r>
            <a:r>
              <a:rPr lang="en-US" altLang="zh-CN" sz="1200" dirty="0">
                <a:latin typeface="Courier New" pitchFamily="49" charset="0"/>
              </a:rPr>
              <a:t>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200" dirty="0">
                <a:latin typeface="Courier New" pitchFamily="49" charset="0"/>
              </a:rPr>
              <a:t>  return 0;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200" dirty="0">
                <a:latin typeface="Courier New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BEFE67-D445-186F-09FE-71AE6C4429D8}"/>
              </a:ext>
            </a:extLst>
          </p:cNvPr>
          <p:cNvSpPr txBox="1"/>
          <p:nvPr/>
        </p:nvSpPr>
        <p:spPr>
          <a:xfrm>
            <a:off x="830382" y="6383179"/>
            <a:ext cx="174599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Code: lec11-01-add.cpp</a:t>
            </a:r>
          </a:p>
        </p:txBody>
      </p:sp>
    </p:spTree>
    <p:extLst>
      <p:ext uri="{BB962C8B-B14F-4D97-AF65-F5344CB8AC3E}">
        <p14:creationId xmlns:p14="http://schemas.microsoft.com/office/powerpoint/2010/main" val="851227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7" grpId="0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BE733-D7E1-4BA4-B655-1A65D9DB3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Templates in C++</a:t>
            </a:r>
            <a:endParaRPr lang="en-HK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247CD6B-47D0-44B7-9892-1787A3879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653ED2-267D-454B-B9E3-59503D7C3DE8}" type="slidenum">
              <a:rPr lang="zh-TW" altLang="en-US" smtClean="0"/>
              <a:pPr>
                <a:defRPr/>
              </a:pPr>
              <a:t>5</a:t>
            </a:fld>
            <a:endParaRPr lang="en-US" altLang="zh-TW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741AC8-F3BE-450F-A32F-C21C1FBA13F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14400" y="1524000"/>
            <a:ext cx="7772400" cy="4953000"/>
          </a:xfrm>
        </p:spPr>
        <p:txBody>
          <a:bodyPr>
            <a:normAutofit/>
          </a:bodyPr>
          <a:lstStyle/>
          <a:p>
            <a:r>
              <a:rPr lang="en-US" sz="2400" dirty="0"/>
              <a:t>Templates are </a:t>
            </a:r>
            <a:r>
              <a:rPr lang="en-US" sz="2400" dirty="0">
                <a:solidFill>
                  <a:srgbClr val="C00000"/>
                </a:solidFill>
              </a:rPr>
              <a:t>expanded</a:t>
            </a:r>
            <a:r>
              <a:rPr lang="en-US" sz="2400" dirty="0"/>
              <a:t> at </a:t>
            </a:r>
            <a:r>
              <a:rPr lang="en-US" sz="2400" dirty="0">
                <a:solidFill>
                  <a:srgbClr val="7030A0"/>
                </a:solidFill>
              </a:rPr>
              <a:t>compile time</a:t>
            </a:r>
          </a:p>
          <a:p>
            <a:pPr lvl="1"/>
            <a:r>
              <a:rPr lang="en-US" sz="1800" dirty="0">
                <a:solidFill>
                  <a:srgbClr val="0070C0"/>
                </a:solidFill>
              </a:rPr>
              <a:t>Source code </a:t>
            </a:r>
            <a:r>
              <a:rPr lang="en-US" sz="1800" dirty="0"/>
              <a:t>contains the template for function/class </a:t>
            </a:r>
          </a:p>
          <a:p>
            <a:pPr lvl="1"/>
            <a:r>
              <a:rPr lang="en-US" sz="1800" dirty="0">
                <a:solidFill>
                  <a:srgbClr val="00B050"/>
                </a:solidFill>
              </a:rPr>
              <a:t>Compiled code </a:t>
            </a:r>
            <a:r>
              <a:rPr lang="en-US" sz="1800" dirty="0"/>
              <a:t>may contain multiple copies of the same function/class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Template Argument Deduction</a:t>
            </a:r>
          </a:p>
          <a:p>
            <a:pPr lvl="1"/>
            <a:r>
              <a:rPr lang="en-US" sz="1800" dirty="0"/>
              <a:t>1) </a:t>
            </a:r>
            <a:r>
              <a:rPr lang="en-US" sz="1800" dirty="0">
                <a:solidFill>
                  <a:srgbClr val="C00000"/>
                </a:solidFill>
              </a:rPr>
              <a:t>Explicit</a:t>
            </a:r>
            <a:r>
              <a:rPr lang="en-US" sz="1800" dirty="0"/>
              <a:t> deduction</a:t>
            </a:r>
          </a:p>
          <a:p>
            <a:pPr lvl="2"/>
            <a:r>
              <a:rPr lang="en-US" sz="1400" dirty="0"/>
              <a:t>Implicit data type conversion can occur</a:t>
            </a:r>
          </a:p>
          <a:p>
            <a:pPr lvl="1"/>
            <a:r>
              <a:rPr lang="en-US" sz="1800" dirty="0"/>
              <a:t>2) </a:t>
            </a:r>
            <a:r>
              <a:rPr lang="en-US" sz="1800" dirty="0">
                <a:solidFill>
                  <a:srgbClr val="7030A0"/>
                </a:solidFill>
              </a:rPr>
              <a:t>Automatic</a:t>
            </a:r>
            <a:r>
              <a:rPr lang="en-US" sz="1800" dirty="0"/>
              <a:t> deduction</a:t>
            </a:r>
          </a:p>
          <a:p>
            <a:pPr lvl="2"/>
            <a:r>
              <a:rPr lang="en-US" sz="1400" dirty="0"/>
              <a:t>No implicit data type conversion</a:t>
            </a:r>
          </a:p>
          <a:p>
            <a:pPr lvl="1"/>
            <a:r>
              <a:rPr lang="en-US" sz="1800" b="1" dirty="0"/>
              <a:t>Principle</a:t>
            </a:r>
            <a:r>
              <a:rPr lang="en-US" sz="1800" dirty="0"/>
              <a:t>: </a:t>
            </a:r>
            <a:r>
              <a:rPr lang="en-US" sz="1800" dirty="0">
                <a:solidFill>
                  <a:srgbClr val="C00000"/>
                </a:solidFill>
              </a:rPr>
              <a:t>T</a:t>
            </a:r>
            <a:r>
              <a:rPr lang="en-US" sz="1800" dirty="0"/>
              <a:t> can be </a:t>
            </a:r>
            <a:r>
              <a:rPr lang="en-US" sz="1800" dirty="0">
                <a:solidFill>
                  <a:srgbClr val="FF0000"/>
                </a:solidFill>
              </a:rPr>
              <a:t>uniquely</a:t>
            </a:r>
            <a:r>
              <a:rPr lang="en-US" sz="1800" dirty="0"/>
              <a:t> determined</a:t>
            </a:r>
            <a:endParaRPr lang="en-HK" sz="18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F90CDFD-00EB-4C9D-AD24-935569DE97A4}"/>
              </a:ext>
            </a:extLst>
          </p:cNvPr>
          <p:cNvSpPr txBox="1"/>
          <p:nvPr/>
        </p:nvSpPr>
        <p:spPr>
          <a:xfrm>
            <a:off x="1219200" y="2665889"/>
            <a:ext cx="24840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solidFill>
                  <a:srgbClr val="0000FF"/>
                </a:solidFill>
                <a:latin typeface="Courier New" pitchFamily="49" charset="0"/>
              </a:rPr>
              <a:t>template</a:t>
            </a:r>
            <a:r>
              <a:rPr lang="en-US" altLang="zh-CN" sz="1000" dirty="0">
                <a:latin typeface="Courier New" pitchFamily="49" charset="0"/>
              </a:rPr>
              <a:t> &lt;</a:t>
            </a:r>
            <a:r>
              <a:rPr lang="en-US" altLang="zh-CN" sz="1000" dirty="0" err="1">
                <a:solidFill>
                  <a:srgbClr val="0000FF"/>
                </a:solidFill>
                <a:latin typeface="Courier New" pitchFamily="49" charset="0"/>
              </a:rPr>
              <a:t>typename</a:t>
            </a:r>
            <a:r>
              <a:rPr lang="en-US" altLang="zh-CN" sz="1000" dirty="0">
                <a:latin typeface="Courier New" pitchFamily="49" charset="0"/>
              </a:rPr>
              <a:t> </a:t>
            </a:r>
            <a:r>
              <a:rPr lang="en-US" altLang="zh-CN" sz="1000" dirty="0">
                <a:solidFill>
                  <a:srgbClr val="C00000"/>
                </a:solidFill>
                <a:latin typeface="Courier New" pitchFamily="49" charset="0"/>
              </a:rPr>
              <a:t>T</a:t>
            </a:r>
            <a:r>
              <a:rPr lang="en-US" altLang="zh-CN" sz="1000" dirty="0">
                <a:latin typeface="Courier New" pitchFamily="49" charset="0"/>
              </a:rPr>
              <a:t>&gt;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solidFill>
                  <a:srgbClr val="C00000"/>
                </a:solidFill>
                <a:latin typeface="Courier New" pitchFamily="49" charset="0"/>
              </a:rPr>
              <a:t>T</a:t>
            </a:r>
            <a:r>
              <a:rPr lang="en-US" altLang="zh-CN" sz="1000" dirty="0">
                <a:latin typeface="Courier New" pitchFamily="49" charset="0"/>
              </a:rPr>
              <a:t> </a:t>
            </a:r>
            <a:r>
              <a:rPr lang="en-US" altLang="zh-CN" sz="1000" dirty="0" err="1">
                <a:latin typeface="Courier New" pitchFamily="49" charset="0"/>
              </a:rPr>
              <a:t>myAdd</a:t>
            </a:r>
            <a:r>
              <a:rPr lang="en-US" altLang="zh-CN" sz="1000" dirty="0">
                <a:latin typeface="Courier New" pitchFamily="49" charset="0"/>
              </a:rPr>
              <a:t>(</a:t>
            </a:r>
            <a:r>
              <a:rPr lang="en-US" altLang="zh-CN" sz="1000" dirty="0">
                <a:solidFill>
                  <a:srgbClr val="C00000"/>
                </a:solidFill>
                <a:latin typeface="Courier New" pitchFamily="49" charset="0"/>
              </a:rPr>
              <a:t>T</a:t>
            </a:r>
            <a:r>
              <a:rPr lang="en-US" altLang="zh-CN" sz="1000" dirty="0">
                <a:latin typeface="Courier New" pitchFamily="49" charset="0"/>
              </a:rPr>
              <a:t> a, </a:t>
            </a:r>
            <a:r>
              <a:rPr lang="en-US" altLang="zh-CN" sz="1000" dirty="0">
                <a:solidFill>
                  <a:srgbClr val="C00000"/>
                </a:solidFill>
                <a:latin typeface="Courier New" pitchFamily="49" charset="0"/>
              </a:rPr>
              <a:t>T</a:t>
            </a:r>
            <a:r>
              <a:rPr lang="en-US" altLang="zh-CN" sz="1000" dirty="0">
                <a:latin typeface="Courier New" pitchFamily="49" charset="0"/>
              </a:rPr>
              <a:t> b)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return a + b;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}</a:t>
            </a:r>
          </a:p>
        </p:txBody>
      </p:sp>
      <p:sp>
        <p:nvSpPr>
          <p:cNvPr id="6" name="文本框 4">
            <a:extLst>
              <a:ext uri="{FF2B5EF4-FFF2-40B4-BE49-F238E27FC236}">
                <a16:creationId xmlns:a16="http://schemas.microsoft.com/office/drawing/2014/main" id="{8FF3C930-624C-442E-B33F-2AF169B96A01}"/>
              </a:ext>
            </a:extLst>
          </p:cNvPr>
          <p:cNvSpPr txBox="1"/>
          <p:nvPr/>
        </p:nvSpPr>
        <p:spPr>
          <a:xfrm>
            <a:off x="1184564" y="3429000"/>
            <a:ext cx="41910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int main()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</a:t>
            </a:r>
            <a:r>
              <a:rPr lang="en-US" altLang="zh-CN" sz="1000" dirty="0" err="1">
                <a:latin typeface="Courier New" pitchFamily="49" charset="0"/>
              </a:rPr>
              <a:t>cout</a:t>
            </a:r>
            <a:r>
              <a:rPr lang="en-US" altLang="zh-CN" sz="1000" dirty="0">
                <a:latin typeface="Courier New" pitchFamily="49" charset="0"/>
              </a:rPr>
              <a:t> &lt;&lt; </a:t>
            </a:r>
            <a:r>
              <a:rPr lang="en-US" altLang="zh-CN" sz="1000" dirty="0" err="1">
                <a:latin typeface="Courier New" pitchFamily="49" charset="0"/>
              </a:rPr>
              <a:t>myAdd</a:t>
            </a:r>
            <a:r>
              <a:rPr lang="en-US" altLang="zh-CN" sz="1000" b="1" dirty="0">
                <a:solidFill>
                  <a:srgbClr val="FF0000"/>
                </a:solidFill>
                <a:latin typeface="Courier New" pitchFamily="49" charset="0"/>
              </a:rPr>
              <a:t>&lt;int&gt;</a:t>
            </a:r>
            <a:r>
              <a:rPr lang="en-US" altLang="zh-CN" sz="1000" dirty="0">
                <a:latin typeface="Courier New" pitchFamily="49" charset="0"/>
              </a:rPr>
              <a:t>(1, 2) &lt;&lt; </a:t>
            </a:r>
            <a:r>
              <a:rPr lang="en-US" altLang="zh-CN" sz="1000" dirty="0" err="1">
                <a:latin typeface="Courier New" pitchFamily="49" charset="0"/>
              </a:rPr>
              <a:t>endl</a:t>
            </a:r>
            <a:r>
              <a:rPr lang="en-US" altLang="zh-CN" sz="1000" dirty="0">
                <a:latin typeface="Courier New" pitchFamily="49" charset="0"/>
              </a:rPr>
              <a:t>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</a:t>
            </a:r>
            <a:r>
              <a:rPr lang="en-US" altLang="zh-CN" sz="1000" dirty="0" err="1">
                <a:latin typeface="Courier New" pitchFamily="49" charset="0"/>
              </a:rPr>
              <a:t>cout</a:t>
            </a:r>
            <a:r>
              <a:rPr lang="en-US" altLang="zh-CN" sz="1000" dirty="0">
                <a:latin typeface="Courier New" pitchFamily="49" charset="0"/>
              </a:rPr>
              <a:t> &lt;&lt; </a:t>
            </a:r>
            <a:r>
              <a:rPr lang="en-US" altLang="zh-CN" sz="1000" dirty="0" err="1">
                <a:latin typeface="Courier New" pitchFamily="49" charset="0"/>
              </a:rPr>
              <a:t>myAdd</a:t>
            </a:r>
            <a:r>
              <a:rPr lang="en-US" altLang="zh-CN" sz="1000" b="1" dirty="0">
                <a:solidFill>
                  <a:srgbClr val="7030A0"/>
                </a:solidFill>
                <a:latin typeface="Courier New" pitchFamily="49" charset="0"/>
              </a:rPr>
              <a:t>&lt;double&gt;</a:t>
            </a:r>
            <a:r>
              <a:rPr lang="en-US" altLang="zh-CN" sz="1000" dirty="0">
                <a:latin typeface="Courier New" pitchFamily="49" charset="0"/>
              </a:rPr>
              <a:t>(1.2, 2.3) &lt;&lt; </a:t>
            </a:r>
            <a:r>
              <a:rPr lang="en-US" altLang="zh-CN" sz="1000" dirty="0" err="1">
                <a:latin typeface="Courier New" pitchFamily="49" charset="0"/>
              </a:rPr>
              <a:t>endl</a:t>
            </a:r>
            <a:r>
              <a:rPr lang="en-US" altLang="zh-CN" sz="1000" dirty="0">
                <a:latin typeface="Courier New" pitchFamily="49" charset="0"/>
              </a:rPr>
              <a:t>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return 0;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}</a:t>
            </a:r>
          </a:p>
        </p:txBody>
      </p:sp>
      <p:sp>
        <p:nvSpPr>
          <p:cNvPr id="7" name="文本框 4">
            <a:extLst>
              <a:ext uri="{FF2B5EF4-FFF2-40B4-BE49-F238E27FC236}">
                <a16:creationId xmlns:a16="http://schemas.microsoft.com/office/drawing/2014/main" id="{7CDB0A4E-40C0-4D3B-9997-974DF6926035}"/>
              </a:ext>
            </a:extLst>
          </p:cNvPr>
          <p:cNvSpPr txBox="1"/>
          <p:nvPr/>
        </p:nvSpPr>
        <p:spPr>
          <a:xfrm>
            <a:off x="5114059" y="2818641"/>
            <a:ext cx="347749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</a:rPr>
              <a:t>// compiler generates and adds the codes below internally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int </a:t>
            </a:r>
            <a:r>
              <a:rPr lang="en-US" altLang="zh-CN" sz="1000" dirty="0" err="1">
                <a:latin typeface="Courier New" pitchFamily="49" charset="0"/>
              </a:rPr>
              <a:t>myAdd</a:t>
            </a:r>
            <a:r>
              <a:rPr lang="en-US" altLang="zh-CN" sz="1000" dirty="0">
                <a:latin typeface="Courier New" pitchFamily="49" charset="0"/>
              </a:rPr>
              <a:t>(int a, int b)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return a + b;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}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1000" dirty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double </a:t>
            </a:r>
            <a:r>
              <a:rPr lang="en-US" altLang="zh-CN" sz="1000" dirty="0" err="1">
                <a:latin typeface="Courier New" pitchFamily="49" charset="0"/>
              </a:rPr>
              <a:t>myAdd</a:t>
            </a:r>
            <a:r>
              <a:rPr lang="en-US" altLang="zh-CN" sz="1000" dirty="0">
                <a:latin typeface="Courier New" pitchFamily="49" charset="0"/>
              </a:rPr>
              <a:t>(double a, double b)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return a + b;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}</a:t>
            </a:r>
          </a:p>
        </p:txBody>
      </p:sp>
      <p:sp>
        <p:nvSpPr>
          <p:cNvPr id="9" name="文本框 4">
            <a:extLst>
              <a:ext uri="{FF2B5EF4-FFF2-40B4-BE49-F238E27FC236}">
                <a16:creationId xmlns:a16="http://schemas.microsoft.com/office/drawing/2014/main" id="{1582AC15-BE85-48B6-B71A-2CDA8DEDDC76}"/>
              </a:ext>
            </a:extLst>
          </p:cNvPr>
          <p:cNvSpPr txBox="1"/>
          <p:nvPr/>
        </p:nvSpPr>
        <p:spPr>
          <a:xfrm>
            <a:off x="5114059" y="4495800"/>
            <a:ext cx="32004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800" dirty="0">
                <a:latin typeface="Courier New" pitchFamily="49" charset="0"/>
              </a:rPr>
              <a:t>int main()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800" dirty="0">
                <a:latin typeface="Courier New" pitchFamily="49" charset="0"/>
              </a:rPr>
              <a:t>  </a:t>
            </a:r>
            <a:r>
              <a:rPr lang="en-US" altLang="zh-CN" sz="800" dirty="0" err="1">
                <a:latin typeface="Courier New" pitchFamily="49" charset="0"/>
              </a:rPr>
              <a:t>myAdd</a:t>
            </a:r>
            <a:r>
              <a:rPr lang="en-US" altLang="zh-CN" sz="800" b="1" dirty="0">
                <a:solidFill>
                  <a:srgbClr val="FF0000"/>
                </a:solidFill>
                <a:latin typeface="Courier New" pitchFamily="49" charset="0"/>
              </a:rPr>
              <a:t>&lt;int&gt;</a:t>
            </a:r>
            <a:r>
              <a:rPr lang="en-US" altLang="zh-CN" sz="800" dirty="0">
                <a:latin typeface="Courier New" pitchFamily="49" charset="0"/>
              </a:rPr>
              <a:t>(1, 2); // explicit deduction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800" dirty="0">
                <a:latin typeface="Courier New" pitchFamily="49" charset="0"/>
              </a:rPr>
              <a:t>  </a:t>
            </a:r>
            <a:r>
              <a:rPr lang="en-US" altLang="zh-CN" sz="800" dirty="0" err="1">
                <a:latin typeface="Courier New" pitchFamily="49" charset="0"/>
              </a:rPr>
              <a:t>myAdd</a:t>
            </a:r>
            <a:r>
              <a:rPr lang="en-US" altLang="zh-CN" sz="800" b="1" dirty="0">
                <a:solidFill>
                  <a:srgbClr val="FF0000"/>
                </a:solidFill>
                <a:latin typeface="Courier New" pitchFamily="49" charset="0"/>
              </a:rPr>
              <a:t>&lt;int&gt;</a:t>
            </a:r>
            <a:r>
              <a:rPr lang="en-US" altLang="zh-CN" sz="800" dirty="0">
                <a:latin typeface="Courier New" pitchFamily="49" charset="0"/>
              </a:rPr>
              <a:t>(1, ‘a’); //implicit conversion can occur in explicit deduction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800" dirty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800" dirty="0">
                <a:latin typeface="Courier New" pitchFamily="49" charset="0"/>
              </a:rPr>
              <a:t>  </a:t>
            </a:r>
            <a:r>
              <a:rPr lang="en-US" altLang="zh-CN" sz="800" dirty="0" err="1">
                <a:latin typeface="Courier New" pitchFamily="49" charset="0"/>
              </a:rPr>
              <a:t>myAdd</a:t>
            </a:r>
            <a:r>
              <a:rPr lang="en-US" altLang="zh-CN" sz="800" dirty="0">
                <a:latin typeface="Courier New" pitchFamily="49" charset="0"/>
              </a:rPr>
              <a:t>(1.2, 2.3); // automatic deduction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800" dirty="0">
                <a:latin typeface="Courier New" pitchFamily="49" charset="0"/>
              </a:rPr>
              <a:t>  </a:t>
            </a:r>
            <a:r>
              <a:rPr lang="en-US" altLang="zh-CN" sz="800" dirty="0" err="1">
                <a:latin typeface="Courier New" pitchFamily="49" charset="0"/>
              </a:rPr>
              <a:t>myAdd</a:t>
            </a:r>
            <a:r>
              <a:rPr lang="en-US" altLang="zh-CN" sz="800" dirty="0">
                <a:latin typeface="Courier New" pitchFamily="49" charset="0"/>
              </a:rPr>
              <a:t>(1.2, 1); // error, inconsistent T type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800" dirty="0">
                <a:latin typeface="Courier New" pitchFamily="49" charset="0"/>
              </a:rPr>
              <a:t>  </a:t>
            </a:r>
            <a:r>
              <a:rPr lang="en-US" altLang="zh-CN" sz="800" dirty="0" err="1">
                <a:latin typeface="Courier New" pitchFamily="49" charset="0"/>
              </a:rPr>
              <a:t>myAdd</a:t>
            </a:r>
            <a:r>
              <a:rPr lang="en-US" altLang="zh-CN" sz="800" dirty="0">
                <a:latin typeface="Courier New" pitchFamily="49" charset="0"/>
              </a:rPr>
              <a:t>(1, ‘a’); // error, no implicit conversion for automatic deduction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800" dirty="0">
                <a:latin typeface="Courier New" pitchFamily="49" charset="0"/>
              </a:rPr>
              <a:t>  return 0;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800" dirty="0">
                <a:latin typeface="Courier New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2B8978-3578-3E08-0FCC-BCA3E8DEE5DA}"/>
              </a:ext>
            </a:extLst>
          </p:cNvPr>
          <p:cNvSpPr txBox="1"/>
          <p:nvPr/>
        </p:nvSpPr>
        <p:spPr>
          <a:xfrm>
            <a:off x="830382" y="6383179"/>
            <a:ext cx="214193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Code: lec11-02-deduction.cpp</a:t>
            </a:r>
          </a:p>
        </p:txBody>
      </p:sp>
    </p:spTree>
    <p:extLst>
      <p:ext uri="{BB962C8B-B14F-4D97-AF65-F5344CB8AC3E}">
        <p14:creationId xmlns:p14="http://schemas.microsoft.com/office/powerpoint/2010/main" val="3111590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9" grpId="0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32C8F-99B2-4EC7-B97E-9278DF8C9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en-HK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A0753E-FDB4-4C76-85BC-447F68B13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653ED2-267D-454B-B9E3-59503D7C3DE8}" type="slidenum">
              <a:rPr lang="zh-TW" altLang="en-US" smtClean="0"/>
              <a:pPr>
                <a:defRPr/>
              </a:pPr>
              <a:t>6</a:t>
            </a:fld>
            <a:endParaRPr lang="en-US" altLang="zh-TW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9FCB25-4570-4968-9AB4-ADD9C8F7E72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Sort</a:t>
            </a:r>
            <a:r>
              <a:rPr lang="en-US" sz="2400" dirty="0"/>
              <a:t> using </a:t>
            </a:r>
            <a:r>
              <a:rPr lang="en-US" sz="2400" dirty="0">
                <a:solidFill>
                  <a:srgbClr val="7030A0"/>
                </a:solidFill>
              </a:rPr>
              <a:t>templates</a:t>
            </a:r>
            <a:endParaRPr lang="en-US" sz="2000" dirty="0">
              <a:solidFill>
                <a:srgbClr val="FFC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mySwap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(…)</a:t>
            </a:r>
            <a:r>
              <a:rPr lang="en-US" sz="2000" dirty="0"/>
              <a:t>,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mySort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(T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[], int n)</a:t>
            </a:r>
            <a:r>
              <a:rPr lang="en-US" sz="2000" dirty="0"/>
              <a:t>and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print(…)</a:t>
            </a:r>
          </a:p>
          <a:p>
            <a:pPr lvl="1"/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typename</a:t>
            </a:r>
            <a:r>
              <a:rPr lang="en-US" sz="2000" dirty="0">
                <a:cs typeface="Courier New" panose="02070309020205020404" pitchFamily="49" charset="0"/>
              </a:rPr>
              <a:t> can be </a:t>
            </a:r>
            <a:r>
              <a:rPr lang="en-US" sz="2000" dirty="0">
                <a:solidFill>
                  <a:srgbClr val="FF0000"/>
                </a:solidFill>
                <a:cs typeface="Courier New" panose="02070309020205020404" pitchFamily="49" charset="0"/>
              </a:rPr>
              <a:t>replaced</a:t>
            </a:r>
            <a:r>
              <a:rPr lang="en-US" sz="2000" dirty="0">
                <a:cs typeface="Courier New" panose="02070309020205020404" pitchFamily="49" charset="0"/>
              </a:rPr>
              <a:t> by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endParaRPr lang="en-HK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DF830F6-8BD9-468F-8671-FF31F25FC19B}"/>
              </a:ext>
            </a:extLst>
          </p:cNvPr>
          <p:cNvSpPr txBox="1"/>
          <p:nvPr/>
        </p:nvSpPr>
        <p:spPr>
          <a:xfrm>
            <a:off x="914400" y="3081278"/>
            <a:ext cx="3477491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fr-FR" altLang="zh-CN" sz="1000" dirty="0" err="1">
                <a:latin typeface="Courier New" pitchFamily="49" charset="0"/>
              </a:rPr>
              <a:t>template</a:t>
            </a:r>
            <a:r>
              <a:rPr lang="fr-FR" altLang="zh-CN" sz="1000" dirty="0">
                <a:latin typeface="Courier New" pitchFamily="49" charset="0"/>
              </a:rPr>
              <a:t> &lt;class T&gt;</a:t>
            </a:r>
          </a:p>
          <a:p>
            <a:pPr eaLnBrk="1" hangingPunct="1">
              <a:buFont typeface="Wingdings" pitchFamily="2" charset="2"/>
              <a:buNone/>
            </a:pPr>
            <a:r>
              <a:rPr lang="fr-FR" altLang="zh-CN" sz="1000" dirty="0" err="1">
                <a:latin typeface="Courier New" pitchFamily="49" charset="0"/>
              </a:rPr>
              <a:t>void</a:t>
            </a:r>
            <a:r>
              <a:rPr lang="fr-FR" altLang="zh-CN" sz="1000" dirty="0">
                <a:latin typeface="Courier New" pitchFamily="49" charset="0"/>
              </a:rPr>
              <a:t> </a:t>
            </a:r>
            <a:r>
              <a:rPr lang="fr-FR" altLang="zh-CN" sz="1000" dirty="0" err="1">
                <a:latin typeface="Courier New" pitchFamily="49" charset="0"/>
              </a:rPr>
              <a:t>mySwap</a:t>
            </a:r>
            <a:r>
              <a:rPr lang="fr-FR" altLang="zh-CN" sz="1000" dirty="0">
                <a:latin typeface="Courier New" pitchFamily="49" charset="0"/>
              </a:rPr>
              <a:t>(T &amp;a, T &amp;b) {</a:t>
            </a:r>
          </a:p>
          <a:p>
            <a:pPr eaLnBrk="1" hangingPunct="1">
              <a:buFont typeface="Wingdings" pitchFamily="2" charset="2"/>
              <a:buNone/>
            </a:pPr>
            <a:r>
              <a:rPr lang="fr-FR" altLang="zh-CN" sz="1000" dirty="0">
                <a:latin typeface="Courier New" pitchFamily="49" charset="0"/>
              </a:rPr>
              <a:t>    T temp = a;</a:t>
            </a:r>
          </a:p>
          <a:p>
            <a:pPr eaLnBrk="1" hangingPunct="1">
              <a:buFont typeface="Wingdings" pitchFamily="2" charset="2"/>
              <a:buNone/>
            </a:pPr>
            <a:r>
              <a:rPr lang="fr-FR" altLang="zh-CN" sz="1000" dirty="0">
                <a:latin typeface="Courier New" pitchFamily="49" charset="0"/>
              </a:rPr>
              <a:t>    a = b;</a:t>
            </a:r>
          </a:p>
          <a:p>
            <a:pPr eaLnBrk="1" hangingPunct="1">
              <a:buFont typeface="Wingdings" pitchFamily="2" charset="2"/>
              <a:buNone/>
            </a:pPr>
            <a:r>
              <a:rPr lang="fr-FR" altLang="zh-CN" sz="1000" dirty="0">
                <a:latin typeface="Courier New" pitchFamily="49" charset="0"/>
              </a:rPr>
              <a:t>    b = temp;</a:t>
            </a:r>
          </a:p>
          <a:p>
            <a:pPr eaLnBrk="1" hangingPunct="1">
              <a:buFont typeface="Wingdings" pitchFamily="2" charset="2"/>
              <a:buNone/>
            </a:pPr>
            <a:r>
              <a:rPr lang="fr-FR" altLang="zh-CN" sz="1000" dirty="0">
                <a:latin typeface="Courier New" pitchFamily="49" charset="0"/>
              </a:rPr>
              <a:t>}</a:t>
            </a:r>
          </a:p>
          <a:p>
            <a:pPr eaLnBrk="1" hangingPunct="1">
              <a:buFont typeface="Wingdings" pitchFamily="2" charset="2"/>
              <a:buNone/>
            </a:pPr>
            <a:endParaRPr lang="fr-FR" altLang="zh-CN" sz="1000" dirty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template &lt;class T&gt;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void </a:t>
            </a:r>
            <a:r>
              <a:rPr lang="en-US" altLang="zh-CN" sz="1000" dirty="0" err="1">
                <a:latin typeface="Courier New" pitchFamily="49" charset="0"/>
              </a:rPr>
              <a:t>mySort</a:t>
            </a:r>
            <a:r>
              <a:rPr lang="en-US" altLang="zh-CN" sz="1000" dirty="0">
                <a:latin typeface="Courier New" pitchFamily="49" charset="0"/>
              </a:rPr>
              <a:t>(T </a:t>
            </a:r>
            <a:r>
              <a:rPr lang="en-US" altLang="zh-CN" sz="1000" dirty="0" err="1">
                <a:latin typeface="Courier New" pitchFamily="49" charset="0"/>
              </a:rPr>
              <a:t>arr</a:t>
            </a:r>
            <a:r>
              <a:rPr lang="en-US" altLang="zh-CN" sz="1000" dirty="0">
                <a:latin typeface="Courier New" pitchFamily="49" charset="0"/>
              </a:rPr>
              <a:t>[], int n)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  for (int j=0; j&lt;n-1; </a:t>
            </a:r>
            <a:r>
              <a:rPr lang="en-US" altLang="zh-CN" sz="1000" dirty="0" err="1">
                <a:latin typeface="Courier New" pitchFamily="49" charset="0"/>
              </a:rPr>
              <a:t>j++</a:t>
            </a:r>
            <a:r>
              <a:rPr lang="en-US" altLang="zh-CN" sz="1000" dirty="0">
                <a:latin typeface="Courier New" pitchFamily="49" charset="0"/>
              </a:rPr>
              <a:t>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      for (int k=n-1; k&gt;j; k--)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          if (</a:t>
            </a:r>
            <a:r>
              <a:rPr lang="en-US" altLang="zh-CN" sz="1000" dirty="0" err="1">
                <a:latin typeface="Courier New" pitchFamily="49" charset="0"/>
              </a:rPr>
              <a:t>arr</a:t>
            </a:r>
            <a:r>
              <a:rPr lang="en-US" altLang="zh-CN" sz="1000" dirty="0">
                <a:latin typeface="Courier New" pitchFamily="49" charset="0"/>
              </a:rPr>
              <a:t>[k-1] &gt; </a:t>
            </a:r>
            <a:r>
              <a:rPr lang="en-US" altLang="zh-CN" sz="1000" dirty="0" err="1">
                <a:latin typeface="Courier New" pitchFamily="49" charset="0"/>
              </a:rPr>
              <a:t>arr</a:t>
            </a:r>
            <a:r>
              <a:rPr lang="en-US" altLang="zh-CN" sz="1000" dirty="0">
                <a:latin typeface="Courier New" pitchFamily="49" charset="0"/>
              </a:rPr>
              <a:t>[k])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              </a:t>
            </a:r>
            <a:r>
              <a:rPr lang="en-US" altLang="zh-CN" sz="1000" dirty="0" err="1">
                <a:latin typeface="Courier New" pitchFamily="49" charset="0"/>
              </a:rPr>
              <a:t>mySwap</a:t>
            </a:r>
            <a:r>
              <a:rPr lang="en-US" altLang="zh-CN" sz="1000" dirty="0">
                <a:latin typeface="Courier New" pitchFamily="49" charset="0"/>
              </a:rPr>
              <a:t>(</a:t>
            </a:r>
            <a:r>
              <a:rPr lang="en-US" altLang="zh-CN" sz="1000" dirty="0" err="1">
                <a:latin typeface="Courier New" pitchFamily="49" charset="0"/>
              </a:rPr>
              <a:t>arr</a:t>
            </a:r>
            <a:r>
              <a:rPr lang="en-US" altLang="zh-CN" sz="1000" dirty="0">
                <a:latin typeface="Courier New" pitchFamily="49" charset="0"/>
              </a:rPr>
              <a:t>[k-1], </a:t>
            </a:r>
            <a:r>
              <a:rPr lang="en-US" altLang="zh-CN" sz="1000" dirty="0" err="1">
                <a:latin typeface="Courier New" pitchFamily="49" charset="0"/>
              </a:rPr>
              <a:t>arr</a:t>
            </a:r>
            <a:r>
              <a:rPr lang="en-US" altLang="zh-CN" sz="1000" dirty="0">
                <a:latin typeface="Courier New" pitchFamily="49" charset="0"/>
              </a:rPr>
              <a:t>[k]);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          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      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  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}</a:t>
            </a:r>
          </a:p>
        </p:txBody>
      </p:sp>
      <p:sp>
        <p:nvSpPr>
          <p:cNvPr id="6" name="文本框 4">
            <a:extLst>
              <a:ext uri="{FF2B5EF4-FFF2-40B4-BE49-F238E27FC236}">
                <a16:creationId xmlns:a16="http://schemas.microsoft.com/office/drawing/2014/main" id="{AFBAF7ED-C82B-476F-A92E-289D21D709F2}"/>
              </a:ext>
            </a:extLst>
          </p:cNvPr>
          <p:cNvSpPr txBox="1"/>
          <p:nvPr/>
        </p:nvSpPr>
        <p:spPr>
          <a:xfrm>
            <a:off x="4419600" y="3076813"/>
            <a:ext cx="4369377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fr-FR" altLang="zh-CN" sz="1000" dirty="0" err="1">
                <a:latin typeface="Courier New" pitchFamily="49" charset="0"/>
              </a:rPr>
              <a:t>template</a:t>
            </a:r>
            <a:r>
              <a:rPr lang="fr-FR" altLang="zh-CN" sz="1000" dirty="0">
                <a:latin typeface="Courier New" pitchFamily="49" charset="0"/>
              </a:rPr>
              <a:t> &lt;class T&gt;</a:t>
            </a:r>
          </a:p>
          <a:p>
            <a:pPr eaLnBrk="1" hangingPunct="1">
              <a:buFont typeface="Wingdings" pitchFamily="2" charset="2"/>
              <a:buNone/>
            </a:pPr>
            <a:r>
              <a:rPr lang="fr-FR" altLang="zh-CN" sz="1000" dirty="0" err="1">
                <a:latin typeface="Courier New" pitchFamily="49" charset="0"/>
              </a:rPr>
              <a:t>void</a:t>
            </a:r>
            <a:r>
              <a:rPr lang="fr-FR" altLang="zh-CN" sz="1000" dirty="0">
                <a:latin typeface="Courier New" pitchFamily="49" charset="0"/>
              </a:rPr>
              <a:t> </a:t>
            </a:r>
            <a:r>
              <a:rPr lang="fr-FR" altLang="zh-CN" sz="1000" dirty="0" err="1">
                <a:latin typeface="Courier New" pitchFamily="49" charset="0"/>
              </a:rPr>
              <a:t>print</a:t>
            </a:r>
            <a:r>
              <a:rPr lang="fr-FR" altLang="zh-CN" sz="1000" dirty="0">
                <a:latin typeface="Courier New" pitchFamily="49" charset="0"/>
              </a:rPr>
              <a:t>(T </a:t>
            </a:r>
            <a:r>
              <a:rPr lang="fr-FR" altLang="zh-CN" sz="1000" dirty="0" err="1">
                <a:latin typeface="Courier New" pitchFamily="49" charset="0"/>
              </a:rPr>
              <a:t>arr</a:t>
            </a:r>
            <a:r>
              <a:rPr lang="fr-FR" altLang="zh-CN" sz="1000" dirty="0">
                <a:latin typeface="Courier New" pitchFamily="49" charset="0"/>
              </a:rPr>
              <a:t>[], </a:t>
            </a:r>
            <a:r>
              <a:rPr lang="fr-FR" altLang="zh-CN" sz="1000" dirty="0" err="1">
                <a:latin typeface="Courier New" pitchFamily="49" charset="0"/>
              </a:rPr>
              <a:t>int</a:t>
            </a:r>
            <a:r>
              <a:rPr lang="fr-FR" altLang="zh-CN" sz="1000" dirty="0">
                <a:latin typeface="Courier New" pitchFamily="49" charset="0"/>
              </a:rPr>
              <a:t> n) {</a:t>
            </a:r>
          </a:p>
          <a:p>
            <a:pPr eaLnBrk="1" hangingPunct="1">
              <a:buFont typeface="Wingdings" pitchFamily="2" charset="2"/>
              <a:buNone/>
            </a:pPr>
            <a:r>
              <a:rPr lang="fr-FR" altLang="zh-CN" sz="1000" dirty="0">
                <a:latin typeface="Courier New" pitchFamily="49" charset="0"/>
              </a:rPr>
              <a:t>    for (</a:t>
            </a:r>
            <a:r>
              <a:rPr lang="fr-FR" altLang="zh-CN" sz="1000" dirty="0" err="1">
                <a:latin typeface="Courier New" pitchFamily="49" charset="0"/>
              </a:rPr>
              <a:t>int</a:t>
            </a:r>
            <a:r>
              <a:rPr lang="fr-FR" altLang="zh-CN" sz="1000" dirty="0">
                <a:latin typeface="Courier New" pitchFamily="49" charset="0"/>
              </a:rPr>
              <a:t> i=0; i&lt;n; i++) {</a:t>
            </a:r>
          </a:p>
          <a:p>
            <a:pPr eaLnBrk="1" hangingPunct="1">
              <a:buFont typeface="Wingdings" pitchFamily="2" charset="2"/>
              <a:buNone/>
            </a:pPr>
            <a:r>
              <a:rPr lang="fr-FR" altLang="zh-CN" sz="1000" dirty="0">
                <a:latin typeface="Courier New" pitchFamily="49" charset="0"/>
              </a:rPr>
              <a:t>        cout &lt;&lt; </a:t>
            </a:r>
            <a:r>
              <a:rPr lang="fr-FR" altLang="zh-CN" sz="1000" dirty="0" err="1">
                <a:latin typeface="Courier New" pitchFamily="49" charset="0"/>
              </a:rPr>
              <a:t>arr</a:t>
            </a:r>
            <a:r>
              <a:rPr lang="fr-FR" altLang="zh-CN" sz="1000" dirty="0">
                <a:latin typeface="Courier New" pitchFamily="49" charset="0"/>
              </a:rPr>
              <a:t>[i] &lt;&lt; " ";</a:t>
            </a:r>
          </a:p>
          <a:p>
            <a:pPr eaLnBrk="1" hangingPunct="1">
              <a:buFont typeface="Wingdings" pitchFamily="2" charset="2"/>
              <a:buNone/>
            </a:pPr>
            <a:r>
              <a:rPr lang="fr-FR" altLang="zh-CN" sz="1000" dirty="0">
                <a:latin typeface="Courier New" pitchFamily="49" charset="0"/>
              </a:rPr>
              <a:t>    }</a:t>
            </a:r>
          </a:p>
          <a:p>
            <a:pPr eaLnBrk="1" hangingPunct="1">
              <a:buFont typeface="Wingdings" pitchFamily="2" charset="2"/>
              <a:buNone/>
            </a:pPr>
            <a:r>
              <a:rPr lang="fr-FR" altLang="zh-CN" sz="1000" dirty="0">
                <a:latin typeface="Courier New" pitchFamily="49" charset="0"/>
              </a:rPr>
              <a:t>    cout &lt;&lt; </a:t>
            </a:r>
            <a:r>
              <a:rPr lang="fr-FR" altLang="zh-CN" sz="1000" dirty="0" err="1">
                <a:latin typeface="Courier New" pitchFamily="49" charset="0"/>
              </a:rPr>
              <a:t>endl</a:t>
            </a:r>
            <a:r>
              <a:rPr lang="fr-FR" altLang="zh-CN" sz="1000" dirty="0">
                <a:latin typeface="Courier New" pitchFamily="49" charset="0"/>
              </a:rPr>
              <a:t>;</a:t>
            </a:r>
          </a:p>
          <a:p>
            <a:pPr eaLnBrk="1" hangingPunct="1">
              <a:buFont typeface="Wingdings" pitchFamily="2" charset="2"/>
              <a:buNone/>
            </a:pPr>
            <a:r>
              <a:rPr lang="fr-FR" altLang="zh-CN" sz="1000" dirty="0">
                <a:latin typeface="Courier New" pitchFamily="49" charset="0"/>
              </a:rPr>
              <a:t>}</a:t>
            </a:r>
          </a:p>
          <a:p>
            <a:pPr eaLnBrk="1" hangingPunct="1">
              <a:buFont typeface="Wingdings" pitchFamily="2" charset="2"/>
              <a:buNone/>
            </a:pPr>
            <a:endParaRPr lang="fr-FR" altLang="zh-CN" sz="1000" dirty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fr-FR" altLang="zh-CN" sz="1000" dirty="0" err="1">
                <a:latin typeface="Courier New" pitchFamily="49" charset="0"/>
              </a:rPr>
              <a:t>int</a:t>
            </a:r>
            <a:r>
              <a:rPr lang="fr-FR" altLang="zh-CN" sz="1000" dirty="0">
                <a:latin typeface="Courier New" pitchFamily="49" charset="0"/>
              </a:rPr>
              <a:t> main() {</a:t>
            </a:r>
          </a:p>
          <a:p>
            <a:pPr eaLnBrk="1" hangingPunct="1">
              <a:buFont typeface="Wingdings" pitchFamily="2" charset="2"/>
              <a:buNone/>
            </a:pPr>
            <a:r>
              <a:rPr lang="fr-FR" altLang="zh-CN" sz="1000" dirty="0">
                <a:latin typeface="Courier New" pitchFamily="49" charset="0"/>
              </a:rPr>
              <a:t>    </a:t>
            </a:r>
            <a:r>
              <a:rPr lang="fr-FR" altLang="zh-CN" sz="1000" dirty="0" err="1">
                <a:latin typeface="Courier New" pitchFamily="49" charset="0"/>
              </a:rPr>
              <a:t>int</a:t>
            </a:r>
            <a:r>
              <a:rPr lang="fr-FR" altLang="zh-CN" sz="1000" dirty="0">
                <a:latin typeface="Courier New" pitchFamily="49" charset="0"/>
              </a:rPr>
              <a:t> </a:t>
            </a:r>
            <a:r>
              <a:rPr lang="fr-FR" altLang="zh-CN" sz="1000" dirty="0" err="1">
                <a:latin typeface="Courier New" pitchFamily="49" charset="0"/>
              </a:rPr>
              <a:t>arr_int</a:t>
            </a:r>
            <a:r>
              <a:rPr lang="fr-FR" altLang="zh-CN" sz="1000" dirty="0">
                <a:latin typeface="Courier New" pitchFamily="49" charset="0"/>
              </a:rPr>
              <a:t>[] = {3, 8, 7, 9, 0, 2, 4, 1, 5, 6};</a:t>
            </a:r>
          </a:p>
          <a:p>
            <a:pPr eaLnBrk="1" hangingPunct="1">
              <a:buFont typeface="Wingdings" pitchFamily="2" charset="2"/>
              <a:buNone/>
            </a:pPr>
            <a:r>
              <a:rPr lang="fr-FR" altLang="zh-CN" sz="1000" dirty="0">
                <a:latin typeface="Courier New" pitchFamily="49" charset="0"/>
              </a:rPr>
              <a:t>    </a:t>
            </a:r>
            <a:r>
              <a:rPr lang="fr-FR" altLang="zh-CN" sz="1000" dirty="0" err="1">
                <a:latin typeface="Courier New" pitchFamily="49" charset="0"/>
              </a:rPr>
              <a:t>int</a:t>
            </a:r>
            <a:r>
              <a:rPr lang="fr-FR" altLang="zh-CN" sz="1000" dirty="0">
                <a:latin typeface="Courier New" pitchFamily="49" charset="0"/>
              </a:rPr>
              <a:t> n = </a:t>
            </a:r>
            <a:r>
              <a:rPr lang="fr-FR" altLang="zh-CN" sz="1000" dirty="0" err="1">
                <a:latin typeface="Courier New" pitchFamily="49" charset="0"/>
              </a:rPr>
              <a:t>sizeof</a:t>
            </a:r>
            <a:r>
              <a:rPr lang="fr-FR" altLang="zh-CN" sz="1000" dirty="0">
                <a:latin typeface="Courier New" pitchFamily="49" charset="0"/>
              </a:rPr>
              <a:t>(</a:t>
            </a:r>
            <a:r>
              <a:rPr lang="fr-FR" altLang="zh-CN" sz="1000" dirty="0" err="1">
                <a:latin typeface="Courier New" pitchFamily="49" charset="0"/>
              </a:rPr>
              <a:t>arr_int</a:t>
            </a:r>
            <a:r>
              <a:rPr lang="fr-FR" altLang="zh-CN" sz="1000" dirty="0">
                <a:latin typeface="Courier New" pitchFamily="49" charset="0"/>
              </a:rPr>
              <a:t>) / </a:t>
            </a:r>
            <a:r>
              <a:rPr lang="fr-FR" altLang="zh-CN" sz="1000" dirty="0" err="1">
                <a:latin typeface="Courier New" pitchFamily="49" charset="0"/>
              </a:rPr>
              <a:t>sizeof</a:t>
            </a:r>
            <a:r>
              <a:rPr lang="fr-FR" altLang="zh-CN" sz="1000" dirty="0">
                <a:latin typeface="Courier New" pitchFamily="49" charset="0"/>
              </a:rPr>
              <a:t>(</a:t>
            </a:r>
            <a:r>
              <a:rPr lang="fr-FR" altLang="zh-CN" sz="1000" dirty="0" err="1">
                <a:latin typeface="Courier New" pitchFamily="49" charset="0"/>
              </a:rPr>
              <a:t>arr_int</a:t>
            </a:r>
            <a:r>
              <a:rPr lang="fr-FR" altLang="zh-CN" sz="1000" dirty="0">
                <a:latin typeface="Courier New" pitchFamily="49" charset="0"/>
              </a:rPr>
              <a:t>[0]);</a:t>
            </a:r>
          </a:p>
          <a:p>
            <a:pPr eaLnBrk="1" hangingPunct="1">
              <a:buFont typeface="Wingdings" pitchFamily="2" charset="2"/>
              <a:buNone/>
            </a:pPr>
            <a:r>
              <a:rPr lang="fr-FR" altLang="zh-CN" sz="1000" dirty="0">
                <a:latin typeface="Courier New" pitchFamily="49" charset="0"/>
              </a:rPr>
              <a:t>    </a:t>
            </a:r>
            <a:r>
              <a:rPr lang="fr-FR" altLang="zh-CN" sz="1000" dirty="0" err="1">
                <a:latin typeface="Courier New" pitchFamily="49" charset="0"/>
              </a:rPr>
              <a:t>mySort</a:t>
            </a:r>
            <a:r>
              <a:rPr lang="fr-FR" altLang="zh-CN" sz="1000" dirty="0">
                <a:latin typeface="Courier New" pitchFamily="49" charset="0"/>
              </a:rPr>
              <a:t>(</a:t>
            </a:r>
            <a:r>
              <a:rPr lang="fr-FR" altLang="zh-CN" sz="1000" dirty="0" err="1">
                <a:latin typeface="Courier New" pitchFamily="49" charset="0"/>
              </a:rPr>
              <a:t>arr_int</a:t>
            </a:r>
            <a:r>
              <a:rPr lang="fr-FR" altLang="zh-CN" sz="1000" dirty="0">
                <a:latin typeface="Courier New" pitchFamily="49" charset="0"/>
              </a:rPr>
              <a:t>, n);</a:t>
            </a:r>
          </a:p>
          <a:p>
            <a:pPr eaLnBrk="1" hangingPunct="1">
              <a:buFont typeface="Wingdings" pitchFamily="2" charset="2"/>
              <a:buNone/>
            </a:pPr>
            <a:r>
              <a:rPr lang="fr-FR" altLang="zh-CN" sz="1000" dirty="0">
                <a:latin typeface="Courier New" pitchFamily="49" charset="0"/>
              </a:rPr>
              <a:t>    </a:t>
            </a:r>
            <a:r>
              <a:rPr lang="fr-FR" altLang="zh-CN" sz="1000" dirty="0" err="1">
                <a:latin typeface="Courier New" pitchFamily="49" charset="0"/>
              </a:rPr>
              <a:t>print</a:t>
            </a:r>
            <a:r>
              <a:rPr lang="fr-FR" altLang="zh-CN" sz="1000" dirty="0">
                <a:latin typeface="Courier New" pitchFamily="49" charset="0"/>
              </a:rPr>
              <a:t>(</a:t>
            </a:r>
            <a:r>
              <a:rPr lang="fr-FR" altLang="zh-CN" sz="1000" dirty="0" err="1">
                <a:latin typeface="Courier New" pitchFamily="49" charset="0"/>
              </a:rPr>
              <a:t>arr_int</a:t>
            </a:r>
            <a:r>
              <a:rPr lang="fr-FR" altLang="zh-CN" sz="1000" dirty="0">
                <a:latin typeface="Courier New" pitchFamily="49" charset="0"/>
              </a:rPr>
              <a:t>, n);</a:t>
            </a:r>
          </a:p>
          <a:p>
            <a:pPr eaLnBrk="1" hangingPunct="1">
              <a:buFont typeface="Wingdings" pitchFamily="2" charset="2"/>
              <a:buNone/>
            </a:pPr>
            <a:endParaRPr lang="fr-FR" altLang="zh-CN" sz="1000" dirty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fr-FR" altLang="zh-CN" sz="1000" dirty="0">
                <a:latin typeface="Courier New" pitchFamily="49" charset="0"/>
              </a:rPr>
              <a:t>    char </a:t>
            </a:r>
            <a:r>
              <a:rPr lang="fr-FR" altLang="zh-CN" sz="1000" dirty="0" err="1">
                <a:latin typeface="Courier New" pitchFamily="49" charset="0"/>
              </a:rPr>
              <a:t>arr_char</a:t>
            </a:r>
            <a:r>
              <a:rPr lang="fr-FR" altLang="zh-CN" sz="1000" dirty="0">
                <a:latin typeface="Courier New" pitchFamily="49" charset="0"/>
              </a:rPr>
              <a:t>[] = {'C', 'S', '2', '3', '1', '0'};</a:t>
            </a:r>
          </a:p>
          <a:p>
            <a:pPr eaLnBrk="1" hangingPunct="1">
              <a:buFont typeface="Wingdings" pitchFamily="2" charset="2"/>
              <a:buNone/>
            </a:pPr>
            <a:r>
              <a:rPr lang="fr-FR" altLang="zh-CN" sz="1000" dirty="0">
                <a:latin typeface="Courier New" pitchFamily="49" charset="0"/>
              </a:rPr>
              <a:t>    n = </a:t>
            </a:r>
            <a:r>
              <a:rPr lang="fr-FR" altLang="zh-CN" sz="1000" dirty="0" err="1">
                <a:latin typeface="Courier New" pitchFamily="49" charset="0"/>
              </a:rPr>
              <a:t>sizeof</a:t>
            </a:r>
            <a:r>
              <a:rPr lang="fr-FR" altLang="zh-CN" sz="1000" dirty="0">
                <a:latin typeface="Courier New" pitchFamily="49" charset="0"/>
              </a:rPr>
              <a:t>(</a:t>
            </a:r>
            <a:r>
              <a:rPr lang="fr-FR" altLang="zh-CN" sz="1000" dirty="0" err="1">
                <a:latin typeface="Courier New" pitchFamily="49" charset="0"/>
              </a:rPr>
              <a:t>arr_char</a:t>
            </a:r>
            <a:r>
              <a:rPr lang="fr-FR" altLang="zh-CN" sz="1000" dirty="0">
                <a:latin typeface="Courier New" pitchFamily="49" charset="0"/>
              </a:rPr>
              <a:t>) / </a:t>
            </a:r>
            <a:r>
              <a:rPr lang="fr-FR" altLang="zh-CN" sz="1000" dirty="0" err="1">
                <a:latin typeface="Courier New" pitchFamily="49" charset="0"/>
              </a:rPr>
              <a:t>sizeof</a:t>
            </a:r>
            <a:r>
              <a:rPr lang="fr-FR" altLang="zh-CN" sz="1000" dirty="0">
                <a:latin typeface="Courier New" pitchFamily="49" charset="0"/>
              </a:rPr>
              <a:t>(</a:t>
            </a:r>
            <a:r>
              <a:rPr lang="fr-FR" altLang="zh-CN" sz="1000" dirty="0" err="1">
                <a:latin typeface="Courier New" pitchFamily="49" charset="0"/>
              </a:rPr>
              <a:t>arr_char</a:t>
            </a:r>
            <a:r>
              <a:rPr lang="fr-FR" altLang="zh-CN" sz="1000" dirty="0">
                <a:latin typeface="Courier New" pitchFamily="49" charset="0"/>
              </a:rPr>
              <a:t>[0]);</a:t>
            </a:r>
          </a:p>
          <a:p>
            <a:pPr eaLnBrk="1" hangingPunct="1">
              <a:buFont typeface="Wingdings" pitchFamily="2" charset="2"/>
              <a:buNone/>
            </a:pPr>
            <a:r>
              <a:rPr lang="fr-FR" altLang="zh-CN" sz="1000" dirty="0">
                <a:latin typeface="Courier New" pitchFamily="49" charset="0"/>
              </a:rPr>
              <a:t>    </a:t>
            </a:r>
            <a:r>
              <a:rPr lang="fr-FR" altLang="zh-CN" sz="1000" dirty="0" err="1">
                <a:latin typeface="Courier New" pitchFamily="49" charset="0"/>
              </a:rPr>
              <a:t>mySort</a:t>
            </a:r>
            <a:r>
              <a:rPr lang="fr-FR" altLang="zh-CN" sz="1000" dirty="0">
                <a:latin typeface="Courier New" pitchFamily="49" charset="0"/>
              </a:rPr>
              <a:t>(</a:t>
            </a:r>
            <a:r>
              <a:rPr lang="fr-FR" altLang="zh-CN" sz="1000" dirty="0" err="1">
                <a:latin typeface="Courier New" pitchFamily="49" charset="0"/>
              </a:rPr>
              <a:t>arr_char</a:t>
            </a:r>
            <a:r>
              <a:rPr lang="fr-FR" altLang="zh-CN" sz="1000" dirty="0">
                <a:latin typeface="Courier New" pitchFamily="49" charset="0"/>
              </a:rPr>
              <a:t>, n);</a:t>
            </a:r>
          </a:p>
          <a:p>
            <a:pPr eaLnBrk="1" hangingPunct="1">
              <a:buFont typeface="Wingdings" pitchFamily="2" charset="2"/>
              <a:buNone/>
            </a:pPr>
            <a:r>
              <a:rPr lang="fr-FR" altLang="zh-CN" sz="1000" dirty="0">
                <a:latin typeface="Courier New" pitchFamily="49" charset="0"/>
              </a:rPr>
              <a:t>    </a:t>
            </a:r>
            <a:r>
              <a:rPr lang="fr-FR" altLang="zh-CN" sz="1000" dirty="0" err="1">
                <a:latin typeface="Courier New" pitchFamily="49" charset="0"/>
              </a:rPr>
              <a:t>print</a:t>
            </a:r>
            <a:r>
              <a:rPr lang="fr-FR" altLang="zh-CN" sz="1000" dirty="0">
                <a:latin typeface="Courier New" pitchFamily="49" charset="0"/>
              </a:rPr>
              <a:t>(</a:t>
            </a:r>
            <a:r>
              <a:rPr lang="fr-FR" altLang="zh-CN" sz="1000" dirty="0" err="1">
                <a:latin typeface="Courier New" pitchFamily="49" charset="0"/>
              </a:rPr>
              <a:t>arr_char</a:t>
            </a:r>
            <a:r>
              <a:rPr lang="fr-FR" altLang="zh-CN" sz="1000" dirty="0">
                <a:latin typeface="Courier New" pitchFamily="49" charset="0"/>
              </a:rPr>
              <a:t>, n);</a:t>
            </a:r>
          </a:p>
          <a:p>
            <a:pPr eaLnBrk="1" hangingPunct="1">
              <a:buFont typeface="Wingdings" pitchFamily="2" charset="2"/>
              <a:buNone/>
            </a:pPr>
            <a:endParaRPr lang="fr-FR" altLang="zh-CN" sz="1000" dirty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fr-FR" altLang="zh-CN" sz="1000" dirty="0">
                <a:latin typeface="Courier New" pitchFamily="49" charset="0"/>
              </a:rPr>
              <a:t>    return 0;</a:t>
            </a:r>
          </a:p>
          <a:p>
            <a:pPr eaLnBrk="1" hangingPunct="1">
              <a:buFont typeface="Wingdings" pitchFamily="2" charset="2"/>
              <a:buNone/>
            </a:pPr>
            <a:r>
              <a:rPr lang="fr-FR" altLang="zh-CN" sz="1000" dirty="0">
                <a:latin typeface="Courier New" pitchFamily="49" charset="0"/>
              </a:rPr>
              <a:t>}</a:t>
            </a:r>
            <a:endParaRPr lang="en-US" altLang="zh-CN" sz="1000" dirty="0">
              <a:latin typeface="Courier New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E7BD2A-3672-448B-A604-0FEF5FDD3FB2}"/>
              </a:ext>
            </a:extLst>
          </p:cNvPr>
          <p:cNvSpPr txBox="1"/>
          <p:nvPr/>
        </p:nvSpPr>
        <p:spPr>
          <a:xfrm>
            <a:off x="830382" y="6383179"/>
            <a:ext cx="17604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Code: lec11-03-sort.cpp</a:t>
            </a:r>
          </a:p>
        </p:txBody>
      </p:sp>
    </p:spTree>
    <p:extLst>
      <p:ext uri="{BB962C8B-B14F-4D97-AF65-F5344CB8AC3E}">
        <p14:creationId xmlns:p14="http://schemas.microsoft.com/office/powerpoint/2010/main" val="1029078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A3071-97D4-4F59-8C0D-28F3529BA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Calls Involving Templates</a:t>
            </a:r>
            <a:endParaRPr lang="en-HK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30A55DB-9CB7-4528-9033-5AC2B74D0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653ED2-267D-454B-B9E3-59503D7C3DE8}" type="slidenum">
              <a:rPr lang="zh-TW" altLang="en-US" smtClean="0"/>
              <a:pPr>
                <a:defRPr/>
              </a:pPr>
              <a:t>7</a:t>
            </a:fld>
            <a:endParaRPr lang="en-US" altLang="zh-TW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B2951B-C71F-4270-8C3C-A19077157437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If both the </a:t>
            </a:r>
            <a:r>
              <a:rPr lang="en-US" sz="2400" dirty="0">
                <a:solidFill>
                  <a:srgbClr val="C00000"/>
                </a:solidFill>
              </a:rPr>
              <a:t>function</a:t>
            </a:r>
            <a:r>
              <a:rPr lang="en-US" sz="2400" dirty="0"/>
              <a:t> and the </a:t>
            </a:r>
            <a:r>
              <a:rPr lang="en-US" sz="2400" dirty="0">
                <a:solidFill>
                  <a:srgbClr val="7030A0"/>
                </a:solidFill>
              </a:rPr>
              <a:t>function template </a:t>
            </a:r>
            <a:r>
              <a:rPr lang="en-US" sz="2400" dirty="0"/>
              <a:t>can be called, the </a:t>
            </a:r>
            <a:r>
              <a:rPr lang="en-US" sz="2400" dirty="0">
                <a:solidFill>
                  <a:srgbClr val="C00000"/>
                </a:solidFill>
              </a:rPr>
              <a:t>function</a:t>
            </a:r>
            <a:r>
              <a:rPr lang="en-US" sz="2400" dirty="0"/>
              <a:t> is called </a:t>
            </a:r>
          </a:p>
          <a:p>
            <a:pPr lvl="1"/>
            <a:r>
              <a:rPr lang="en-US" sz="1800" dirty="0"/>
              <a:t>We can call the template explicitly with an </a:t>
            </a:r>
            <a:r>
              <a:rPr lang="en-US" sz="1800" dirty="0">
                <a:solidFill>
                  <a:srgbClr val="0070C0"/>
                </a:solidFill>
              </a:rPr>
              <a:t>empty template parameter list</a:t>
            </a:r>
          </a:p>
          <a:p>
            <a:r>
              <a:rPr lang="en-US" sz="2400" dirty="0"/>
              <a:t>Function templates can also be </a:t>
            </a:r>
            <a:r>
              <a:rPr lang="en-US" sz="2400" dirty="0">
                <a:solidFill>
                  <a:srgbClr val="00B050"/>
                </a:solidFill>
              </a:rPr>
              <a:t>overloaded</a:t>
            </a:r>
            <a:r>
              <a:rPr lang="en-US" sz="2400" dirty="0"/>
              <a:t>. If the function template provides a </a:t>
            </a:r>
            <a:r>
              <a:rPr lang="en-US" sz="2400" dirty="0">
                <a:solidFill>
                  <a:srgbClr val="FFC000"/>
                </a:solidFill>
              </a:rPr>
              <a:t>better</a:t>
            </a:r>
            <a:r>
              <a:rPr lang="en-US" sz="2400" dirty="0"/>
              <a:t> matching, call the template </a:t>
            </a:r>
            <a:r>
              <a:rPr lang="en-US" sz="2400" b="1" dirty="0"/>
              <a:t>first</a:t>
            </a:r>
            <a:endParaRPr lang="en-HK" sz="2400" b="1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AD4C270-8A43-4F3C-A2F2-9D4344EED4BF}"/>
              </a:ext>
            </a:extLst>
          </p:cNvPr>
          <p:cNvSpPr txBox="1"/>
          <p:nvPr/>
        </p:nvSpPr>
        <p:spPr>
          <a:xfrm>
            <a:off x="1132609" y="3771900"/>
            <a:ext cx="3477491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fr-FR" altLang="zh-CN" sz="1000" dirty="0" err="1">
                <a:latin typeface="Courier New" pitchFamily="49" charset="0"/>
              </a:rPr>
              <a:t>void</a:t>
            </a:r>
            <a:r>
              <a:rPr lang="fr-FR" altLang="zh-CN" sz="1000" dirty="0">
                <a:latin typeface="Courier New" pitchFamily="49" charset="0"/>
              </a:rPr>
              <a:t> </a:t>
            </a:r>
            <a:r>
              <a:rPr lang="fr-FR" altLang="zh-CN" sz="1000" dirty="0" err="1">
                <a:latin typeface="Courier New" pitchFamily="49" charset="0"/>
              </a:rPr>
              <a:t>func</a:t>
            </a:r>
            <a:r>
              <a:rPr lang="fr-FR" altLang="zh-CN" sz="1000" dirty="0">
                <a:latin typeface="Courier New" pitchFamily="49" charset="0"/>
              </a:rPr>
              <a:t>(</a:t>
            </a:r>
            <a:r>
              <a:rPr lang="fr-FR" altLang="zh-CN" sz="1000" dirty="0" err="1">
                <a:latin typeface="Courier New" pitchFamily="49" charset="0"/>
              </a:rPr>
              <a:t>int</a:t>
            </a:r>
            <a:r>
              <a:rPr lang="fr-FR" altLang="zh-CN" sz="1000" dirty="0">
                <a:latin typeface="Courier New" pitchFamily="49" charset="0"/>
              </a:rPr>
              <a:t> a, </a:t>
            </a:r>
            <a:r>
              <a:rPr lang="fr-FR" altLang="zh-CN" sz="1000" dirty="0" err="1">
                <a:latin typeface="Courier New" pitchFamily="49" charset="0"/>
              </a:rPr>
              <a:t>int</a:t>
            </a:r>
            <a:r>
              <a:rPr lang="fr-FR" altLang="zh-CN" sz="1000" dirty="0">
                <a:latin typeface="Courier New" pitchFamily="49" charset="0"/>
              </a:rPr>
              <a:t> b) {</a:t>
            </a:r>
          </a:p>
          <a:p>
            <a:pPr eaLnBrk="1" hangingPunct="1">
              <a:buFont typeface="Wingdings" pitchFamily="2" charset="2"/>
              <a:buNone/>
            </a:pPr>
            <a:r>
              <a:rPr lang="fr-FR" altLang="zh-CN" sz="1000" dirty="0">
                <a:latin typeface="Courier New" pitchFamily="49" charset="0"/>
              </a:rPr>
              <a:t>    cout &lt;&lt; "</a:t>
            </a:r>
            <a:r>
              <a:rPr lang="fr-FR" altLang="zh-CN" sz="1000" dirty="0" err="1">
                <a:latin typeface="Courier New" pitchFamily="49" charset="0"/>
              </a:rPr>
              <a:t>function</a:t>
            </a:r>
            <a:r>
              <a:rPr lang="fr-FR" altLang="zh-CN" sz="1000" dirty="0">
                <a:latin typeface="Courier New" pitchFamily="49" charset="0"/>
              </a:rPr>
              <a:t> </a:t>
            </a:r>
            <a:r>
              <a:rPr lang="fr-FR" altLang="zh-CN" sz="1000" dirty="0" err="1">
                <a:latin typeface="Courier New" pitchFamily="49" charset="0"/>
              </a:rPr>
              <a:t>is</a:t>
            </a:r>
            <a:r>
              <a:rPr lang="fr-FR" altLang="zh-CN" sz="1000" dirty="0">
                <a:latin typeface="Courier New" pitchFamily="49" charset="0"/>
              </a:rPr>
              <a:t> </a:t>
            </a:r>
            <a:r>
              <a:rPr lang="fr-FR" altLang="zh-CN" sz="1000" dirty="0" err="1">
                <a:latin typeface="Courier New" pitchFamily="49" charset="0"/>
              </a:rPr>
              <a:t>working</a:t>
            </a:r>
            <a:r>
              <a:rPr lang="fr-FR" altLang="zh-CN" sz="1000" dirty="0">
                <a:latin typeface="Courier New" pitchFamily="49" charset="0"/>
              </a:rPr>
              <a:t>" &lt;&lt; </a:t>
            </a:r>
            <a:r>
              <a:rPr lang="fr-FR" altLang="zh-CN" sz="1000" dirty="0" err="1">
                <a:latin typeface="Courier New" pitchFamily="49" charset="0"/>
              </a:rPr>
              <a:t>endl</a:t>
            </a:r>
            <a:r>
              <a:rPr lang="fr-FR" altLang="zh-CN" sz="1000" dirty="0">
                <a:latin typeface="Courier New" pitchFamily="49" charset="0"/>
              </a:rPr>
              <a:t>;</a:t>
            </a:r>
          </a:p>
          <a:p>
            <a:pPr eaLnBrk="1" hangingPunct="1">
              <a:buFont typeface="Wingdings" pitchFamily="2" charset="2"/>
              <a:buNone/>
            </a:pPr>
            <a:r>
              <a:rPr lang="fr-FR" altLang="zh-CN" sz="1000" dirty="0">
                <a:latin typeface="Courier New" pitchFamily="49" charset="0"/>
              </a:rPr>
              <a:t>}</a:t>
            </a:r>
          </a:p>
          <a:p>
            <a:pPr eaLnBrk="1" hangingPunct="1">
              <a:buFont typeface="Wingdings" pitchFamily="2" charset="2"/>
              <a:buNone/>
            </a:pPr>
            <a:endParaRPr lang="fr-FR" altLang="zh-CN" sz="1000" dirty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fr-FR" altLang="zh-CN" sz="1000" dirty="0" err="1">
                <a:latin typeface="Courier New" pitchFamily="49" charset="0"/>
              </a:rPr>
              <a:t>template</a:t>
            </a:r>
            <a:r>
              <a:rPr lang="fr-FR" altLang="zh-CN" sz="1000" dirty="0">
                <a:latin typeface="Courier New" pitchFamily="49" charset="0"/>
              </a:rPr>
              <a:t> &lt;class T&gt;</a:t>
            </a:r>
          </a:p>
          <a:p>
            <a:pPr eaLnBrk="1" hangingPunct="1">
              <a:buFont typeface="Wingdings" pitchFamily="2" charset="2"/>
              <a:buNone/>
            </a:pPr>
            <a:r>
              <a:rPr lang="fr-FR" altLang="zh-CN" sz="1000" dirty="0" err="1">
                <a:latin typeface="Courier New" pitchFamily="49" charset="0"/>
              </a:rPr>
              <a:t>void</a:t>
            </a:r>
            <a:r>
              <a:rPr lang="fr-FR" altLang="zh-CN" sz="1000" dirty="0">
                <a:latin typeface="Courier New" pitchFamily="49" charset="0"/>
              </a:rPr>
              <a:t> </a:t>
            </a:r>
            <a:r>
              <a:rPr lang="fr-FR" altLang="zh-CN" sz="1000" dirty="0" err="1">
                <a:latin typeface="Courier New" pitchFamily="49" charset="0"/>
              </a:rPr>
              <a:t>func</a:t>
            </a:r>
            <a:r>
              <a:rPr lang="fr-FR" altLang="zh-CN" sz="1000" dirty="0">
                <a:latin typeface="Courier New" pitchFamily="49" charset="0"/>
              </a:rPr>
              <a:t>(T a, T b) {</a:t>
            </a:r>
          </a:p>
          <a:p>
            <a:pPr eaLnBrk="1" hangingPunct="1">
              <a:buFont typeface="Wingdings" pitchFamily="2" charset="2"/>
              <a:buNone/>
            </a:pPr>
            <a:r>
              <a:rPr lang="fr-FR" altLang="zh-CN" sz="1000" dirty="0">
                <a:latin typeface="Courier New" pitchFamily="49" charset="0"/>
              </a:rPr>
              <a:t>    cout &lt;&lt; "template-1 </a:t>
            </a:r>
            <a:r>
              <a:rPr lang="fr-FR" altLang="zh-CN" sz="1000" dirty="0" err="1">
                <a:latin typeface="Courier New" pitchFamily="49" charset="0"/>
              </a:rPr>
              <a:t>is</a:t>
            </a:r>
            <a:r>
              <a:rPr lang="fr-FR" altLang="zh-CN" sz="1000" dirty="0">
                <a:latin typeface="Courier New" pitchFamily="49" charset="0"/>
              </a:rPr>
              <a:t> </a:t>
            </a:r>
            <a:r>
              <a:rPr lang="fr-FR" altLang="zh-CN" sz="1000" dirty="0" err="1">
                <a:latin typeface="Courier New" pitchFamily="49" charset="0"/>
              </a:rPr>
              <a:t>working</a:t>
            </a:r>
            <a:r>
              <a:rPr lang="fr-FR" altLang="zh-CN" sz="1000" dirty="0">
                <a:latin typeface="Courier New" pitchFamily="49" charset="0"/>
              </a:rPr>
              <a:t>" &lt;&lt; </a:t>
            </a:r>
            <a:r>
              <a:rPr lang="fr-FR" altLang="zh-CN" sz="1000" dirty="0" err="1">
                <a:latin typeface="Courier New" pitchFamily="49" charset="0"/>
              </a:rPr>
              <a:t>endl</a:t>
            </a:r>
            <a:r>
              <a:rPr lang="fr-FR" altLang="zh-CN" sz="1000" dirty="0">
                <a:latin typeface="Courier New" pitchFamily="49" charset="0"/>
              </a:rPr>
              <a:t>;</a:t>
            </a:r>
          </a:p>
          <a:p>
            <a:pPr eaLnBrk="1" hangingPunct="1">
              <a:buFont typeface="Wingdings" pitchFamily="2" charset="2"/>
              <a:buNone/>
            </a:pPr>
            <a:r>
              <a:rPr lang="fr-FR" altLang="zh-CN" sz="1000" dirty="0">
                <a:latin typeface="Courier New" pitchFamily="49" charset="0"/>
              </a:rPr>
              <a:t>}</a:t>
            </a:r>
          </a:p>
          <a:p>
            <a:pPr eaLnBrk="1" hangingPunct="1">
              <a:buFont typeface="Wingdings" pitchFamily="2" charset="2"/>
              <a:buNone/>
            </a:pPr>
            <a:endParaRPr lang="fr-FR" altLang="zh-CN" sz="1000" dirty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fr-FR" altLang="zh-CN" sz="1000" dirty="0" err="1">
                <a:latin typeface="Courier New" pitchFamily="49" charset="0"/>
              </a:rPr>
              <a:t>template</a:t>
            </a:r>
            <a:r>
              <a:rPr lang="fr-FR" altLang="zh-CN" sz="1000" dirty="0">
                <a:latin typeface="Courier New" pitchFamily="49" charset="0"/>
              </a:rPr>
              <a:t> &lt;class T&gt;</a:t>
            </a:r>
          </a:p>
          <a:p>
            <a:pPr eaLnBrk="1" hangingPunct="1">
              <a:buFont typeface="Wingdings" pitchFamily="2" charset="2"/>
              <a:buNone/>
            </a:pPr>
            <a:r>
              <a:rPr lang="fr-FR" altLang="zh-CN" sz="1000" dirty="0" err="1">
                <a:latin typeface="Courier New" pitchFamily="49" charset="0"/>
              </a:rPr>
              <a:t>void</a:t>
            </a:r>
            <a:r>
              <a:rPr lang="fr-FR" altLang="zh-CN" sz="1000" dirty="0">
                <a:latin typeface="Courier New" pitchFamily="49" charset="0"/>
              </a:rPr>
              <a:t> </a:t>
            </a:r>
            <a:r>
              <a:rPr lang="fr-FR" altLang="zh-CN" sz="1000" dirty="0" err="1">
                <a:latin typeface="Courier New" pitchFamily="49" charset="0"/>
              </a:rPr>
              <a:t>func</a:t>
            </a:r>
            <a:r>
              <a:rPr lang="fr-FR" altLang="zh-CN" sz="1000" dirty="0">
                <a:latin typeface="Courier New" pitchFamily="49" charset="0"/>
              </a:rPr>
              <a:t>(T a, T b, T c) {</a:t>
            </a:r>
          </a:p>
          <a:p>
            <a:pPr eaLnBrk="1" hangingPunct="1">
              <a:buFont typeface="Wingdings" pitchFamily="2" charset="2"/>
              <a:buNone/>
            </a:pPr>
            <a:r>
              <a:rPr lang="fr-FR" altLang="zh-CN" sz="1000" dirty="0">
                <a:latin typeface="Courier New" pitchFamily="49" charset="0"/>
              </a:rPr>
              <a:t>    cout &lt;&lt; "template-2 </a:t>
            </a:r>
            <a:r>
              <a:rPr lang="fr-FR" altLang="zh-CN" sz="1000" dirty="0" err="1">
                <a:latin typeface="Courier New" pitchFamily="49" charset="0"/>
              </a:rPr>
              <a:t>is</a:t>
            </a:r>
            <a:r>
              <a:rPr lang="fr-FR" altLang="zh-CN" sz="1000" dirty="0">
                <a:latin typeface="Courier New" pitchFamily="49" charset="0"/>
              </a:rPr>
              <a:t> </a:t>
            </a:r>
            <a:r>
              <a:rPr lang="fr-FR" altLang="zh-CN" sz="1000" dirty="0" err="1">
                <a:latin typeface="Courier New" pitchFamily="49" charset="0"/>
              </a:rPr>
              <a:t>working</a:t>
            </a:r>
            <a:r>
              <a:rPr lang="fr-FR" altLang="zh-CN" sz="1000" dirty="0">
                <a:latin typeface="Courier New" pitchFamily="49" charset="0"/>
              </a:rPr>
              <a:t>" &lt;&lt; </a:t>
            </a:r>
            <a:r>
              <a:rPr lang="fr-FR" altLang="zh-CN" sz="1000" dirty="0" err="1">
                <a:latin typeface="Courier New" pitchFamily="49" charset="0"/>
              </a:rPr>
              <a:t>endl</a:t>
            </a:r>
            <a:r>
              <a:rPr lang="fr-FR" altLang="zh-CN" sz="1000" dirty="0">
                <a:latin typeface="Courier New" pitchFamily="49" charset="0"/>
              </a:rPr>
              <a:t>;</a:t>
            </a:r>
          </a:p>
          <a:p>
            <a:pPr eaLnBrk="1" hangingPunct="1">
              <a:buFont typeface="Wingdings" pitchFamily="2" charset="2"/>
              <a:buNone/>
            </a:pPr>
            <a:r>
              <a:rPr lang="fr-FR" altLang="zh-CN" sz="1000" dirty="0">
                <a:latin typeface="Courier New" pitchFamily="49" charset="0"/>
              </a:rPr>
              <a:t>}</a:t>
            </a:r>
            <a:endParaRPr lang="en-US" altLang="zh-CN" sz="1000" dirty="0">
              <a:latin typeface="Courier New" pitchFamily="49" charset="0"/>
            </a:endParaRPr>
          </a:p>
        </p:txBody>
      </p:sp>
      <p:sp>
        <p:nvSpPr>
          <p:cNvPr id="6" name="文本框 4">
            <a:extLst>
              <a:ext uri="{FF2B5EF4-FFF2-40B4-BE49-F238E27FC236}">
                <a16:creationId xmlns:a16="http://schemas.microsoft.com/office/drawing/2014/main" id="{E6439633-5B9F-4937-B0A1-3B940632CF9A}"/>
              </a:ext>
            </a:extLst>
          </p:cNvPr>
          <p:cNvSpPr txBox="1"/>
          <p:nvPr/>
        </p:nvSpPr>
        <p:spPr>
          <a:xfrm>
            <a:off x="5334000" y="3771900"/>
            <a:ext cx="347749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fr-FR" altLang="zh-CN" sz="1000" dirty="0" err="1">
                <a:latin typeface="Courier New" pitchFamily="49" charset="0"/>
              </a:rPr>
              <a:t>int</a:t>
            </a:r>
            <a:r>
              <a:rPr lang="fr-FR" altLang="zh-CN" sz="1000" dirty="0">
                <a:latin typeface="Courier New" pitchFamily="49" charset="0"/>
              </a:rPr>
              <a:t> main() {</a:t>
            </a:r>
          </a:p>
          <a:p>
            <a:pPr eaLnBrk="1" hangingPunct="1">
              <a:buFont typeface="Wingdings" pitchFamily="2" charset="2"/>
              <a:buNone/>
            </a:pPr>
            <a:endParaRPr lang="fr-FR" altLang="zh-CN" sz="1000" dirty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fr-FR" altLang="zh-CN" sz="1000" dirty="0">
                <a:latin typeface="Courier New" pitchFamily="49" charset="0"/>
              </a:rPr>
              <a:t>    </a:t>
            </a:r>
            <a:r>
              <a:rPr lang="fr-FR" altLang="zh-CN" sz="1000" dirty="0" err="1">
                <a:latin typeface="Courier New" pitchFamily="49" charset="0"/>
              </a:rPr>
              <a:t>int</a:t>
            </a:r>
            <a:r>
              <a:rPr lang="fr-FR" altLang="zh-CN" sz="1000" dirty="0">
                <a:latin typeface="Courier New" pitchFamily="49" charset="0"/>
              </a:rPr>
              <a:t> a = 10, b = 20, c = 30;</a:t>
            </a:r>
          </a:p>
          <a:p>
            <a:pPr eaLnBrk="1" hangingPunct="1">
              <a:buFont typeface="Wingdings" pitchFamily="2" charset="2"/>
              <a:buNone/>
            </a:pPr>
            <a:endParaRPr lang="fr-FR" altLang="zh-CN" sz="1000" dirty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fr-FR" altLang="zh-CN" sz="1000" dirty="0">
                <a:latin typeface="Courier New" pitchFamily="49" charset="0"/>
              </a:rPr>
              <a:t>    </a:t>
            </a:r>
            <a:r>
              <a:rPr lang="fr-FR" altLang="zh-CN" sz="1000" dirty="0" err="1">
                <a:latin typeface="Courier New" pitchFamily="49" charset="0"/>
              </a:rPr>
              <a:t>func</a:t>
            </a:r>
            <a:r>
              <a:rPr lang="fr-FR" altLang="zh-CN" sz="1000" dirty="0">
                <a:latin typeface="Courier New" pitchFamily="49" charset="0"/>
              </a:rPr>
              <a:t>(a, b); // </a:t>
            </a:r>
            <a:r>
              <a:rPr lang="fr-FR" altLang="zh-CN" sz="1000" dirty="0" err="1">
                <a:latin typeface="Courier New" pitchFamily="49" charset="0"/>
              </a:rPr>
              <a:t>function</a:t>
            </a:r>
            <a:endParaRPr lang="fr-FR" altLang="zh-CN" sz="1000" dirty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fr-FR" altLang="zh-CN" sz="1000" dirty="0">
                <a:latin typeface="Courier New" pitchFamily="49" charset="0"/>
              </a:rPr>
              <a:t>    </a:t>
            </a:r>
            <a:r>
              <a:rPr lang="fr-FR" altLang="zh-CN" sz="1000" dirty="0" err="1">
                <a:latin typeface="Courier New" pitchFamily="49" charset="0"/>
              </a:rPr>
              <a:t>func</a:t>
            </a:r>
            <a:r>
              <a:rPr lang="fr-FR" altLang="zh-CN" sz="1000" dirty="0">
                <a:latin typeface="Courier New" pitchFamily="49" charset="0"/>
              </a:rPr>
              <a:t>&lt;&gt;(a, b); // template-1</a:t>
            </a:r>
          </a:p>
          <a:p>
            <a:pPr eaLnBrk="1" hangingPunct="1">
              <a:buFont typeface="Wingdings" pitchFamily="2" charset="2"/>
              <a:buNone/>
            </a:pPr>
            <a:r>
              <a:rPr lang="fr-FR" altLang="zh-CN" sz="1000" dirty="0">
                <a:latin typeface="Courier New" pitchFamily="49" charset="0"/>
              </a:rPr>
              <a:t>    </a:t>
            </a:r>
            <a:r>
              <a:rPr lang="fr-FR" altLang="zh-CN" sz="1000" dirty="0" err="1">
                <a:latin typeface="Courier New" pitchFamily="49" charset="0"/>
              </a:rPr>
              <a:t>func</a:t>
            </a:r>
            <a:r>
              <a:rPr lang="fr-FR" altLang="zh-CN" sz="1000" dirty="0">
                <a:latin typeface="Courier New" pitchFamily="49" charset="0"/>
              </a:rPr>
              <a:t>&lt;</a:t>
            </a:r>
            <a:r>
              <a:rPr lang="fr-FR" altLang="zh-CN" sz="1000" dirty="0" err="1">
                <a:latin typeface="Courier New" pitchFamily="49" charset="0"/>
              </a:rPr>
              <a:t>int</a:t>
            </a:r>
            <a:r>
              <a:rPr lang="fr-FR" altLang="zh-CN" sz="1000" dirty="0">
                <a:latin typeface="Courier New" pitchFamily="49" charset="0"/>
              </a:rPr>
              <a:t>&gt;(a, b); // template-1</a:t>
            </a:r>
          </a:p>
          <a:p>
            <a:pPr eaLnBrk="1" hangingPunct="1">
              <a:buFont typeface="Wingdings" pitchFamily="2" charset="2"/>
              <a:buNone/>
            </a:pPr>
            <a:r>
              <a:rPr lang="fr-FR" altLang="zh-CN" sz="1000" dirty="0">
                <a:latin typeface="Courier New" pitchFamily="49" charset="0"/>
              </a:rPr>
              <a:t>    </a:t>
            </a:r>
            <a:r>
              <a:rPr lang="fr-FR" altLang="zh-CN" sz="1000" dirty="0" err="1">
                <a:latin typeface="Courier New" pitchFamily="49" charset="0"/>
              </a:rPr>
              <a:t>func</a:t>
            </a:r>
            <a:r>
              <a:rPr lang="fr-FR" altLang="zh-CN" sz="1000" dirty="0">
                <a:latin typeface="Courier New" pitchFamily="49" charset="0"/>
              </a:rPr>
              <a:t>(a, b, c); // template-2</a:t>
            </a:r>
          </a:p>
          <a:p>
            <a:pPr eaLnBrk="1" hangingPunct="1">
              <a:buFont typeface="Wingdings" pitchFamily="2" charset="2"/>
              <a:buNone/>
            </a:pPr>
            <a:endParaRPr lang="fr-FR" altLang="zh-CN" sz="1000" dirty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fr-FR" altLang="zh-CN" sz="1000" dirty="0">
                <a:latin typeface="Courier New" pitchFamily="49" charset="0"/>
              </a:rPr>
              <a:t>    char c1 = 'a', c2 = 'b';</a:t>
            </a:r>
          </a:p>
          <a:p>
            <a:pPr eaLnBrk="1" hangingPunct="1">
              <a:buFont typeface="Wingdings" pitchFamily="2" charset="2"/>
              <a:buNone/>
            </a:pPr>
            <a:r>
              <a:rPr lang="fr-FR" altLang="zh-CN" sz="1000" dirty="0">
                <a:latin typeface="Courier New" pitchFamily="49" charset="0"/>
              </a:rPr>
              <a:t>    </a:t>
            </a:r>
            <a:r>
              <a:rPr lang="fr-FR" altLang="zh-CN" sz="1000" dirty="0" err="1">
                <a:latin typeface="Courier New" pitchFamily="49" charset="0"/>
              </a:rPr>
              <a:t>func</a:t>
            </a:r>
            <a:r>
              <a:rPr lang="fr-FR" altLang="zh-CN" sz="1000" dirty="0">
                <a:latin typeface="Courier New" pitchFamily="49" charset="0"/>
              </a:rPr>
              <a:t>(c1, c2); // template-1</a:t>
            </a:r>
          </a:p>
          <a:p>
            <a:pPr eaLnBrk="1" hangingPunct="1">
              <a:buFont typeface="Wingdings" pitchFamily="2" charset="2"/>
              <a:buNone/>
            </a:pPr>
            <a:endParaRPr lang="fr-FR" altLang="zh-CN" sz="1000" dirty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fr-FR" altLang="zh-CN" sz="1000" dirty="0">
                <a:latin typeface="Courier New" pitchFamily="49" charset="0"/>
              </a:rPr>
              <a:t>    return 0;</a:t>
            </a:r>
          </a:p>
          <a:p>
            <a:pPr eaLnBrk="1" hangingPunct="1">
              <a:buFont typeface="Wingdings" pitchFamily="2" charset="2"/>
              <a:buNone/>
            </a:pPr>
            <a:r>
              <a:rPr lang="fr-FR" altLang="zh-CN" sz="1000" dirty="0">
                <a:latin typeface="Courier New" pitchFamily="49" charset="0"/>
              </a:rPr>
              <a:t>}</a:t>
            </a:r>
            <a:endParaRPr lang="en-US" altLang="zh-CN" sz="1000" dirty="0">
              <a:latin typeface="Courier New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F8D5B3-E11C-425A-9876-8A810F651B63}"/>
              </a:ext>
            </a:extLst>
          </p:cNvPr>
          <p:cNvSpPr txBox="1"/>
          <p:nvPr/>
        </p:nvSpPr>
        <p:spPr>
          <a:xfrm>
            <a:off x="830382" y="638317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Code: lec11-04-function.cpp</a:t>
            </a:r>
          </a:p>
        </p:txBody>
      </p:sp>
    </p:spTree>
    <p:extLst>
      <p:ext uri="{BB962C8B-B14F-4D97-AF65-F5344CB8AC3E}">
        <p14:creationId xmlns:p14="http://schemas.microsoft.com/office/powerpoint/2010/main" val="504217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AB5B7-D33E-49F6-B3B7-195D50346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Calls Involving Templates</a:t>
            </a:r>
            <a:endParaRPr lang="en-HK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7EBF575-7636-4C15-A2FC-A74AAA0AB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653ED2-267D-454B-B9E3-59503D7C3DE8}" type="slidenum">
              <a:rPr lang="zh-TW" altLang="en-US" smtClean="0"/>
              <a:pPr>
                <a:defRPr/>
              </a:pPr>
              <a:t>8</a:t>
            </a:fld>
            <a:endParaRPr lang="en-US" altLang="zh-TW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EF269B-B0CC-484E-8A96-C93295B9F85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User-defined</a:t>
            </a:r>
            <a:r>
              <a:rPr lang="en-US" sz="2400" dirty="0"/>
              <a:t> data types can cause problems</a:t>
            </a:r>
          </a:p>
          <a:p>
            <a:pPr lvl="1"/>
            <a:r>
              <a:rPr lang="en-US" sz="1800" dirty="0"/>
              <a:t>E.g., involving comparison operators, e.g., 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sz="1800" dirty="0"/>
              <a:t>, 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1800" dirty="0"/>
              <a:t>, 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==</a:t>
            </a:r>
            <a:r>
              <a:rPr lang="en-US" sz="1800" dirty="0"/>
              <a:t>, etc.</a:t>
            </a:r>
          </a:p>
          <a:p>
            <a:pPr lvl="1"/>
            <a:r>
              <a:rPr lang="en-US" sz="1800" b="1" dirty="0"/>
              <a:t>Solution 1</a:t>
            </a:r>
            <a:r>
              <a:rPr lang="en-US" sz="1800" dirty="0"/>
              <a:t>: </a:t>
            </a:r>
            <a:r>
              <a:rPr lang="en-US" sz="1800" dirty="0">
                <a:solidFill>
                  <a:srgbClr val="7030A0"/>
                </a:solidFill>
              </a:rPr>
              <a:t>operator overloading</a:t>
            </a:r>
          </a:p>
          <a:p>
            <a:pPr lvl="1"/>
            <a:r>
              <a:rPr lang="en-US" sz="1800" b="1" dirty="0"/>
              <a:t>Solution 2</a:t>
            </a:r>
            <a:r>
              <a:rPr lang="en-US" sz="1800" dirty="0"/>
              <a:t>: </a:t>
            </a:r>
            <a:r>
              <a:rPr lang="en-US" sz="1800" dirty="0">
                <a:solidFill>
                  <a:srgbClr val="0070C0"/>
                </a:solidFill>
              </a:rPr>
              <a:t>specialization</a:t>
            </a:r>
            <a:r>
              <a:rPr lang="en-US" sz="1800" dirty="0"/>
              <a:t> </a:t>
            </a:r>
            <a:r>
              <a:rPr lang="en-US" sz="1600" dirty="0"/>
              <a:t>(e.g., a specialized overloaded version for this data type)</a:t>
            </a:r>
            <a:endParaRPr lang="en-HK" sz="16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C508347-A373-470C-BA9C-708A359EBE75}"/>
              </a:ext>
            </a:extLst>
          </p:cNvPr>
          <p:cNvSpPr txBox="1"/>
          <p:nvPr/>
        </p:nvSpPr>
        <p:spPr>
          <a:xfrm>
            <a:off x="819916" y="3048000"/>
            <a:ext cx="26011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template &lt;class T&gt;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bool </a:t>
            </a:r>
            <a:r>
              <a:rPr lang="en-US" altLang="zh-CN" sz="1000" dirty="0" err="1">
                <a:latin typeface="Courier New" pitchFamily="49" charset="0"/>
              </a:rPr>
              <a:t>isGreaterThan</a:t>
            </a:r>
            <a:r>
              <a:rPr lang="en-US" altLang="zh-CN" sz="1000" dirty="0">
                <a:latin typeface="Courier New" pitchFamily="49" charset="0"/>
              </a:rPr>
              <a:t>(T a, T b)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  if (a </a:t>
            </a:r>
            <a:r>
              <a:rPr lang="en-US" altLang="zh-CN" sz="1000" dirty="0">
                <a:solidFill>
                  <a:srgbClr val="FF0000"/>
                </a:solidFill>
                <a:latin typeface="Courier New" pitchFamily="49" charset="0"/>
              </a:rPr>
              <a:t>&gt;</a:t>
            </a:r>
            <a:r>
              <a:rPr lang="en-US" altLang="zh-CN" sz="1000" dirty="0">
                <a:latin typeface="Courier New" pitchFamily="49" charset="0"/>
              </a:rPr>
              <a:t> b)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      return true;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  } else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      return false;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  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}</a:t>
            </a:r>
          </a:p>
        </p:txBody>
      </p:sp>
      <p:sp>
        <p:nvSpPr>
          <p:cNvPr id="6" name="文本框 4">
            <a:extLst>
              <a:ext uri="{FF2B5EF4-FFF2-40B4-BE49-F238E27FC236}">
                <a16:creationId xmlns:a16="http://schemas.microsoft.com/office/drawing/2014/main" id="{C94E462B-FD26-4BA8-8374-B1DA411527DB}"/>
              </a:ext>
            </a:extLst>
          </p:cNvPr>
          <p:cNvSpPr txBox="1"/>
          <p:nvPr/>
        </p:nvSpPr>
        <p:spPr>
          <a:xfrm>
            <a:off x="3721747" y="3049488"/>
            <a:ext cx="412685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class </a:t>
            </a:r>
            <a:r>
              <a:rPr lang="en-US" altLang="zh-CN" sz="1000" dirty="0" err="1">
                <a:latin typeface="Courier New" pitchFamily="49" charset="0"/>
              </a:rPr>
              <a:t>DayOfYear</a:t>
            </a:r>
            <a:r>
              <a:rPr lang="en-US" altLang="zh-CN" sz="1000" dirty="0">
                <a:latin typeface="Courier New" pitchFamily="49" charset="0"/>
              </a:rPr>
              <a:t>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public: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  </a:t>
            </a:r>
            <a:r>
              <a:rPr lang="en-US" altLang="zh-CN" sz="1000" dirty="0" err="1">
                <a:latin typeface="Courier New" pitchFamily="49" charset="0"/>
              </a:rPr>
              <a:t>DayOfYear</a:t>
            </a:r>
            <a:r>
              <a:rPr lang="en-US" altLang="zh-CN" sz="1000" dirty="0">
                <a:latin typeface="Courier New" pitchFamily="49" charset="0"/>
              </a:rPr>
              <a:t>(int m, int d): month(m), day(d) {}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public: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  int month;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  int day;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};</a:t>
            </a:r>
          </a:p>
        </p:txBody>
      </p:sp>
      <p:sp>
        <p:nvSpPr>
          <p:cNvPr id="7" name="文本框 4">
            <a:extLst>
              <a:ext uri="{FF2B5EF4-FFF2-40B4-BE49-F238E27FC236}">
                <a16:creationId xmlns:a16="http://schemas.microsoft.com/office/drawing/2014/main" id="{CB42E3D7-CC07-4708-AB1A-94695EB2434E}"/>
              </a:ext>
            </a:extLst>
          </p:cNvPr>
          <p:cNvSpPr txBox="1"/>
          <p:nvPr/>
        </p:nvSpPr>
        <p:spPr>
          <a:xfrm>
            <a:off x="1359547" y="4343400"/>
            <a:ext cx="38862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solidFill>
                  <a:srgbClr val="FF0000"/>
                </a:solidFill>
                <a:latin typeface="Courier New" pitchFamily="49" charset="0"/>
              </a:rPr>
              <a:t>template &lt;&gt;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bool </a:t>
            </a:r>
            <a:r>
              <a:rPr lang="en-US" altLang="zh-CN" sz="1000" dirty="0" err="1">
                <a:latin typeface="Courier New" pitchFamily="49" charset="0"/>
              </a:rPr>
              <a:t>isGreaterThan</a:t>
            </a:r>
            <a:r>
              <a:rPr lang="en-US" altLang="zh-CN" sz="1000" dirty="0">
                <a:latin typeface="Courier New" pitchFamily="49" charset="0"/>
              </a:rPr>
              <a:t>(</a:t>
            </a:r>
            <a:r>
              <a:rPr lang="en-US" altLang="zh-CN" sz="1000" dirty="0" err="1">
                <a:solidFill>
                  <a:srgbClr val="0000FF"/>
                </a:solidFill>
                <a:latin typeface="Courier New" pitchFamily="49" charset="0"/>
              </a:rPr>
              <a:t>DayOfYear</a:t>
            </a:r>
            <a:r>
              <a:rPr lang="en-US" altLang="zh-CN" sz="1000" dirty="0">
                <a:latin typeface="Courier New" pitchFamily="49" charset="0"/>
              </a:rPr>
              <a:t> a, </a:t>
            </a:r>
            <a:r>
              <a:rPr lang="en-US" altLang="zh-CN" sz="1000" dirty="0" err="1">
                <a:solidFill>
                  <a:srgbClr val="0000FF"/>
                </a:solidFill>
                <a:latin typeface="Courier New" pitchFamily="49" charset="0"/>
              </a:rPr>
              <a:t>DayOfYear</a:t>
            </a:r>
            <a:r>
              <a:rPr lang="en-US" altLang="zh-CN" sz="1000" dirty="0">
                <a:latin typeface="Courier New" pitchFamily="49" charset="0"/>
              </a:rPr>
              <a:t> b)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  if (</a:t>
            </a:r>
            <a:r>
              <a:rPr lang="en-US" altLang="zh-CN" sz="1000" dirty="0" err="1">
                <a:latin typeface="Courier New" pitchFamily="49" charset="0"/>
              </a:rPr>
              <a:t>a.month</a:t>
            </a:r>
            <a:r>
              <a:rPr lang="en-US" altLang="zh-CN" sz="1000" dirty="0">
                <a:latin typeface="Courier New" pitchFamily="49" charset="0"/>
              </a:rPr>
              <a:t> &gt; </a:t>
            </a:r>
            <a:r>
              <a:rPr lang="en-US" altLang="zh-CN" sz="1000" dirty="0" err="1">
                <a:latin typeface="Courier New" pitchFamily="49" charset="0"/>
              </a:rPr>
              <a:t>b.month</a:t>
            </a:r>
            <a:r>
              <a:rPr lang="en-US" altLang="zh-CN" sz="1000" dirty="0">
                <a:latin typeface="Courier New" pitchFamily="49" charset="0"/>
              </a:rPr>
              <a:t>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      return true;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  } else if (</a:t>
            </a:r>
            <a:r>
              <a:rPr lang="en-US" altLang="zh-CN" sz="1000" dirty="0" err="1">
                <a:latin typeface="Courier New" pitchFamily="49" charset="0"/>
              </a:rPr>
              <a:t>a.month</a:t>
            </a:r>
            <a:r>
              <a:rPr lang="en-US" altLang="zh-CN" sz="1000" dirty="0">
                <a:latin typeface="Courier New" pitchFamily="49" charset="0"/>
              </a:rPr>
              <a:t> &lt; </a:t>
            </a:r>
            <a:r>
              <a:rPr lang="en-US" altLang="zh-CN" sz="1000" dirty="0" err="1">
                <a:latin typeface="Courier New" pitchFamily="49" charset="0"/>
              </a:rPr>
              <a:t>b.month</a:t>
            </a:r>
            <a:r>
              <a:rPr lang="en-US" altLang="zh-CN" sz="1000" dirty="0">
                <a:latin typeface="Courier New" pitchFamily="49" charset="0"/>
              </a:rPr>
              <a:t>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      return false;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  } else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      if (</a:t>
            </a:r>
            <a:r>
              <a:rPr lang="en-US" altLang="zh-CN" sz="1000" dirty="0" err="1">
                <a:latin typeface="Courier New" pitchFamily="49" charset="0"/>
              </a:rPr>
              <a:t>a.day</a:t>
            </a:r>
            <a:r>
              <a:rPr lang="en-US" altLang="zh-CN" sz="1000" dirty="0">
                <a:latin typeface="Courier New" pitchFamily="49" charset="0"/>
              </a:rPr>
              <a:t> &gt; </a:t>
            </a:r>
            <a:r>
              <a:rPr lang="en-US" altLang="zh-CN" sz="1000" dirty="0" err="1">
                <a:latin typeface="Courier New" pitchFamily="49" charset="0"/>
              </a:rPr>
              <a:t>b.day</a:t>
            </a:r>
            <a:r>
              <a:rPr lang="en-US" altLang="zh-CN" sz="1000" dirty="0">
                <a:latin typeface="Courier New" pitchFamily="49" charset="0"/>
              </a:rPr>
              <a:t>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          return true;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      } else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          return false;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      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  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}</a:t>
            </a:r>
          </a:p>
        </p:txBody>
      </p:sp>
      <p:sp>
        <p:nvSpPr>
          <p:cNvPr id="8" name="文本框 4">
            <a:extLst>
              <a:ext uri="{FF2B5EF4-FFF2-40B4-BE49-F238E27FC236}">
                <a16:creationId xmlns:a16="http://schemas.microsoft.com/office/drawing/2014/main" id="{D7980691-1538-44BC-9286-19FB5FD94A13}"/>
              </a:ext>
            </a:extLst>
          </p:cNvPr>
          <p:cNvSpPr txBox="1"/>
          <p:nvPr/>
        </p:nvSpPr>
        <p:spPr>
          <a:xfrm>
            <a:off x="5257800" y="4343400"/>
            <a:ext cx="375804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int main()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  int m, d;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  </a:t>
            </a:r>
            <a:r>
              <a:rPr lang="en-US" altLang="zh-CN" sz="1000" dirty="0" err="1">
                <a:latin typeface="Courier New" pitchFamily="49" charset="0"/>
              </a:rPr>
              <a:t>cout</a:t>
            </a:r>
            <a:r>
              <a:rPr lang="en-US" altLang="zh-CN" sz="1000" dirty="0">
                <a:latin typeface="Courier New" pitchFamily="49" charset="0"/>
              </a:rPr>
              <a:t> &lt;&lt; "Enter month and day: ";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  </a:t>
            </a:r>
            <a:r>
              <a:rPr lang="en-US" altLang="zh-CN" sz="1000" dirty="0" err="1">
                <a:latin typeface="Courier New" pitchFamily="49" charset="0"/>
              </a:rPr>
              <a:t>cin</a:t>
            </a:r>
            <a:r>
              <a:rPr lang="en-US" altLang="zh-CN" sz="1000" dirty="0">
                <a:latin typeface="Courier New" pitchFamily="49" charset="0"/>
              </a:rPr>
              <a:t> &gt;&gt; m &gt;&gt; d;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  </a:t>
            </a:r>
            <a:r>
              <a:rPr lang="en-US" altLang="zh-CN" sz="1000" dirty="0" err="1">
                <a:latin typeface="Courier New" pitchFamily="49" charset="0"/>
              </a:rPr>
              <a:t>DayOfYear</a:t>
            </a:r>
            <a:r>
              <a:rPr lang="en-US" altLang="zh-CN" sz="1000" dirty="0">
                <a:latin typeface="Courier New" pitchFamily="49" charset="0"/>
              </a:rPr>
              <a:t> d1(m, d);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1000" dirty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  </a:t>
            </a:r>
            <a:r>
              <a:rPr lang="en-US" altLang="zh-CN" sz="1000" dirty="0" err="1">
                <a:latin typeface="Courier New" pitchFamily="49" charset="0"/>
              </a:rPr>
              <a:t>cout</a:t>
            </a:r>
            <a:r>
              <a:rPr lang="en-US" altLang="zh-CN" sz="1000" dirty="0">
                <a:latin typeface="Courier New" pitchFamily="49" charset="0"/>
              </a:rPr>
              <a:t> &lt;&lt; "Enter month and day: ";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  </a:t>
            </a:r>
            <a:r>
              <a:rPr lang="en-US" altLang="zh-CN" sz="1000" dirty="0" err="1">
                <a:latin typeface="Courier New" pitchFamily="49" charset="0"/>
              </a:rPr>
              <a:t>cin</a:t>
            </a:r>
            <a:r>
              <a:rPr lang="en-US" altLang="zh-CN" sz="1000" dirty="0">
                <a:latin typeface="Courier New" pitchFamily="49" charset="0"/>
              </a:rPr>
              <a:t> &gt;&gt; m &gt;&gt; d;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  </a:t>
            </a:r>
            <a:r>
              <a:rPr lang="en-US" altLang="zh-CN" sz="1000" dirty="0" err="1">
                <a:latin typeface="Courier New" pitchFamily="49" charset="0"/>
              </a:rPr>
              <a:t>DayOfYear</a:t>
            </a:r>
            <a:r>
              <a:rPr lang="en-US" altLang="zh-CN" sz="1000" dirty="0">
                <a:latin typeface="Courier New" pitchFamily="49" charset="0"/>
              </a:rPr>
              <a:t> d2(m, d);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1000" dirty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  </a:t>
            </a:r>
            <a:r>
              <a:rPr lang="en-US" altLang="zh-CN" sz="1000" dirty="0" err="1">
                <a:latin typeface="Courier New" pitchFamily="49" charset="0"/>
              </a:rPr>
              <a:t>cout</a:t>
            </a:r>
            <a:r>
              <a:rPr lang="en-US" altLang="zh-CN" sz="1000" dirty="0">
                <a:latin typeface="Courier New" pitchFamily="49" charset="0"/>
              </a:rPr>
              <a:t> &lt;&lt; </a:t>
            </a:r>
            <a:r>
              <a:rPr lang="en-US" altLang="zh-CN" sz="1000" dirty="0" err="1">
                <a:latin typeface="Courier New" pitchFamily="49" charset="0"/>
              </a:rPr>
              <a:t>isGreaterThan</a:t>
            </a:r>
            <a:r>
              <a:rPr lang="en-US" altLang="zh-CN" sz="1000" dirty="0">
                <a:latin typeface="Courier New" pitchFamily="49" charset="0"/>
              </a:rPr>
              <a:t>(d1, d2) &lt;&lt; </a:t>
            </a:r>
            <a:r>
              <a:rPr lang="en-US" altLang="zh-CN" sz="1000" dirty="0" err="1">
                <a:latin typeface="Courier New" pitchFamily="49" charset="0"/>
              </a:rPr>
              <a:t>endl</a:t>
            </a:r>
            <a:r>
              <a:rPr lang="en-US" altLang="zh-CN" sz="1000" dirty="0">
                <a:latin typeface="Courier New" pitchFamily="49" charset="0"/>
              </a:rPr>
              <a:t>;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1000" dirty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  return 0;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286E59-AACA-4B50-B893-8443BF87A7DC}"/>
              </a:ext>
            </a:extLst>
          </p:cNvPr>
          <p:cNvSpPr txBox="1"/>
          <p:nvPr/>
        </p:nvSpPr>
        <p:spPr>
          <a:xfrm>
            <a:off x="830382" y="6553200"/>
            <a:ext cx="206819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Code: lec11-05-compare.cpp</a:t>
            </a:r>
          </a:p>
        </p:txBody>
      </p:sp>
    </p:spTree>
    <p:extLst>
      <p:ext uri="{BB962C8B-B14F-4D97-AF65-F5344CB8AC3E}">
        <p14:creationId xmlns:p14="http://schemas.microsoft.com/office/powerpoint/2010/main" val="390249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75E02-B6FF-D261-41C1-5288C4B9F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Templates - Motivation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ABA99F3-621E-AB58-4ADD-D024F953E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653ED2-267D-454B-B9E3-59503D7C3DE8}" type="slidenum">
              <a:rPr lang="zh-TW" altLang="en-US" smtClean="0"/>
              <a:pPr>
                <a:defRPr/>
              </a:pPr>
              <a:t>9</a:t>
            </a:fld>
            <a:endParaRPr lang="en-US" altLang="zh-TW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803BB3-146C-4477-A4E2-0E5052C45AF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Class templates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are typically used when a class contains some member that is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independent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of the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data type</a:t>
            </a:r>
            <a:endParaRPr 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B614D7F-AA8F-2EE7-B9D0-D766B42E53CF}"/>
              </a:ext>
            </a:extLst>
          </p:cNvPr>
          <p:cNvSpPr txBox="1"/>
          <p:nvPr/>
        </p:nvSpPr>
        <p:spPr>
          <a:xfrm>
            <a:off x="381000" y="2286000"/>
            <a:ext cx="4571999" cy="4108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900" dirty="0">
                <a:latin typeface="Courier New" pitchFamily="49" charset="0"/>
              </a:rPr>
              <a:t>class </a:t>
            </a:r>
            <a:r>
              <a:rPr lang="en-US" altLang="zh-CN" sz="900" dirty="0" err="1">
                <a:latin typeface="Courier New" pitchFamily="49" charset="0"/>
              </a:rPr>
              <a:t>myConInt</a:t>
            </a:r>
            <a:r>
              <a:rPr lang="en-US" altLang="zh-CN" sz="900" dirty="0">
                <a:latin typeface="Courier New" pitchFamily="49" charset="0"/>
              </a:rPr>
              <a:t>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900" dirty="0">
                <a:latin typeface="Courier New" pitchFamily="49" charset="0"/>
              </a:rPr>
              <a:t>public: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900" dirty="0">
                <a:latin typeface="Courier New" pitchFamily="49" charset="0"/>
              </a:rPr>
              <a:t>    </a:t>
            </a:r>
            <a:r>
              <a:rPr lang="en-US" altLang="zh-CN" sz="900" dirty="0" err="1">
                <a:latin typeface="Courier New" pitchFamily="49" charset="0"/>
              </a:rPr>
              <a:t>myConInt</a:t>
            </a:r>
            <a:r>
              <a:rPr lang="en-US" altLang="zh-CN" sz="900" dirty="0">
                <a:latin typeface="Courier New" pitchFamily="49" charset="0"/>
              </a:rPr>
              <a:t>(int </a:t>
            </a:r>
            <a:r>
              <a:rPr lang="en-US" altLang="zh-CN" sz="900" dirty="0" err="1">
                <a:latin typeface="Courier New" pitchFamily="49" charset="0"/>
              </a:rPr>
              <a:t>arr</a:t>
            </a:r>
            <a:r>
              <a:rPr lang="en-US" altLang="zh-CN" sz="900" dirty="0">
                <a:latin typeface="Courier New" pitchFamily="49" charset="0"/>
              </a:rPr>
              <a:t>[], int s)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900" dirty="0">
                <a:latin typeface="Courier New" pitchFamily="49" charset="0"/>
              </a:rPr>
              <a:t>	</a:t>
            </a:r>
            <a:r>
              <a:rPr lang="en-US" altLang="zh-CN" sz="900" dirty="0" err="1">
                <a:latin typeface="Courier New" pitchFamily="49" charset="0"/>
              </a:rPr>
              <a:t>ptr</a:t>
            </a:r>
            <a:r>
              <a:rPr lang="en-US" altLang="zh-CN" sz="900" dirty="0">
                <a:latin typeface="Courier New" pitchFamily="49" charset="0"/>
              </a:rPr>
              <a:t> = new int[s];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900" dirty="0">
                <a:latin typeface="Courier New" pitchFamily="49" charset="0"/>
              </a:rPr>
              <a:t>	for (int </a:t>
            </a:r>
            <a:r>
              <a:rPr lang="en-US" altLang="zh-CN" sz="900" dirty="0" err="1">
                <a:latin typeface="Courier New" pitchFamily="49" charset="0"/>
              </a:rPr>
              <a:t>i</a:t>
            </a:r>
            <a:r>
              <a:rPr lang="en-US" altLang="zh-CN" sz="900" dirty="0">
                <a:latin typeface="Courier New" pitchFamily="49" charset="0"/>
              </a:rPr>
              <a:t>=0; </a:t>
            </a:r>
            <a:r>
              <a:rPr lang="en-US" altLang="zh-CN" sz="900" dirty="0" err="1">
                <a:latin typeface="Courier New" pitchFamily="49" charset="0"/>
              </a:rPr>
              <a:t>i</a:t>
            </a:r>
            <a:r>
              <a:rPr lang="en-US" altLang="zh-CN" sz="900" dirty="0">
                <a:latin typeface="Courier New" pitchFamily="49" charset="0"/>
              </a:rPr>
              <a:t>&lt;s; </a:t>
            </a:r>
            <a:r>
              <a:rPr lang="en-US" altLang="zh-CN" sz="900" dirty="0" err="1">
                <a:latin typeface="Courier New" pitchFamily="49" charset="0"/>
              </a:rPr>
              <a:t>i</a:t>
            </a:r>
            <a:r>
              <a:rPr lang="en-US" altLang="zh-CN" sz="900" dirty="0">
                <a:latin typeface="Courier New" pitchFamily="49" charset="0"/>
              </a:rPr>
              <a:t>++)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900" dirty="0">
                <a:latin typeface="Courier New" pitchFamily="49" charset="0"/>
              </a:rPr>
              <a:t>	    </a:t>
            </a:r>
            <a:r>
              <a:rPr lang="en-US" altLang="zh-CN" sz="900" dirty="0" err="1">
                <a:latin typeface="Courier New" pitchFamily="49" charset="0"/>
              </a:rPr>
              <a:t>ptr</a:t>
            </a:r>
            <a:r>
              <a:rPr lang="en-US" altLang="zh-CN" sz="900" dirty="0">
                <a:latin typeface="Courier New" pitchFamily="49" charset="0"/>
              </a:rPr>
              <a:t>[</a:t>
            </a:r>
            <a:r>
              <a:rPr lang="en-US" altLang="zh-CN" sz="900" dirty="0" err="1">
                <a:latin typeface="Courier New" pitchFamily="49" charset="0"/>
              </a:rPr>
              <a:t>i</a:t>
            </a:r>
            <a:r>
              <a:rPr lang="en-US" altLang="zh-CN" sz="900" dirty="0">
                <a:latin typeface="Courier New" pitchFamily="49" charset="0"/>
              </a:rPr>
              <a:t>] = </a:t>
            </a:r>
            <a:r>
              <a:rPr lang="en-US" altLang="zh-CN" sz="900" dirty="0" err="1">
                <a:latin typeface="Courier New" pitchFamily="49" charset="0"/>
              </a:rPr>
              <a:t>arr</a:t>
            </a:r>
            <a:r>
              <a:rPr lang="en-US" altLang="zh-CN" sz="900" dirty="0">
                <a:latin typeface="Courier New" pitchFamily="49" charset="0"/>
              </a:rPr>
              <a:t>[</a:t>
            </a:r>
            <a:r>
              <a:rPr lang="en-US" altLang="zh-CN" sz="900" dirty="0" err="1">
                <a:latin typeface="Courier New" pitchFamily="49" charset="0"/>
              </a:rPr>
              <a:t>i</a:t>
            </a:r>
            <a:r>
              <a:rPr lang="en-US" altLang="zh-CN" sz="900" dirty="0">
                <a:latin typeface="Courier New" pitchFamily="49" charset="0"/>
              </a:rPr>
              <a:t>];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900" dirty="0">
                <a:latin typeface="Courier New" pitchFamily="49" charset="0"/>
              </a:rPr>
              <a:t>	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900" dirty="0">
                <a:latin typeface="Courier New" pitchFamily="49" charset="0"/>
              </a:rPr>
              <a:t>	size = s;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900" dirty="0">
                <a:latin typeface="Courier New" pitchFamily="49" charset="0"/>
              </a:rPr>
              <a:t>    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900" dirty="0">
                <a:latin typeface="Courier New" pitchFamily="49" charset="0"/>
              </a:rPr>
              <a:t>    ~</a:t>
            </a:r>
            <a:r>
              <a:rPr lang="en-US" altLang="zh-CN" sz="900" dirty="0" err="1">
                <a:latin typeface="Courier New" pitchFamily="49" charset="0"/>
              </a:rPr>
              <a:t>myConInt</a:t>
            </a:r>
            <a:r>
              <a:rPr lang="en-US" altLang="zh-CN" sz="900" dirty="0">
                <a:latin typeface="Courier New" pitchFamily="49" charset="0"/>
              </a:rPr>
              <a:t>()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900" dirty="0">
                <a:latin typeface="Courier New" pitchFamily="49" charset="0"/>
              </a:rPr>
              <a:t>	if (</a:t>
            </a:r>
            <a:r>
              <a:rPr lang="en-US" altLang="zh-CN" sz="900" dirty="0" err="1">
                <a:latin typeface="Courier New" pitchFamily="49" charset="0"/>
              </a:rPr>
              <a:t>ptr</a:t>
            </a:r>
            <a:r>
              <a:rPr lang="en-US" altLang="zh-CN" sz="900" dirty="0">
                <a:latin typeface="Courier New" pitchFamily="49" charset="0"/>
              </a:rPr>
              <a:t> != NULL)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900" dirty="0">
                <a:latin typeface="Courier New" pitchFamily="49" charset="0"/>
              </a:rPr>
              <a:t>	    delete [] </a:t>
            </a:r>
            <a:r>
              <a:rPr lang="en-US" altLang="zh-CN" sz="900" dirty="0" err="1">
                <a:latin typeface="Courier New" pitchFamily="49" charset="0"/>
              </a:rPr>
              <a:t>ptr</a:t>
            </a:r>
            <a:r>
              <a:rPr lang="en-US" altLang="zh-CN" sz="900" dirty="0">
                <a:latin typeface="Courier New" pitchFamily="49" charset="0"/>
              </a:rPr>
              <a:t>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900" dirty="0">
                <a:latin typeface="Courier New" pitchFamily="49" charset="0"/>
              </a:rPr>
              <a:t>	    </a:t>
            </a:r>
            <a:r>
              <a:rPr lang="en-US" altLang="zh-CN" sz="900" dirty="0" err="1">
                <a:latin typeface="Courier New" pitchFamily="49" charset="0"/>
              </a:rPr>
              <a:t>ptr</a:t>
            </a:r>
            <a:r>
              <a:rPr lang="en-US" altLang="zh-CN" sz="900" dirty="0">
                <a:latin typeface="Courier New" pitchFamily="49" charset="0"/>
              </a:rPr>
              <a:t> = NULL;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900" dirty="0">
                <a:latin typeface="Courier New" pitchFamily="49" charset="0"/>
              </a:rPr>
              <a:t>	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900" dirty="0">
                <a:latin typeface="Courier New" pitchFamily="49" charset="0"/>
              </a:rPr>
              <a:t>    }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900" dirty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900" dirty="0">
                <a:latin typeface="Courier New" pitchFamily="49" charset="0"/>
              </a:rPr>
              <a:t>    friend </a:t>
            </a:r>
            <a:r>
              <a:rPr lang="en-US" altLang="zh-CN" sz="900" dirty="0" err="1">
                <a:latin typeface="Courier New" pitchFamily="49" charset="0"/>
              </a:rPr>
              <a:t>ostream</a:t>
            </a:r>
            <a:r>
              <a:rPr lang="en-US" altLang="zh-CN" sz="900" dirty="0">
                <a:latin typeface="Courier New" pitchFamily="49" charset="0"/>
              </a:rPr>
              <a:t>&amp; operator&lt;&lt;(</a:t>
            </a:r>
            <a:r>
              <a:rPr lang="en-US" altLang="zh-CN" sz="900" dirty="0" err="1">
                <a:latin typeface="Courier New" pitchFamily="49" charset="0"/>
              </a:rPr>
              <a:t>ostream</a:t>
            </a:r>
            <a:r>
              <a:rPr lang="en-US" altLang="zh-CN" sz="900" dirty="0">
                <a:latin typeface="Courier New" pitchFamily="49" charset="0"/>
              </a:rPr>
              <a:t> &amp;</a:t>
            </a:r>
            <a:r>
              <a:rPr lang="en-US" altLang="zh-CN" sz="900" dirty="0" err="1">
                <a:latin typeface="Courier New" pitchFamily="49" charset="0"/>
              </a:rPr>
              <a:t>cout</a:t>
            </a:r>
            <a:r>
              <a:rPr lang="en-US" altLang="zh-CN" sz="900" dirty="0">
                <a:latin typeface="Courier New" pitchFamily="49" charset="0"/>
              </a:rPr>
              <a:t>, </a:t>
            </a:r>
            <a:r>
              <a:rPr lang="en-US" altLang="zh-CN" sz="900" dirty="0" err="1">
                <a:latin typeface="Courier New" pitchFamily="49" charset="0"/>
              </a:rPr>
              <a:t>myConInt</a:t>
            </a:r>
            <a:r>
              <a:rPr lang="en-US" altLang="zh-CN" sz="900" dirty="0">
                <a:latin typeface="Courier New" pitchFamily="49" charset="0"/>
              </a:rPr>
              <a:t> &amp;c);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900" dirty="0">
                <a:latin typeface="Courier New" pitchFamily="49" charset="0"/>
              </a:rPr>
              <a:t>	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900" dirty="0">
                <a:latin typeface="Courier New" pitchFamily="49" charset="0"/>
              </a:rPr>
              <a:t>private: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900" dirty="0">
                <a:latin typeface="Courier New" pitchFamily="49" charset="0"/>
              </a:rPr>
              <a:t>    int *</a:t>
            </a:r>
            <a:r>
              <a:rPr lang="en-US" altLang="zh-CN" sz="900" dirty="0" err="1">
                <a:latin typeface="Courier New" pitchFamily="49" charset="0"/>
              </a:rPr>
              <a:t>ptr</a:t>
            </a:r>
            <a:r>
              <a:rPr lang="en-US" altLang="zh-CN" sz="900" dirty="0">
                <a:latin typeface="Courier New" pitchFamily="49" charset="0"/>
              </a:rPr>
              <a:t>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900" dirty="0">
                <a:latin typeface="Courier New" pitchFamily="49" charset="0"/>
              </a:rPr>
              <a:t>    int size;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900" dirty="0">
                <a:latin typeface="Courier New" pitchFamily="49" charset="0"/>
              </a:rPr>
              <a:t>};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900" dirty="0" err="1">
                <a:latin typeface="Courier New" pitchFamily="49" charset="0"/>
              </a:rPr>
              <a:t>ostream</a:t>
            </a:r>
            <a:r>
              <a:rPr lang="en-US" altLang="zh-CN" sz="900" dirty="0">
                <a:latin typeface="Courier New" pitchFamily="49" charset="0"/>
              </a:rPr>
              <a:t>&amp; operator&lt;&lt;(</a:t>
            </a:r>
            <a:r>
              <a:rPr lang="en-US" altLang="zh-CN" sz="900" dirty="0" err="1">
                <a:latin typeface="Courier New" pitchFamily="49" charset="0"/>
              </a:rPr>
              <a:t>ostream</a:t>
            </a:r>
            <a:r>
              <a:rPr lang="en-US" altLang="zh-CN" sz="900" dirty="0">
                <a:latin typeface="Courier New" pitchFamily="49" charset="0"/>
              </a:rPr>
              <a:t> &amp;</a:t>
            </a:r>
            <a:r>
              <a:rPr lang="en-US" altLang="zh-CN" sz="900" dirty="0" err="1">
                <a:latin typeface="Courier New" pitchFamily="49" charset="0"/>
              </a:rPr>
              <a:t>cout</a:t>
            </a:r>
            <a:r>
              <a:rPr lang="en-US" altLang="zh-CN" sz="900" dirty="0">
                <a:latin typeface="Courier New" pitchFamily="49" charset="0"/>
              </a:rPr>
              <a:t>, </a:t>
            </a:r>
            <a:r>
              <a:rPr lang="en-US" altLang="zh-CN" sz="900" dirty="0" err="1">
                <a:latin typeface="Courier New" pitchFamily="49" charset="0"/>
              </a:rPr>
              <a:t>myConInt</a:t>
            </a:r>
            <a:r>
              <a:rPr lang="en-US" altLang="zh-CN" sz="900" dirty="0">
                <a:latin typeface="Courier New" pitchFamily="49" charset="0"/>
              </a:rPr>
              <a:t> &amp;c)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900" dirty="0">
                <a:latin typeface="Courier New" pitchFamily="49" charset="0"/>
              </a:rPr>
              <a:t>    for (int </a:t>
            </a:r>
            <a:r>
              <a:rPr lang="en-US" altLang="zh-CN" sz="900" dirty="0" err="1">
                <a:latin typeface="Courier New" pitchFamily="49" charset="0"/>
              </a:rPr>
              <a:t>i</a:t>
            </a:r>
            <a:r>
              <a:rPr lang="en-US" altLang="zh-CN" sz="900" dirty="0">
                <a:latin typeface="Courier New" pitchFamily="49" charset="0"/>
              </a:rPr>
              <a:t>=0; </a:t>
            </a:r>
            <a:r>
              <a:rPr lang="en-US" altLang="zh-CN" sz="900" dirty="0" err="1">
                <a:latin typeface="Courier New" pitchFamily="49" charset="0"/>
              </a:rPr>
              <a:t>i</a:t>
            </a:r>
            <a:r>
              <a:rPr lang="en-US" altLang="zh-CN" sz="900" dirty="0">
                <a:latin typeface="Courier New" pitchFamily="49" charset="0"/>
              </a:rPr>
              <a:t>&lt;</a:t>
            </a:r>
            <a:r>
              <a:rPr lang="en-US" altLang="zh-CN" sz="900" dirty="0" err="1">
                <a:latin typeface="Courier New" pitchFamily="49" charset="0"/>
              </a:rPr>
              <a:t>c.size</a:t>
            </a:r>
            <a:r>
              <a:rPr lang="en-US" altLang="zh-CN" sz="900" dirty="0">
                <a:latin typeface="Courier New" pitchFamily="49" charset="0"/>
              </a:rPr>
              <a:t>; </a:t>
            </a:r>
            <a:r>
              <a:rPr lang="en-US" altLang="zh-CN" sz="900" dirty="0" err="1">
                <a:latin typeface="Courier New" pitchFamily="49" charset="0"/>
              </a:rPr>
              <a:t>i</a:t>
            </a:r>
            <a:r>
              <a:rPr lang="en-US" altLang="zh-CN" sz="900" dirty="0">
                <a:latin typeface="Courier New" pitchFamily="49" charset="0"/>
              </a:rPr>
              <a:t>++)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900" dirty="0">
                <a:latin typeface="Courier New" pitchFamily="49" charset="0"/>
              </a:rPr>
              <a:t>	</a:t>
            </a:r>
            <a:r>
              <a:rPr lang="en-US" altLang="zh-CN" sz="900" dirty="0" err="1">
                <a:latin typeface="Courier New" pitchFamily="49" charset="0"/>
              </a:rPr>
              <a:t>cout</a:t>
            </a:r>
            <a:r>
              <a:rPr lang="en-US" altLang="zh-CN" sz="900" dirty="0">
                <a:latin typeface="Courier New" pitchFamily="49" charset="0"/>
              </a:rPr>
              <a:t> &lt;&lt; *(</a:t>
            </a:r>
            <a:r>
              <a:rPr lang="en-US" altLang="zh-CN" sz="900" dirty="0" err="1">
                <a:latin typeface="Courier New" pitchFamily="49" charset="0"/>
              </a:rPr>
              <a:t>c.ptr</a:t>
            </a:r>
            <a:r>
              <a:rPr lang="en-US" altLang="zh-CN" sz="900" dirty="0">
                <a:latin typeface="Courier New" pitchFamily="49" charset="0"/>
              </a:rPr>
              <a:t> + </a:t>
            </a:r>
            <a:r>
              <a:rPr lang="en-US" altLang="zh-CN" sz="900" dirty="0" err="1">
                <a:latin typeface="Courier New" pitchFamily="49" charset="0"/>
              </a:rPr>
              <a:t>i</a:t>
            </a:r>
            <a:r>
              <a:rPr lang="en-US" altLang="zh-CN" sz="900" dirty="0">
                <a:latin typeface="Courier New" pitchFamily="49" charset="0"/>
              </a:rPr>
              <a:t>) &lt;&lt; " ";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900" dirty="0">
                <a:latin typeface="Courier New" pitchFamily="49" charset="0"/>
              </a:rPr>
              <a:t>    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900" dirty="0">
                <a:latin typeface="Courier New" pitchFamily="49" charset="0"/>
              </a:rPr>
              <a:t>    return </a:t>
            </a:r>
            <a:r>
              <a:rPr lang="en-US" altLang="zh-CN" sz="900" dirty="0" err="1">
                <a:latin typeface="Courier New" pitchFamily="49" charset="0"/>
              </a:rPr>
              <a:t>cout</a:t>
            </a:r>
            <a:r>
              <a:rPr lang="en-US" altLang="zh-CN" sz="900" dirty="0">
                <a:latin typeface="Courier New" pitchFamily="49" charset="0"/>
              </a:rPr>
              <a:t>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900" dirty="0">
                <a:latin typeface="Courier New" pitchFamily="49" charset="0"/>
              </a:rPr>
              <a:t>}</a:t>
            </a:r>
          </a:p>
        </p:txBody>
      </p:sp>
      <p:sp>
        <p:nvSpPr>
          <p:cNvPr id="6" name="文本框 4">
            <a:extLst>
              <a:ext uri="{FF2B5EF4-FFF2-40B4-BE49-F238E27FC236}">
                <a16:creationId xmlns:a16="http://schemas.microsoft.com/office/drawing/2014/main" id="{1D0D8041-4118-C25C-268A-60249AB07536}"/>
              </a:ext>
            </a:extLst>
          </p:cNvPr>
          <p:cNvSpPr txBox="1"/>
          <p:nvPr/>
        </p:nvSpPr>
        <p:spPr>
          <a:xfrm>
            <a:off x="4572000" y="2305883"/>
            <a:ext cx="4571999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900" dirty="0">
                <a:latin typeface="Courier New" pitchFamily="49" charset="0"/>
              </a:rPr>
              <a:t>class </a:t>
            </a:r>
            <a:r>
              <a:rPr lang="en-US" altLang="zh-CN" sz="900" dirty="0" err="1">
                <a:latin typeface="Courier New" pitchFamily="49" charset="0"/>
              </a:rPr>
              <a:t>myConChar</a:t>
            </a:r>
            <a:r>
              <a:rPr lang="en-US" altLang="zh-CN" sz="900" dirty="0">
                <a:latin typeface="Courier New" pitchFamily="49" charset="0"/>
              </a:rPr>
              <a:t>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900" dirty="0">
                <a:latin typeface="Courier New" pitchFamily="49" charset="0"/>
              </a:rPr>
              <a:t>public: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900" dirty="0">
                <a:latin typeface="Courier New" pitchFamily="49" charset="0"/>
              </a:rPr>
              <a:t>    </a:t>
            </a:r>
            <a:r>
              <a:rPr lang="en-US" altLang="zh-CN" sz="900" dirty="0" err="1">
                <a:latin typeface="Courier New" pitchFamily="49" charset="0"/>
              </a:rPr>
              <a:t>myConChar</a:t>
            </a:r>
            <a:r>
              <a:rPr lang="en-US" altLang="zh-CN" sz="900" dirty="0">
                <a:latin typeface="Courier New" pitchFamily="49" charset="0"/>
              </a:rPr>
              <a:t>(char </a:t>
            </a:r>
            <a:r>
              <a:rPr lang="en-US" altLang="zh-CN" sz="900" dirty="0" err="1">
                <a:latin typeface="Courier New" pitchFamily="49" charset="0"/>
              </a:rPr>
              <a:t>arr</a:t>
            </a:r>
            <a:r>
              <a:rPr lang="en-US" altLang="zh-CN" sz="900" dirty="0">
                <a:latin typeface="Courier New" pitchFamily="49" charset="0"/>
              </a:rPr>
              <a:t>[], int s)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900" dirty="0">
                <a:latin typeface="Courier New" pitchFamily="49" charset="0"/>
              </a:rPr>
              <a:t>	</a:t>
            </a:r>
            <a:r>
              <a:rPr lang="en-US" altLang="zh-CN" sz="900" dirty="0" err="1">
                <a:latin typeface="Courier New" pitchFamily="49" charset="0"/>
              </a:rPr>
              <a:t>ptr</a:t>
            </a:r>
            <a:r>
              <a:rPr lang="en-US" altLang="zh-CN" sz="900" dirty="0">
                <a:latin typeface="Courier New" pitchFamily="49" charset="0"/>
              </a:rPr>
              <a:t> = new char[s];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900" dirty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900" dirty="0">
                <a:latin typeface="Courier New" pitchFamily="49" charset="0"/>
              </a:rPr>
              <a:t>	for (int </a:t>
            </a:r>
            <a:r>
              <a:rPr lang="en-US" altLang="zh-CN" sz="900" dirty="0" err="1">
                <a:latin typeface="Courier New" pitchFamily="49" charset="0"/>
              </a:rPr>
              <a:t>i</a:t>
            </a:r>
            <a:r>
              <a:rPr lang="en-US" altLang="zh-CN" sz="900" dirty="0">
                <a:latin typeface="Courier New" pitchFamily="49" charset="0"/>
              </a:rPr>
              <a:t>=0; </a:t>
            </a:r>
            <a:r>
              <a:rPr lang="en-US" altLang="zh-CN" sz="900" dirty="0" err="1">
                <a:latin typeface="Courier New" pitchFamily="49" charset="0"/>
              </a:rPr>
              <a:t>i</a:t>
            </a:r>
            <a:r>
              <a:rPr lang="en-US" altLang="zh-CN" sz="900" dirty="0">
                <a:latin typeface="Courier New" pitchFamily="49" charset="0"/>
              </a:rPr>
              <a:t>&lt;s; </a:t>
            </a:r>
            <a:r>
              <a:rPr lang="en-US" altLang="zh-CN" sz="900" dirty="0" err="1">
                <a:latin typeface="Courier New" pitchFamily="49" charset="0"/>
              </a:rPr>
              <a:t>i</a:t>
            </a:r>
            <a:r>
              <a:rPr lang="en-US" altLang="zh-CN" sz="900" dirty="0">
                <a:latin typeface="Courier New" pitchFamily="49" charset="0"/>
              </a:rPr>
              <a:t>++)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900" dirty="0">
                <a:latin typeface="Courier New" pitchFamily="49" charset="0"/>
              </a:rPr>
              <a:t>	    </a:t>
            </a:r>
            <a:r>
              <a:rPr lang="en-US" altLang="zh-CN" sz="900" dirty="0" err="1">
                <a:latin typeface="Courier New" pitchFamily="49" charset="0"/>
              </a:rPr>
              <a:t>ptr</a:t>
            </a:r>
            <a:r>
              <a:rPr lang="en-US" altLang="zh-CN" sz="900" dirty="0">
                <a:latin typeface="Courier New" pitchFamily="49" charset="0"/>
              </a:rPr>
              <a:t>[</a:t>
            </a:r>
            <a:r>
              <a:rPr lang="en-US" altLang="zh-CN" sz="900" dirty="0" err="1">
                <a:latin typeface="Courier New" pitchFamily="49" charset="0"/>
              </a:rPr>
              <a:t>i</a:t>
            </a:r>
            <a:r>
              <a:rPr lang="en-US" altLang="zh-CN" sz="900" dirty="0">
                <a:latin typeface="Courier New" pitchFamily="49" charset="0"/>
              </a:rPr>
              <a:t>] = </a:t>
            </a:r>
            <a:r>
              <a:rPr lang="en-US" altLang="zh-CN" sz="900" dirty="0" err="1">
                <a:latin typeface="Courier New" pitchFamily="49" charset="0"/>
              </a:rPr>
              <a:t>arr</a:t>
            </a:r>
            <a:r>
              <a:rPr lang="en-US" altLang="zh-CN" sz="900" dirty="0">
                <a:latin typeface="Courier New" pitchFamily="49" charset="0"/>
              </a:rPr>
              <a:t>[</a:t>
            </a:r>
            <a:r>
              <a:rPr lang="en-US" altLang="zh-CN" sz="900" dirty="0" err="1">
                <a:latin typeface="Courier New" pitchFamily="49" charset="0"/>
              </a:rPr>
              <a:t>i</a:t>
            </a:r>
            <a:r>
              <a:rPr lang="en-US" altLang="zh-CN" sz="900" dirty="0">
                <a:latin typeface="Courier New" pitchFamily="49" charset="0"/>
              </a:rPr>
              <a:t>];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900" dirty="0">
                <a:latin typeface="Courier New" pitchFamily="49" charset="0"/>
              </a:rPr>
              <a:t>	}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900" dirty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900" dirty="0">
                <a:latin typeface="Courier New" pitchFamily="49" charset="0"/>
              </a:rPr>
              <a:t>	size = s;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900" dirty="0">
                <a:latin typeface="Courier New" pitchFamily="49" charset="0"/>
              </a:rPr>
              <a:t>    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900" dirty="0">
                <a:latin typeface="Courier New" pitchFamily="49" charset="0"/>
              </a:rPr>
              <a:t>    ~</a:t>
            </a:r>
            <a:r>
              <a:rPr lang="en-US" altLang="zh-CN" sz="900" dirty="0" err="1">
                <a:latin typeface="Courier New" pitchFamily="49" charset="0"/>
              </a:rPr>
              <a:t>myConChar</a:t>
            </a:r>
            <a:r>
              <a:rPr lang="en-US" altLang="zh-CN" sz="900" dirty="0">
                <a:latin typeface="Courier New" pitchFamily="49" charset="0"/>
              </a:rPr>
              <a:t>()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900" dirty="0">
                <a:latin typeface="Courier New" pitchFamily="49" charset="0"/>
              </a:rPr>
              <a:t>	if (</a:t>
            </a:r>
            <a:r>
              <a:rPr lang="en-US" altLang="zh-CN" sz="900" dirty="0" err="1">
                <a:latin typeface="Courier New" pitchFamily="49" charset="0"/>
              </a:rPr>
              <a:t>ptr</a:t>
            </a:r>
            <a:r>
              <a:rPr lang="en-US" altLang="zh-CN" sz="900" dirty="0">
                <a:latin typeface="Courier New" pitchFamily="49" charset="0"/>
              </a:rPr>
              <a:t> != NULL)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900" dirty="0">
                <a:latin typeface="Courier New" pitchFamily="49" charset="0"/>
              </a:rPr>
              <a:t>	    delete [] </a:t>
            </a:r>
            <a:r>
              <a:rPr lang="en-US" altLang="zh-CN" sz="900" dirty="0" err="1">
                <a:latin typeface="Courier New" pitchFamily="49" charset="0"/>
              </a:rPr>
              <a:t>ptr</a:t>
            </a:r>
            <a:r>
              <a:rPr lang="en-US" altLang="zh-CN" sz="900" dirty="0">
                <a:latin typeface="Courier New" pitchFamily="49" charset="0"/>
              </a:rPr>
              <a:t>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900" dirty="0">
                <a:latin typeface="Courier New" pitchFamily="49" charset="0"/>
              </a:rPr>
              <a:t>	    </a:t>
            </a:r>
            <a:r>
              <a:rPr lang="en-US" altLang="zh-CN" sz="900" dirty="0" err="1">
                <a:latin typeface="Courier New" pitchFamily="49" charset="0"/>
              </a:rPr>
              <a:t>ptr</a:t>
            </a:r>
            <a:r>
              <a:rPr lang="en-US" altLang="zh-CN" sz="900" dirty="0">
                <a:latin typeface="Courier New" pitchFamily="49" charset="0"/>
              </a:rPr>
              <a:t> = NULL;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900" dirty="0">
                <a:latin typeface="Courier New" pitchFamily="49" charset="0"/>
              </a:rPr>
              <a:t>	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900" dirty="0">
                <a:latin typeface="Courier New" pitchFamily="49" charset="0"/>
              </a:rPr>
              <a:t>    }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900" dirty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900" dirty="0">
                <a:latin typeface="Courier New" pitchFamily="49" charset="0"/>
              </a:rPr>
              <a:t>    friend </a:t>
            </a:r>
            <a:r>
              <a:rPr lang="en-US" altLang="zh-CN" sz="900" dirty="0" err="1">
                <a:latin typeface="Courier New" pitchFamily="49" charset="0"/>
              </a:rPr>
              <a:t>ostream</a:t>
            </a:r>
            <a:r>
              <a:rPr lang="en-US" altLang="zh-CN" sz="900" dirty="0">
                <a:latin typeface="Courier New" pitchFamily="49" charset="0"/>
              </a:rPr>
              <a:t>&amp; operator&lt;&lt;(</a:t>
            </a:r>
            <a:r>
              <a:rPr lang="en-US" altLang="zh-CN" sz="900" dirty="0" err="1">
                <a:latin typeface="Courier New" pitchFamily="49" charset="0"/>
              </a:rPr>
              <a:t>ostream</a:t>
            </a:r>
            <a:r>
              <a:rPr lang="en-US" altLang="zh-CN" sz="900" dirty="0">
                <a:latin typeface="Courier New" pitchFamily="49" charset="0"/>
              </a:rPr>
              <a:t> &amp;</a:t>
            </a:r>
            <a:r>
              <a:rPr lang="en-US" altLang="zh-CN" sz="900" dirty="0" err="1">
                <a:latin typeface="Courier New" pitchFamily="49" charset="0"/>
              </a:rPr>
              <a:t>cout</a:t>
            </a:r>
            <a:r>
              <a:rPr lang="en-US" altLang="zh-CN" sz="900" dirty="0">
                <a:latin typeface="Courier New" pitchFamily="49" charset="0"/>
              </a:rPr>
              <a:t>, </a:t>
            </a:r>
            <a:r>
              <a:rPr lang="en-US" altLang="zh-CN" sz="900" dirty="0" err="1">
                <a:latin typeface="Courier New" pitchFamily="49" charset="0"/>
              </a:rPr>
              <a:t>myConChar</a:t>
            </a:r>
            <a:r>
              <a:rPr lang="en-US" altLang="zh-CN" sz="900" dirty="0">
                <a:latin typeface="Courier New" pitchFamily="49" charset="0"/>
              </a:rPr>
              <a:t> &amp;c)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900" dirty="0">
                <a:latin typeface="Courier New" pitchFamily="49" charset="0"/>
              </a:rPr>
              <a:t>	for (int </a:t>
            </a:r>
            <a:r>
              <a:rPr lang="en-US" altLang="zh-CN" sz="900" dirty="0" err="1">
                <a:latin typeface="Courier New" pitchFamily="49" charset="0"/>
              </a:rPr>
              <a:t>i</a:t>
            </a:r>
            <a:r>
              <a:rPr lang="en-US" altLang="zh-CN" sz="900" dirty="0">
                <a:latin typeface="Courier New" pitchFamily="49" charset="0"/>
              </a:rPr>
              <a:t>=0; </a:t>
            </a:r>
            <a:r>
              <a:rPr lang="en-US" altLang="zh-CN" sz="900" dirty="0" err="1">
                <a:latin typeface="Courier New" pitchFamily="49" charset="0"/>
              </a:rPr>
              <a:t>i</a:t>
            </a:r>
            <a:r>
              <a:rPr lang="en-US" altLang="zh-CN" sz="900" dirty="0">
                <a:latin typeface="Courier New" pitchFamily="49" charset="0"/>
              </a:rPr>
              <a:t>&lt;</a:t>
            </a:r>
            <a:r>
              <a:rPr lang="en-US" altLang="zh-CN" sz="900" dirty="0" err="1">
                <a:latin typeface="Courier New" pitchFamily="49" charset="0"/>
              </a:rPr>
              <a:t>c.size</a:t>
            </a:r>
            <a:r>
              <a:rPr lang="en-US" altLang="zh-CN" sz="900" dirty="0">
                <a:latin typeface="Courier New" pitchFamily="49" charset="0"/>
              </a:rPr>
              <a:t>; </a:t>
            </a:r>
            <a:r>
              <a:rPr lang="en-US" altLang="zh-CN" sz="900" dirty="0" err="1">
                <a:latin typeface="Courier New" pitchFamily="49" charset="0"/>
              </a:rPr>
              <a:t>i</a:t>
            </a:r>
            <a:r>
              <a:rPr lang="en-US" altLang="zh-CN" sz="900" dirty="0">
                <a:latin typeface="Courier New" pitchFamily="49" charset="0"/>
              </a:rPr>
              <a:t>++)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900" dirty="0">
                <a:latin typeface="Courier New" pitchFamily="49" charset="0"/>
              </a:rPr>
              <a:t>	    </a:t>
            </a:r>
            <a:r>
              <a:rPr lang="en-US" altLang="zh-CN" sz="900" dirty="0" err="1">
                <a:latin typeface="Courier New" pitchFamily="49" charset="0"/>
              </a:rPr>
              <a:t>cout</a:t>
            </a:r>
            <a:r>
              <a:rPr lang="en-US" altLang="zh-CN" sz="900" dirty="0">
                <a:latin typeface="Courier New" pitchFamily="49" charset="0"/>
              </a:rPr>
              <a:t> &lt;&lt; *(</a:t>
            </a:r>
            <a:r>
              <a:rPr lang="en-US" altLang="zh-CN" sz="900" dirty="0" err="1">
                <a:latin typeface="Courier New" pitchFamily="49" charset="0"/>
              </a:rPr>
              <a:t>c.ptr</a:t>
            </a:r>
            <a:r>
              <a:rPr lang="en-US" altLang="zh-CN" sz="900" dirty="0">
                <a:latin typeface="Courier New" pitchFamily="49" charset="0"/>
              </a:rPr>
              <a:t> + </a:t>
            </a:r>
            <a:r>
              <a:rPr lang="en-US" altLang="zh-CN" sz="900" dirty="0" err="1">
                <a:latin typeface="Courier New" pitchFamily="49" charset="0"/>
              </a:rPr>
              <a:t>i</a:t>
            </a:r>
            <a:r>
              <a:rPr lang="en-US" altLang="zh-CN" sz="900" dirty="0">
                <a:latin typeface="Courier New" pitchFamily="49" charset="0"/>
              </a:rPr>
              <a:t>) &lt;&lt; " ";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900" dirty="0">
                <a:latin typeface="Courier New" pitchFamily="49" charset="0"/>
              </a:rPr>
              <a:t>	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900" dirty="0">
                <a:latin typeface="Courier New" pitchFamily="49" charset="0"/>
              </a:rPr>
              <a:t>	return </a:t>
            </a:r>
            <a:r>
              <a:rPr lang="en-US" altLang="zh-CN" sz="900" dirty="0" err="1">
                <a:latin typeface="Courier New" pitchFamily="49" charset="0"/>
              </a:rPr>
              <a:t>cout</a:t>
            </a:r>
            <a:r>
              <a:rPr lang="en-US" altLang="zh-CN" sz="900" dirty="0">
                <a:latin typeface="Courier New" pitchFamily="49" charset="0"/>
              </a:rPr>
              <a:t>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900" dirty="0">
                <a:latin typeface="Courier New" pitchFamily="49" charset="0"/>
              </a:rPr>
              <a:t>    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900" dirty="0">
                <a:latin typeface="Courier New" pitchFamily="49" charset="0"/>
              </a:rPr>
              <a:t>		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900" dirty="0">
                <a:latin typeface="Courier New" pitchFamily="49" charset="0"/>
              </a:rPr>
              <a:t>private: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900" dirty="0">
                <a:latin typeface="Courier New" pitchFamily="49" charset="0"/>
              </a:rPr>
              <a:t>    char *</a:t>
            </a:r>
            <a:r>
              <a:rPr lang="en-US" altLang="zh-CN" sz="900" dirty="0" err="1">
                <a:latin typeface="Courier New" pitchFamily="49" charset="0"/>
              </a:rPr>
              <a:t>ptr</a:t>
            </a:r>
            <a:r>
              <a:rPr lang="en-US" altLang="zh-CN" sz="900" dirty="0">
                <a:latin typeface="Courier New" pitchFamily="49" charset="0"/>
              </a:rPr>
              <a:t>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900" dirty="0">
                <a:latin typeface="Courier New" pitchFamily="49" charset="0"/>
              </a:rPr>
              <a:t>    int size;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900" dirty="0">
                <a:latin typeface="Courier New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884500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52DDF-6D96-4A13-A2D7-D43BA0B92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Templates</a:t>
            </a:r>
            <a:endParaRPr lang="en-HK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61B8F34-422A-4434-A8AA-E9A06F99F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653ED2-267D-454B-B9E3-59503D7C3DE8}" type="slidenum">
              <a:rPr lang="zh-TW" altLang="en-US" smtClean="0"/>
              <a:pPr>
                <a:defRPr/>
              </a:pPr>
              <a:t>10</a:t>
            </a:fld>
            <a:endParaRPr lang="en-US" altLang="zh-TW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F56B65-A17F-49D5-BB68-858D8A9605C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200" dirty="0">
                <a:solidFill>
                  <a:srgbClr val="C00000"/>
                </a:solidFill>
              </a:rPr>
              <a:t>Class templates</a:t>
            </a:r>
            <a:r>
              <a:rPr lang="en-US" sz="2200" dirty="0"/>
              <a:t> are typically used when a class contains some member that is </a:t>
            </a:r>
            <a:r>
              <a:rPr lang="en-US" sz="2200" dirty="0">
                <a:solidFill>
                  <a:srgbClr val="7030A0"/>
                </a:solidFill>
              </a:rPr>
              <a:t>independent</a:t>
            </a:r>
            <a:r>
              <a:rPr lang="en-US" sz="2200" dirty="0"/>
              <a:t> of the </a:t>
            </a:r>
            <a:r>
              <a:rPr lang="en-US" sz="2200" dirty="0">
                <a:solidFill>
                  <a:srgbClr val="0070C0"/>
                </a:solidFill>
              </a:rPr>
              <a:t>data type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9CBFDE9-527D-4650-B368-4C31ED947296}"/>
              </a:ext>
            </a:extLst>
          </p:cNvPr>
          <p:cNvSpPr txBox="1"/>
          <p:nvPr/>
        </p:nvSpPr>
        <p:spPr>
          <a:xfrm>
            <a:off x="609600" y="2362200"/>
            <a:ext cx="4800599" cy="4385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900" dirty="0">
                <a:latin typeface="Courier New" pitchFamily="49" charset="0"/>
              </a:rPr>
              <a:t>template &lt;class T&gt;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900" dirty="0">
                <a:latin typeface="Courier New" pitchFamily="49" charset="0"/>
              </a:rPr>
              <a:t>class </a:t>
            </a:r>
            <a:r>
              <a:rPr lang="en-US" altLang="zh-CN" sz="900" dirty="0" err="1">
                <a:latin typeface="Courier New" pitchFamily="49" charset="0"/>
              </a:rPr>
              <a:t>myCon</a:t>
            </a:r>
            <a:r>
              <a:rPr lang="en-US" altLang="zh-CN" sz="900" dirty="0">
                <a:latin typeface="Courier New" pitchFamily="49" charset="0"/>
              </a:rPr>
              <a:t>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900" dirty="0">
                <a:latin typeface="Courier New" pitchFamily="49" charset="0"/>
              </a:rPr>
              <a:t>    public: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900" dirty="0">
                <a:latin typeface="Courier New" pitchFamily="49" charset="0"/>
              </a:rPr>
              <a:t>        </a:t>
            </a:r>
            <a:r>
              <a:rPr lang="en-US" altLang="zh-CN" sz="900" dirty="0" err="1">
                <a:latin typeface="Courier New" pitchFamily="49" charset="0"/>
              </a:rPr>
              <a:t>myCon</a:t>
            </a:r>
            <a:r>
              <a:rPr lang="en-US" altLang="zh-CN" sz="900" dirty="0">
                <a:latin typeface="Courier New" pitchFamily="49" charset="0"/>
              </a:rPr>
              <a:t>(T </a:t>
            </a:r>
            <a:r>
              <a:rPr lang="en-US" altLang="zh-CN" sz="900" dirty="0" err="1">
                <a:latin typeface="Courier New" pitchFamily="49" charset="0"/>
              </a:rPr>
              <a:t>arr</a:t>
            </a:r>
            <a:r>
              <a:rPr lang="en-US" altLang="zh-CN" sz="900" dirty="0">
                <a:latin typeface="Courier New" pitchFamily="49" charset="0"/>
              </a:rPr>
              <a:t>[], int s)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900" dirty="0">
                <a:latin typeface="Courier New" pitchFamily="49" charset="0"/>
              </a:rPr>
              <a:t>            </a:t>
            </a:r>
            <a:r>
              <a:rPr lang="en-US" altLang="zh-CN" sz="900" dirty="0" err="1">
                <a:latin typeface="Courier New" pitchFamily="49" charset="0"/>
              </a:rPr>
              <a:t>ptr</a:t>
            </a:r>
            <a:r>
              <a:rPr lang="en-US" altLang="zh-CN" sz="900" dirty="0">
                <a:latin typeface="Courier New" pitchFamily="49" charset="0"/>
              </a:rPr>
              <a:t> = new T[s];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900" dirty="0">
                <a:latin typeface="Courier New" pitchFamily="49" charset="0"/>
              </a:rPr>
              <a:t>            size = s;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900" dirty="0">
                <a:latin typeface="Courier New" pitchFamily="49" charset="0"/>
              </a:rPr>
              <a:t>            for (int </a:t>
            </a:r>
            <a:r>
              <a:rPr lang="en-US" altLang="zh-CN" sz="900" dirty="0" err="1">
                <a:latin typeface="Courier New" pitchFamily="49" charset="0"/>
              </a:rPr>
              <a:t>i</a:t>
            </a:r>
            <a:r>
              <a:rPr lang="en-US" altLang="zh-CN" sz="900" dirty="0">
                <a:latin typeface="Courier New" pitchFamily="49" charset="0"/>
              </a:rPr>
              <a:t>=0; </a:t>
            </a:r>
            <a:r>
              <a:rPr lang="en-US" altLang="zh-CN" sz="900" dirty="0" err="1">
                <a:latin typeface="Courier New" pitchFamily="49" charset="0"/>
              </a:rPr>
              <a:t>i</a:t>
            </a:r>
            <a:r>
              <a:rPr lang="en-US" altLang="zh-CN" sz="900" dirty="0">
                <a:latin typeface="Courier New" pitchFamily="49" charset="0"/>
              </a:rPr>
              <a:t>&lt;s;  </a:t>
            </a:r>
            <a:r>
              <a:rPr lang="en-US" altLang="zh-CN" sz="900" dirty="0" err="1">
                <a:latin typeface="Courier New" pitchFamily="49" charset="0"/>
              </a:rPr>
              <a:t>i</a:t>
            </a:r>
            <a:r>
              <a:rPr lang="en-US" altLang="zh-CN" sz="900" dirty="0">
                <a:latin typeface="Courier New" pitchFamily="49" charset="0"/>
              </a:rPr>
              <a:t>++)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900" dirty="0">
                <a:latin typeface="Courier New" pitchFamily="49" charset="0"/>
              </a:rPr>
              <a:t>                </a:t>
            </a:r>
            <a:r>
              <a:rPr lang="en-US" altLang="zh-CN" sz="900" dirty="0" err="1">
                <a:latin typeface="Courier New" pitchFamily="49" charset="0"/>
              </a:rPr>
              <a:t>ptr</a:t>
            </a:r>
            <a:r>
              <a:rPr lang="en-US" altLang="zh-CN" sz="900" dirty="0">
                <a:latin typeface="Courier New" pitchFamily="49" charset="0"/>
              </a:rPr>
              <a:t>[</a:t>
            </a:r>
            <a:r>
              <a:rPr lang="en-US" altLang="zh-CN" sz="900" dirty="0" err="1">
                <a:latin typeface="Courier New" pitchFamily="49" charset="0"/>
              </a:rPr>
              <a:t>i</a:t>
            </a:r>
            <a:r>
              <a:rPr lang="en-US" altLang="zh-CN" sz="900" dirty="0">
                <a:latin typeface="Courier New" pitchFamily="49" charset="0"/>
              </a:rPr>
              <a:t>] = </a:t>
            </a:r>
            <a:r>
              <a:rPr lang="en-US" altLang="zh-CN" sz="900" dirty="0" err="1">
                <a:latin typeface="Courier New" pitchFamily="49" charset="0"/>
              </a:rPr>
              <a:t>arr</a:t>
            </a:r>
            <a:r>
              <a:rPr lang="en-US" altLang="zh-CN" sz="900" dirty="0">
                <a:latin typeface="Courier New" pitchFamily="49" charset="0"/>
              </a:rPr>
              <a:t>[</a:t>
            </a:r>
            <a:r>
              <a:rPr lang="en-US" altLang="zh-CN" sz="900" dirty="0" err="1">
                <a:latin typeface="Courier New" pitchFamily="49" charset="0"/>
              </a:rPr>
              <a:t>i</a:t>
            </a:r>
            <a:r>
              <a:rPr lang="en-US" altLang="zh-CN" sz="900" dirty="0">
                <a:latin typeface="Courier New" pitchFamily="49" charset="0"/>
              </a:rPr>
              <a:t>];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900" dirty="0">
                <a:latin typeface="Courier New" pitchFamily="49" charset="0"/>
              </a:rPr>
              <a:t>            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900" dirty="0">
                <a:latin typeface="Courier New" pitchFamily="49" charset="0"/>
              </a:rPr>
              <a:t>        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900" dirty="0">
                <a:latin typeface="Courier New" pitchFamily="49" charset="0"/>
              </a:rPr>
              <a:t>        ~</a:t>
            </a:r>
            <a:r>
              <a:rPr lang="en-US" altLang="zh-CN" sz="900" dirty="0" err="1">
                <a:latin typeface="Courier New" pitchFamily="49" charset="0"/>
              </a:rPr>
              <a:t>myCon</a:t>
            </a:r>
            <a:r>
              <a:rPr lang="en-US" altLang="zh-CN" sz="900" dirty="0">
                <a:latin typeface="Courier New" pitchFamily="49" charset="0"/>
              </a:rPr>
              <a:t>()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900" dirty="0">
                <a:latin typeface="Courier New" pitchFamily="49" charset="0"/>
              </a:rPr>
              <a:t>            if (</a:t>
            </a:r>
            <a:r>
              <a:rPr lang="en-US" altLang="zh-CN" sz="900" dirty="0" err="1">
                <a:latin typeface="Courier New" pitchFamily="49" charset="0"/>
              </a:rPr>
              <a:t>ptr</a:t>
            </a:r>
            <a:r>
              <a:rPr lang="en-US" altLang="zh-CN" sz="900" dirty="0">
                <a:latin typeface="Courier New" pitchFamily="49" charset="0"/>
              </a:rPr>
              <a:t> != NULL)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900" dirty="0">
                <a:latin typeface="Courier New" pitchFamily="49" charset="0"/>
              </a:rPr>
              <a:t>                delete [] </a:t>
            </a:r>
            <a:r>
              <a:rPr lang="en-US" altLang="zh-CN" sz="900" dirty="0" err="1">
                <a:latin typeface="Courier New" pitchFamily="49" charset="0"/>
              </a:rPr>
              <a:t>ptr</a:t>
            </a:r>
            <a:r>
              <a:rPr lang="en-US" altLang="zh-CN" sz="900" dirty="0">
                <a:latin typeface="Courier New" pitchFamily="49" charset="0"/>
              </a:rPr>
              <a:t>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900" dirty="0">
                <a:latin typeface="Courier New" pitchFamily="49" charset="0"/>
              </a:rPr>
              <a:t>                </a:t>
            </a:r>
            <a:r>
              <a:rPr lang="en-US" altLang="zh-CN" sz="900" dirty="0" err="1">
                <a:latin typeface="Courier New" pitchFamily="49" charset="0"/>
              </a:rPr>
              <a:t>ptr</a:t>
            </a:r>
            <a:r>
              <a:rPr lang="en-US" altLang="zh-CN" sz="900" dirty="0">
                <a:latin typeface="Courier New" pitchFamily="49" charset="0"/>
              </a:rPr>
              <a:t> = NULL;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900" dirty="0">
                <a:latin typeface="Courier New" pitchFamily="49" charset="0"/>
              </a:rPr>
              <a:t>            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900" dirty="0">
                <a:latin typeface="Courier New" pitchFamily="49" charset="0"/>
              </a:rPr>
              <a:t>        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900" dirty="0">
                <a:latin typeface="Courier New" pitchFamily="49" charset="0"/>
              </a:rPr>
              <a:t>        // </a:t>
            </a:r>
            <a:r>
              <a:rPr lang="en-US" altLang="zh-CN" sz="900" dirty="0">
                <a:solidFill>
                  <a:srgbClr val="FF0000"/>
                </a:solidFill>
                <a:latin typeface="Courier New" pitchFamily="49" charset="0"/>
              </a:rPr>
              <a:t>friend function is NOT a member function,</a:t>
            </a:r>
            <a:r>
              <a:rPr lang="en-US" altLang="zh-CN" sz="900" dirty="0">
                <a:solidFill>
                  <a:srgbClr val="7030A0"/>
                </a:solidFill>
                <a:latin typeface="Courier New" pitchFamily="49" charset="0"/>
              </a:rPr>
              <a:t>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900" dirty="0">
                <a:latin typeface="Courier New" pitchFamily="49" charset="0"/>
              </a:rPr>
              <a:t>        // </a:t>
            </a:r>
            <a:r>
              <a:rPr lang="en-US" altLang="zh-CN" sz="900" dirty="0">
                <a:solidFill>
                  <a:srgbClr val="FF0000"/>
                </a:solidFill>
                <a:latin typeface="Courier New" pitchFamily="49" charset="0"/>
              </a:rPr>
              <a:t>but it can access friend class’s private members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900" dirty="0">
                <a:latin typeface="Courier New" pitchFamily="49" charset="0"/>
              </a:rPr>
              <a:t>        friend </a:t>
            </a:r>
            <a:r>
              <a:rPr lang="en-US" altLang="zh-CN" sz="900" dirty="0" err="1">
                <a:latin typeface="Courier New" pitchFamily="49" charset="0"/>
              </a:rPr>
              <a:t>ostream</a:t>
            </a:r>
            <a:r>
              <a:rPr lang="en-US" altLang="zh-CN" sz="900" dirty="0">
                <a:latin typeface="Courier New" pitchFamily="49" charset="0"/>
              </a:rPr>
              <a:t>&amp; operator&lt;&lt;(</a:t>
            </a:r>
            <a:r>
              <a:rPr lang="en-US" altLang="zh-CN" sz="900" dirty="0" err="1">
                <a:latin typeface="Courier New" pitchFamily="49" charset="0"/>
              </a:rPr>
              <a:t>ostream</a:t>
            </a:r>
            <a:r>
              <a:rPr lang="en-US" altLang="zh-CN" sz="900" dirty="0">
                <a:latin typeface="Courier New" pitchFamily="49" charset="0"/>
              </a:rPr>
              <a:t> &amp;</a:t>
            </a:r>
            <a:r>
              <a:rPr lang="en-US" altLang="zh-CN" sz="900" dirty="0" err="1">
                <a:latin typeface="Courier New" pitchFamily="49" charset="0"/>
              </a:rPr>
              <a:t>cout</a:t>
            </a:r>
            <a:r>
              <a:rPr lang="en-US" altLang="zh-CN" sz="900" dirty="0">
                <a:latin typeface="Courier New" pitchFamily="49" charset="0"/>
              </a:rPr>
              <a:t>, </a:t>
            </a:r>
            <a:r>
              <a:rPr lang="en-US" altLang="zh-CN" sz="900" dirty="0" err="1">
                <a:latin typeface="Courier New" pitchFamily="49" charset="0"/>
              </a:rPr>
              <a:t>myCon</a:t>
            </a:r>
            <a:r>
              <a:rPr lang="en-US" altLang="zh-CN" sz="900" dirty="0">
                <a:latin typeface="Courier New" pitchFamily="49" charset="0"/>
              </a:rPr>
              <a:t>&lt;T&gt; &amp;c)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900" dirty="0">
                <a:latin typeface="Courier New" pitchFamily="49" charset="0"/>
              </a:rPr>
              <a:t>	for (int </a:t>
            </a:r>
            <a:r>
              <a:rPr lang="en-US" altLang="zh-CN" sz="900" dirty="0" err="1">
                <a:latin typeface="Courier New" pitchFamily="49" charset="0"/>
              </a:rPr>
              <a:t>i</a:t>
            </a:r>
            <a:r>
              <a:rPr lang="en-US" altLang="zh-CN" sz="900" dirty="0">
                <a:latin typeface="Courier New" pitchFamily="49" charset="0"/>
              </a:rPr>
              <a:t>=0; </a:t>
            </a:r>
            <a:r>
              <a:rPr lang="en-US" altLang="zh-CN" sz="900" dirty="0" err="1">
                <a:latin typeface="Courier New" pitchFamily="49" charset="0"/>
              </a:rPr>
              <a:t>i</a:t>
            </a:r>
            <a:r>
              <a:rPr lang="en-US" altLang="zh-CN" sz="900" dirty="0">
                <a:latin typeface="Courier New" pitchFamily="49" charset="0"/>
              </a:rPr>
              <a:t>&lt;</a:t>
            </a:r>
            <a:r>
              <a:rPr lang="en-US" altLang="zh-CN" sz="900" dirty="0" err="1">
                <a:latin typeface="Courier New" pitchFamily="49" charset="0"/>
              </a:rPr>
              <a:t>c.size</a:t>
            </a:r>
            <a:r>
              <a:rPr lang="en-US" altLang="zh-CN" sz="900" dirty="0">
                <a:latin typeface="Courier New" pitchFamily="49" charset="0"/>
              </a:rPr>
              <a:t>; </a:t>
            </a:r>
            <a:r>
              <a:rPr lang="en-US" altLang="zh-CN" sz="900" dirty="0" err="1">
                <a:latin typeface="Courier New" pitchFamily="49" charset="0"/>
              </a:rPr>
              <a:t>i</a:t>
            </a:r>
            <a:r>
              <a:rPr lang="en-US" altLang="zh-CN" sz="900" dirty="0">
                <a:latin typeface="Courier New" pitchFamily="49" charset="0"/>
              </a:rPr>
              <a:t>++)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900" dirty="0">
                <a:latin typeface="Courier New" pitchFamily="49" charset="0"/>
              </a:rPr>
              <a:t>	   </a:t>
            </a:r>
            <a:r>
              <a:rPr lang="en-US" altLang="zh-CN" sz="900" dirty="0" err="1">
                <a:latin typeface="Courier New" pitchFamily="49" charset="0"/>
              </a:rPr>
              <a:t>cout</a:t>
            </a:r>
            <a:r>
              <a:rPr lang="en-US" altLang="zh-CN" sz="900" dirty="0">
                <a:latin typeface="Courier New" pitchFamily="49" charset="0"/>
              </a:rPr>
              <a:t> &lt;&lt; *(</a:t>
            </a:r>
            <a:r>
              <a:rPr lang="en-US" altLang="zh-CN" sz="900" dirty="0" err="1">
                <a:latin typeface="Courier New" pitchFamily="49" charset="0"/>
              </a:rPr>
              <a:t>c.ptr</a:t>
            </a:r>
            <a:r>
              <a:rPr lang="en-US" altLang="zh-CN" sz="900" dirty="0">
                <a:latin typeface="Courier New" pitchFamily="49" charset="0"/>
              </a:rPr>
              <a:t> + </a:t>
            </a:r>
            <a:r>
              <a:rPr lang="en-US" altLang="zh-CN" sz="900" dirty="0" err="1">
                <a:latin typeface="Courier New" pitchFamily="49" charset="0"/>
              </a:rPr>
              <a:t>i</a:t>
            </a:r>
            <a:r>
              <a:rPr lang="en-US" altLang="zh-CN" sz="900" dirty="0">
                <a:latin typeface="Courier New" pitchFamily="49" charset="0"/>
              </a:rPr>
              <a:t>) &lt;&lt; " ";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900" dirty="0">
                <a:latin typeface="Courier New" pitchFamily="49" charset="0"/>
              </a:rPr>
              <a:t>	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900" dirty="0">
                <a:latin typeface="Courier New" pitchFamily="49" charset="0"/>
              </a:rPr>
              <a:t>	return </a:t>
            </a:r>
            <a:r>
              <a:rPr lang="en-US" altLang="zh-CN" sz="900" dirty="0" err="1">
                <a:latin typeface="Courier New" pitchFamily="49" charset="0"/>
              </a:rPr>
              <a:t>cout</a:t>
            </a:r>
            <a:r>
              <a:rPr lang="en-US" altLang="zh-CN" sz="900" dirty="0">
                <a:latin typeface="Courier New" pitchFamily="49" charset="0"/>
              </a:rPr>
              <a:t>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900" dirty="0">
                <a:latin typeface="Courier New" pitchFamily="49" charset="0"/>
              </a:rPr>
              <a:t>        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900" dirty="0">
                <a:latin typeface="Courier New" pitchFamily="49" charset="0"/>
              </a:rPr>
              <a:t>		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900" dirty="0">
                <a:latin typeface="Courier New" pitchFamily="49" charset="0"/>
              </a:rPr>
              <a:t>        void print();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900" dirty="0">
                <a:latin typeface="Courier New" pitchFamily="49" charset="0"/>
              </a:rPr>
              <a:t>    private: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900" dirty="0">
                <a:latin typeface="Courier New" pitchFamily="49" charset="0"/>
              </a:rPr>
              <a:t>        T *</a:t>
            </a:r>
            <a:r>
              <a:rPr lang="en-US" altLang="zh-CN" sz="900" dirty="0" err="1">
                <a:latin typeface="Courier New" pitchFamily="49" charset="0"/>
              </a:rPr>
              <a:t>ptr</a:t>
            </a:r>
            <a:r>
              <a:rPr lang="en-US" altLang="zh-CN" sz="900" dirty="0">
                <a:latin typeface="Courier New" pitchFamily="49" charset="0"/>
              </a:rPr>
              <a:t>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900" dirty="0">
                <a:latin typeface="Courier New" pitchFamily="49" charset="0"/>
              </a:rPr>
              <a:t>        int size;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900" dirty="0">
                <a:latin typeface="Courier New" pitchFamily="49" charset="0"/>
              </a:rPr>
              <a:t>};</a:t>
            </a:r>
          </a:p>
        </p:txBody>
      </p:sp>
      <p:sp>
        <p:nvSpPr>
          <p:cNvPr id="6" name="文本框 4">
            <a:extLst>
              <a:ext uri="{FF2B5EF4-FFF2-40B4-BE49-F238E27FC236}">
                <a16:creationId xmlns:a16="http://schemas.microsoft.com/office/drawing/2014/main" id="{896E38EA-FAB6-4AD1-B730-D13F08D6512A}"/>
              </a:ext>
            </a:extLst>
          </p:cNvPr>
          <p:cNvSpPr txBox="1"/>
          <p:nvPr/>
        </p:nvSpPr>
        <p:spPr>
          <a:xfrm>
            <a:off x="4572000" y="2362200"/>
            <a:ext cx="420928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int main() {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1000" dirty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  int </a:t>
            </a:r>
            <a:r>
              <a:rPr lang="en-US" altLang="zh-CN" sz="1000" dirty="0" err="1">
                <a:latin typeface="Courier New" pitchFamily="49" charset="0"/>
              </a:rPr>
              <a:t>arr_int</a:t>
            </a:r>
            <a:r>
              <a:rPr lang="en-US" altLang="zh-CN" sz="1000" dirty="0">
                <a:latin typeface="Courier New" pitchFamily="49" charset="0"/>
              </a:rPr>
              <a:t>[] = {3, 8, 7, 9, 0, 2, 4, 1, 5, 6};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  int s = </a:t>
            </a:r>
            <a:r>
              <a:rPr lang="en-US" altLang="zh-CN" sz="1000" dirty="0" err="1">
                <a:latin typeface="Courier New" pitchFamily="49" charset="0"/>
              </a:rPr>
              <a:t>sizeof</a:t>
            </a:r>
            <a:r>
              <a:rPr lang="en-US" altLang="zh-CN" sz="1000" dirty="0">
                <a:latin typeface="Courier New" pitchFamily="49" charset="0"/>
              </a:rPr>
              <a:t>(</a:t>
            </a:r>
            <a:r>
              <a:rPr lang="en-US" altLang="zh-CN" sz="1000" dirty="0" err="1">
                <a:latin typeface="Courier New" pitchFamily="49" charset="0"/>
              </a:rPr>
              <a:t>arr_int</a:t>
            </a:r>
            <a:r>
              <a:rPr lang="en-US" altLang="zh-CN" sz="1000" dirty="0">
                <a:latin typeface="Courier New" pitchFamily="49" charset="0"/>
              </a:rPr>
              <a:t>) / </a:t>
            </a:r>
            <a:r>
              <a:rPr lang="en-US" altLang="zh-CN" sz="1000" dirty="0" err="1">
                <a:latin typeface="Courier New" pitchFamily="49" charset="0"/>
              </a:rPr>
              <a:t>sizeof</a:t>
            </a:r>
            <a:r>
              <a:rPr lang="en-US" altLang="zh-CN" sz="1000" dirty="0">
                <a:latin typeface="Courier New" pitchFamily="49" charset="0"/>
              </a:rPr>
              <a:t>(</a:t>
            </a:r>
            <a:r>
              <a:rPr lang="en-US" altLang="zh-CN" sz="1000" dirty="0" err="1">
                <a:latin typeface="Courier New" pitchFamily="49" charset="0"/>
              </a:rPr>
              <a:t>arr_int</a:t>
            </a:r>
            <a:r>
              <a:rPr lang="en-US" altLang="zh-CN" sz="1000" dirty="0">
                <a:latin typeface="Courier New" pitchFamily="49" charset="0"/>
              </a:rPr>
              <a:t>[0]);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  </a:t>
            </a:r>
            <a:r>
              <a:rPr lang="en-US" altLang="zh-CN" sz="1000" dirty="0" err="1">
                <a:solidFill>
                  <a:srgbClr val="FF0000"/>
                </a:solidFill>
                <a:latin typeface="Courier New" pitchFamily="49" charset="0"/>
              </a:rPr>
              <a:t>myCon</a:t>
            </a:r>
            <a:r>
              <a:rPr lang="en-US" altLang="zh-CN" sz="1000" dirty="0">
                <a:solidFill>
                  <a:srgbClr val="FF0000"/>
                </a:solidFill>
                <a:latin typeface="Courier New" pitchFamily="49" charset="0"/>
              </a:rPr>
              <a:t>&lt;int&gt; c1(</a:t>
            </a:r>
            <a:r>
              <a:rPr lang="en-US" altLang="zh-CN" sz="1000" dirty="0" err="1">
                <a:solidFill>
                  <a:srgbClr val="FF0000"/>
                </a:solidFill>
                <a:latin typeface="Courier New" pitchFamily="49" charset="0"/>
              </a:rPr>
              <a:t>arr_int</a:t>
            </a:r>
            <a:r>
              <a:rPr lang="en-US" altLang="zh-CN" sz="1000" dirty="0">
                <a:solidFill>
                  <a:srgbClr val="FF0000"/>
                </a:solidFill>
                <a:latin typeface="Courier New" pitchFamily="49" charset="0"/>
              </a:rPr>
              <a:t>, s);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  c1.print();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1000" dirty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  char </a:t>
            </a:r>
            <a:r>
              <a:rPr lang="en-US" altLang="zh-CN" sz="1000" dirty="0" err="1">
                <a:latin typeface="Courier New" pitchFamily="49" charset="0"/>
              </a:rPr>
              <a:t>arr_char</a:t>
            </a:r>
            <a:r>
              <a:rPr lang="en-US" altLang="zh-CN" sz="1000" dirty="0">
                <a:latin typeface="Courier New" pitchFamily="49" charset="0"/>
              </a:rPr>
              <a:t>[] = {'C', 'S', '2', '3', '1', '0'};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  s = </a:t>
            </a:r>
            <a:r>
              <a:rPr lang="en-US" altLang="zh-CN" sz="1000" dirty="0" err="1">
                <a:latin typeface="Courier New" pitchFamily="49" charset="0"/>
              </a:rPr>
              <a:t>sizeof</a:t>
            </a:r>
            <a:r>
              <a:rPr lang="en-US" altLang="zh-CN" sz="1000" dirty="0">
                <a:latin typeface="Courier New" pitchFamily="49" charset="0"/>
              </a:rPr>
              <a:t>(</a:t>
            </a:r>
            <a:r>
              <a:rPr lang="en-US" altLang="zh-CN" sz="1000" dirty="0" err="1">
                <a:latin typeface="Courier New" pitchFamily="49" charset="0"/>
              </a:rPr>
              <a:t>arr_char</a:t>
            </a:r>
            <a:r>
              <a:rPr lang="en-US" altLang="zh-CN" sz="1000" dirty="0">
                <a:latin typeface="Courier New" pitchFamily="49" charset="0"/>
              </a:rPr>
              <a:t>) / </a:t>
            </a:r>
            <a:r>
              <a:rPr lang="en-US" altLang="zh-CN" sz="1000" dirty="0" err="1">
                <a:latin typeface="Courier New" pitchFamily="49" charset="0"/>
              </a:rPr>
              <a:t>sizeof</a:t>
            </a:r>
            <a:r>
              <a:rPr lang="en-US" altLang="zh-CN" sz="1000" dirty="0">
                <a:latin typeface="Courier New" pitchFamily="49" charset="0"/>
              </a:rPr>
              <a:t>(</a:t>
            </a:r>
            <a:r>
              <a:rPr lang="en-US" altLang="zh-CN" sz="1000" dirty="0" err="1">
                <a:latin typeface="Courier New" pitchFamily="49" charset="0"/>
              </a:rPr>
              <a:t>arr_char</a:t>
            </a:r>
            <a:r>
              <a:rPr lang="en-US" altLang="zh-CN" sz="1000" dirty="0">
                <a:latin typeface="Courier New" pitchFamily="49" charset="0"/>
              </a:rPr>
              <a:t>[0]);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  </a:t>
            </a:r>
            <a:r>
              <a:rPr lang="en-US" altLang="zh-CN" sz="1000" dirty="0" err="1">
                <a:solidFill>
                  <a:srgbClr val="FF0000"/>
                </a:solidFill>
                <a:latin typeface="Courier New" pitchFamily="49" charset="0"/>
              </a:rPr>
              <a:t>myCon</a:t>
            </a:r>
            <a:r>
              <a:rPr lang="en-US" altLang="zh-CN" sz="1000" dirty="0">
                <a:solidFill>
                  <a:srgbClr val="FF0000"/>
                </a:solidFill>
                <a:latin typeface="Courier New" pitchFamily="49" charset="0"/>
              </a:rPr>
              <a:t>&lt;char&gt; c2(</a:t>
            </a:r>
            <a:r>
              <a:rPr lang="en-US" altLang="zh-CN" sz="1000" dirty="0" err="1">
                <a:solidFill>
                  <a:srgbClr val="FF0000"/>
                </a:solidFill>
                <a:latin typeface="Courier New" pitchFamily="49" charset="0"/>
              </a:rPr>
              <a:t>arr_char</a:t>
            </a:r>
            <a:r>
              <a:rPr lang="en-US" altLang="zh-CN" sz="1000" dirty="0">
                <a:solidFill>
                  <a:srgbClr val="FF0000"/>
                </a:solidFill>
                <a:latin typeface="Courier New" pitchFamily="49" charset="0"/>
              </a:rPr>
              <a:t>, s);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  </a:t>
            </a:r>
            <a:r>
              <a:rPr lang="en-US" altLang="zh-CN" sz="1000" dirty="0" err="1">
                <a:latin typeface="Courier New" pitchFamily="49" charset="0"/>
              </a:rPr>
              <a:t>cout</a:t>
            </a:r>
            <a:r>
              <a:rPr lang="en-US" altLang="zh-CN" sz="1000" dirty="0">
                <a:latin typeface="Courier New" pitchFamily="49" charset="0"/>
              </a:rPr>
              <a:t> &lt;&lt; c2 &lt;&lt; </a:t>
            </a:r>
            <a:r>
              <a:rPr lang="en-US" altLang="zh-CN" sz="1000" dirty="0" err="1">
                <a:latin typeface="Courier New" pitchFamily="49" charset="0"/>
              </a:rPr>
              <a:t>endl</a:t>
            </a:r>
            <a:r>
              <a:rPr lang="en-US" altLang="zh-CN" sz="1000" dirty="0">
                <a:latin typeface="Courier New" pitchFamily="49" charset="0"/>
              </a:rPr>
              <a:t>;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1000" dirty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  return 0;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14EC82-F24A-4D91-978D-5C76C8894B32}"/>
              </a:ext>
            </a:extLst>
          </p:cNvPr>
          <p:cNvSpPr txBox="1"/>
          <p:nvPr/>
        </p:nvSpPr>
        <p:spPr>
          <a:xfrm>
            <a:off x="830382" y="6535579"/>
            <a:ext cx="182293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Code: lec11-06-class.cpp</a:t>
            </a:r>
          </a:p>
        </p:txBody>
      </p:sp>
      <p:sp>
        <p:nvSpPr>
          <p:cNvPr id="8" name="文本框 4">
            <a:extLst>
              <a:ext uri="{FF2B5EF4-FFF2-40B4-BE49-F238E27FC236}">
                <a16:creationId xmlns:a16="http://schemas.microsoft.com/office/drawing/2014/main" id="{0B04C129-756C-4118-BD00-2469BCC74014}"/>
              </a:ext>
            </a:extLst>
          </p:cNvPr>
          <p:cNvSpPr txBox="1"/>
          <p:nvPr/>
        </p:nvSpPr>
        <p:spPr>
          <a:xfrm>
            <a:off x="4572000" y="4977546"/>
            <a:ext cx="443788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</a:rPr>
              <a:t>// </a:t>
            </a:r>
            <a:r>
              <a:rPr lang="en-US" altLang="zh-CN" sz="1000" dirty="0">
                <a:solidFill>
                  <a:srgbClr val="7030A0"/>
                </a:solidFill>
                <a:latin typeface="Courier New" pitchFamily="49" charset="0"/>
              </a:rPr>
              <a:t>if a member function is defined outside the class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</a:rPr>
              <a:t>// </a:t>
            </a:r>
            <a:r>
              <a:rPr lang="en-US" altLang="zh-CN" sz="1000" dirty="0">
                <a:solidFill>
                  <a:srgbClr val="7030A0"/>
                </a:solidFill>
                <a:latin typeface="Courier New" pitchFamily="49" charset="0"/>
              </a:rPr>
              <a:t>the following example is for print();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</a:rPr>
              <a:t>// </a:t>
            </a:r>
            <a:r>
              <a:rPr lang="en-US" altLang="zh-CN" sz="1000" dirty="0">
                <a:solidFill>
                  <a:srgbClr val="7030A0"/>
                </a:solidFill>
                <a:latin typeface="Courier New" pitchFamily="49" charset="0"/>
              </a:rPr>
              <a:t>member function can access private members directly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solidFill>
                  <a:srgbClr val="FF0000"/>
                </a:solidFill>
                <a:latin typeface="Courier New" pitchFamily="49" charset="0"/>
              </a:rPr>
              <a:t>template &lt;class T&gt;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solidFill>
                  <a:srgbClr val="FF0000"/>
                </a:solidFill>
                <a:latin typeface="Courier New" pitchFamily="49" charset="0"/>
              </a:rPr>
              <a:t>void </a:t>
            </a:r>
            <a:r>
              <a:rPr lang="en-US" altLang="zh-CN" sz="1000" dirty="0" err="1">
                <a:solidFill>
                  <a:srgbClr val="FF0000"/>
                </a:solidFill>
                <a:latin typeface="Courier New" pitchFamily="49" charset="0"/>
              </a:rPr>
              <a:t>myCon</a:t>
            </a:r>
            <a:r>
              <a:rPr lang="en-US" altLang="zh-CN" sz="1000" dirty="0">
                <a:solidFill>
                  <a:srgbClr val="FF0000"/>
                </a:solidFill>
                <a:latin typeface="Courier New" pitchFamily="49" charset="0"/>
              </a:rPr>
              <a:t>&lt;T&gt;::print()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  for (int </a:t>
            </a:r>
            <a:r>
              <a:rPr lang="en-US" altLang="zh-CN" sz="1000" dirty="0" err="1">
                <a:latin typeface="Courier New" pitchFamily="49" charset="0"/>
              </a:rPr>
              <a:t>i</a:t>
            </a:r>
            <a:r>
              <a:rPr lang="en-US" altLang="zh-CN" sz="1000" dirty="0">
                <a:latin typeface="Courier New" pitchFamily="49" charset="0"/>
              </a:rPr>
              <a:t>=0; </a:t>
            </a:r>
            <a:r>
              <a:rPr lang="en-US" altLang="zh-CN" sz="1000" dirty="0" err="1">
                <a:latin typeface="Courier New" pitchFamily="49" charset="0"/>
              </a:rPr>
              <a:t>i</a:t>
            </a:r>
            <a:r>
              <a:rPr lang="en-US" altLang="zh-CN" sz="1000" dirty="0">
                <a:latin typeface="Courier New" pitchFamily="49" charset="0"/>
              </a:rPr>
              <a:t>&lt;size;  </a:t>
            </a:r>
            <a:r>
              <a:rPr lang="en-US" altLang="zh-CN" sz="1000" dirty="0" err="1">
                <a:latin typeface="Courier New" pitchFamily="49" charset="0"/>
              </a:rPr>
              <a:t>i</a:t>
            </a:r>
            <a:r>
              <a:rPr lang="en-US" altLang="zh-CN" sz="1000" dirty="0">
                <a:latin typeface="Courier New" pitchFamily="49" charset="0"/>
              </a:rPr>
              <a:t>++)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      </a:t>
            </a:r>
            <a:r>
              <a:rPr lang="en-US" altLang="zh-CN" sz="1000" dirty="0" err="1">
                <a:latin typeface="Courier New" pitchFamily="49" charset="0"/>
              </a:rPr>
              <a:t>cout</a:t>
            </a:r>
            <a:r>
              <a:rPr lang="en-US" altLang="zh-CN" sz="1000" dirty="0">
                <a:latin typeface="Courier New" pitchFamily="49" charset="0"/>
              </a:rPr>
              <a:t> &lt;&lt; *(</a:t>
            </a:r>
            <a:r>
              <a:rPr lang="en-US" altLang="zh-CN" sz="1000" dirty="0" err="1">
                <a:latin typeface="Courier New" pitchFamily="49" charset="0"/>
              </a:rPr>
              <a:t>ptr</a:t>
            </a:r>
            <a:r>
              <a:rPr lang="en-US" altLang="zh-CN" sz="1000" dirty="0">
                <a:latin typeface="Courier New" pitchFamily="49" charset="0"/>
              </a:rPr>
              <a:t> + </a:t>
            </a:r>
            <a:r>
              <a:rPr lang="en-US" altLang="zh-CN" sz="1000" dirty="0" err="1">
                <a:latin typeface="Courier New" pitchFamily="49" charset="0"/>
              </a:rPr>
              <a:t>i</a:t>
            </a:r>
            <a:r>
              <a:rPr lang="en-US" altLang="zh-CN" sz="1000" dirty="0">
                <a:latin typeface="Courier New" pitchFamily="49" charset="0"/>
              </a:rPr>
              <a:t>) &lt;&lt; " ";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  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  </a:t>
            </a:r>
            <a:r>
              <a:rPr lang="en-US" altLang="zh-CN" sz="1000" dirty="0" err="1">
                <a:latin typeface="Courier New" pitchFamily="49" charset="0"/>
              </a:rPr>
              <a:t>cout</a:t>
            </a:r>
            <a:r>
              <a:rPr lang="en-US" altLang="zh-CN" sz="1000" dirty="0">
                <a:latin typeface="Courier New" pitchFamily="49" charset="0"/>
              </a:rPr>
              <a:t> &lt;&lt; </a:t>
            </a:r>
            <a:r>
              <a:rPr lang="en-US" altLang="zh-CN" sz="1000" dirty="0" err="1">
                <a:latin typeface="Courier New" pitchFamily="49" charset="0"/>
              </a:rPr>
              <a:t>endl</a:t>
            </a:r>
            <a:r>
              <a:rPr lang="en-US" altLang="zh-CN" sz="1000" dirty="0">
                <a:latin typeface="Courier New" pitchFamily="49" charset="0"/>
              </a:rPr>
              <a:t>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00899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02900-090E-4317-BD41-252FE59FA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and Function Templates</a:t>
            </a:r>
            <a:endParaRPr lang="en-HK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189B1CD-42DA-440B-B15D-967B2E418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653ED2-267D-454B-B9E3-59503D7C3DE8}" type="slidenum">
              <a:rPr lang="zh-TW" altLang="en-US" smtClean="0"/>
              <a:pPr>
                <a:defRPr/>
              </a:pPr>
              <a:t>11</a:t>
            </a:fld>
            <a:endParaRPr lang="en-US" altLang="zh-TW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1BD059-8FC5-4F4A-8B1A-AAF234B50082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Both can have </a:t>
            </a:r>
            <a:r>
              <a:rPr lang="en-US" sz="2400" dirty="0">
                <a:solidFill>
                  <a:srgbClr val="C00000"/>
                </a:solidFill>
              </a:rPr>
              <a:t>more than one</a:t>
            </a:r>
            <a:r>
              <a:rPr lang="en-US" sz="2400" dirty="0"/>
              <a:t> arguments</a:t>
            </a:r>
            <a:endParaRPr lang="en-HK" sz="24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3597769-8B8D-4EF3-8143-0ABF08FD24CE}"/>
              </a:ext>
            </a:extLst>
          </p:cNvPr>
          <p:cNvSpPr txBox="1"/>
          <p:nvPr/>
        </p:nvSpPr>
        <p:spPr>
          <a:xfrm>
            <a:off x="2362200" y="2292231"/>
            <a:ext cx="4495800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template &lt;class T, class U&gt;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class C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  public: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      C (T x, U y): a(x), b(y)  {}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      print()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          </a:t>
            </a:r>
            <a:r>
              <a:rPr lang="en-US" altLang="zh-CN" sz="1000" dirty="0" err="1">
                <a:latin typeface="Courier New" pitchFamily="49" charset="0"/>
              </a:rPr>
              <a:t>cout</a:t>
            </a:r>
            <a:r>
              <a:rPr lang="en-US" altLang="zh-CN" sz="1000" dirty="0">
                <a:latin typeface="Courier New" pitchFamily="49" charset="0"/>
              </a:rPr>
              <a:t> &lt;&lt; "class: " &lt;&lt; a &lt;&lt; " " &lt;&lt; b &lt;&lt; </a:t>
            </a:r>
            <a:r>
              <a:rPr lang="en-US" altLang="zh-CN" sz="1000" dirty="0" err="1">
                <a:latin typeface="Courier New" pitchFamily="49" charset="0"/>
              </a:rPr>
              <a:t>endl</a:t>
            </a:r>
            <a:r>
              <a:rPr lang="en-US" altLang="zh-CN" sz="1000" dirty="0">
                <a:latin typeface="Courier New" pitchFamily="49" charset="0"/>
              </a:rPr>
              <a:t>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      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  public: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      T a;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      U b;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};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1000" dirty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template &lt;class T, class U&gt;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void print(T a, U b)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  </a:t>
            </a:r>
            <a:r>
              <a:rPr lang="en-US" altLang="zh-CN" sz="1000" dirty="0" err="1">
                <a:latin typeface="Courier New" pitchFamily="49" charset="0"/>
              </a:rPr>
              <a:t>cout</a:t>
            </a:r>
            <a:r>
              <a:rPr lang="en-US" altLang="zh-CN" sz="1000" dirty="0">
                <a:latin typeface="Courier New" pitchFamily="49" charset="0"/>
              </a:rPr>
              <a:t> &lt;&lt; "function: " &lt;&lt; a &lt;&lt; " " &lt;&lt; b &lt;&lt; </a:t>
            </a:r>
            <a:r>
              <a:rPr lang="en-US" altLang="zh-CN" sz="1000" dirty="0" err="1">
                <a:latin typeface="Courier New" pitchFamily="49" charset="0"/>
              </a:rPr>
              <a:t>endl</a:t>
            </a:r>
            <a:r>
              <a:rPr lang="en-US" altLang="zh-CN" sz="1000" dirty="0">
                <a:latin typeface="Courier New" pitchFamily="49" charset="0"/>
              </a:rPr>
              <a:t>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}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1000" dirty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int main()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  C&lt;int, double&gt; c(1, 1.3);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  </a:t>
            </a:r>
            <a:r>
              <a:rPr lang="en-US" altLang="zh-CN" sz="1000" dirty="0" err="1">
                <a:latin typeface="Courier New" pitchFamily="49" charset="0"/>
              </a:rPr>
              <a:t>c.print</a:t>
            </a:r>
            <a:r>
              <a:rPr lang="en-US" altLang="zh-CN" sz="1000" dirty="0">
                <a:latin typeface="Courier New" pitchFamily="49" charset="0"/>
              </a:rPr>
              <a:t>();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1000" dirty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  print('a', true);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 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  return 0;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B214DB-F9A6-4CF5-B57F-F761DA723F23}"/>
              </a:ext>
            </a:extLst>
          </p:cNvPr>
          <p:cNvSpPr txBox="1"/>
          <p:nvPr/>
        </p:nvSpPr>
        <p:spPr>
          <a:xfrm>
            <a:off x="830382" y="6535579"/>
            <a:ext cx="202972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Code: lec11-07-multiple.cpp</a:t>
            </a:r>
          </a:p>
        </p:txBody>
      </p:sp>
    </p:spTree>
    <p:extLst>
      <p:ext uri="{BB962C8B-B14F-4D97-AF65-F5344CB8AC3E}">
        <p14:creationId xmlns:p14="http://schemas.microsoft.com/office/powerpoint/2010/main" val="405750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07A1D-DD1D-4364-914A-87E609D97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and Function Templates</a:t>
            </a:r>
            <a:endParaRPr lang="en-HK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813EC68-24CF-406B-AA91-E29351370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653ED2-267D-454B-B9E3-59503D7C3DE8}" type="slidenum">
              <a:rPr lang="zh-TW" altLang="en-US" smtClean="0"/>
              <a:pPr>
                <a:defRPr/>
              </a:pPr>
              <a:t>12</a:t>
            </a:fld>
            <a:endParaRPr lang="en-US" altLang="zh-TW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9F3864-0686-42C2-96D8-1409F6C465E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Automatic</a:t>
            </a:r>
            <a:r>
              <a:rPr lang="en-US" sz="2400" dirty="0"/>
              <a:t> deduction</a:t>
            </a:r>
          </a:p>
          <a:p>
            <a:pPr lvl="1"/>
            <a:r>
              <a:rPr lang="en-US" sz="2000" dirty="0">
                <a:solidFill>
                  <a:srgbClr val="C00000"/>
                </a:solidFill>
              </a:rPr>
              <a:t>Function</a:t>
            </a:r>
            <a:r>
              <a:rPr lang="en-US" sz="2000" dirty="0"/>
              <a:t> templates: support since C++98 (widely supported)</a:t>
            </a:r>
          </a:p>
          <a:p>
            <a:pPr lvl="1"/>
            <a:r>
              <a:rPr lang="en-US" sz="2000" dirty="0">
                <a:solidFill>
                  <a:srgbClr val="7030A0"/>
                </a:solidFill>
              </a:rPr>
              <a:t>Class</a:t>
            </a:r>
            <a:r>
              <a:rPr lang="en-US" sz="2000" dirty="0"/>
              <a:t> templates: support since C++17 (</a:t>
            </a:r>
            <a:r>
              <a:rPr lang="en-US" sz="2000" dirty="0">
                <a:solidFill>
                  <a:srgbClr val="FF0000"/>
                </a:solidFill>
              </a:rPr>
              <a:t>not</a:t>
            </a:r>
            <a:r>
              <a:rPr lang="en-US" sz="2000" dirty="0"/>
              <a:t> widely supported)</a:t>
            </a:r>
          </a:p>
          <a:p>
            <a:r>
              <a:rPr lang="en-US" sz="2400" b="1" dirty="0"/>
              <a:t>Default value</a:t>
            </a:r>
          </a:p>
          <a:p>
            <a:pPr lvl="1"/>
            <a:r>
              <a:rPr lang="en-US" sz="2000" dirty="0">
                <a:solidFill>
                  <a:srgbClr val="C00000"/>
                </a:solidFill>
              </a:rPr>
              <a:t>Function</a:t>
            </a:r>
            <a:r>
              <a:rPr lang="en-US" sz="2000" dirty="0"/>
              <a:t> templates: </a:t>
            </a:r>
            <a:r>
              <a:rPr lang="en-US" sz="2000" dirty="0">
                <a:solidFill>
                  <a:srgbClr val="FF0000"/>
                </a:solidFill>
              </a:rPr>
              <a:t>not</a:t>
            </a:r>
            <a:r>
              <a:rPr lang="en-US" sz="2000" dirty="0"/>
              <a:t> widely support</a:t>
            </a:r>
          </a:p>
          <a:p>
            <a:pPr lvl="1"/>
            <a:r>
              <a:rPr lang="en-US" sz="2000" dirty="0">
                <a:solidFill>
                  <a:srgbClr val="7030A0"/>
                </a:solidFill>
              </a:rPr>
              <a:t>Class</a:t>
            </a:r>
            <a:r>
              <a:rPr lang="en-US" sz="2000" dirty="0"/>
              <a:t> templates: support</a:t>
            </a:r>
            <a:endParaRPr lang="en-HK" sz="20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857B564-9461-447E-9CF5-959F6025CB87}"/>
              </a:ext>
            </a:extLst>
          </p:cNvPr>
          <p:cNvSpPr txBox="1"/>
          <p:nvPr/>
        </p:nvSpPr>
        <p:spPr>
          <a:xfrm>
            <a:off x="4572000" y="3536374"/>
            <a:ext cx="44958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800" dirty="0">
                <a:latin typeface="Courier New" pitchFamily="49" charset="0"/>
              </a:rPr>
              <a:t>template &lt;class T, class U</a:t>
            </a:r>
            <a:r>
              <a:rPr lang="en-US" altLang="zh-CN" sz="800" dirty="0">
                <a:solidFill>
                  <a:srgbClr val="FF0000"/>
                </a:solidFill>
                <a:latin typeface="Courier New" pitchFamily="49" charset="0"/>
              </a:rPr>
              <a:t> = int</a:t>
            </a:r>
            <a:r>
              <a:rPr lang="en-US" altLang="zh-CN" sz="800" dirty="0">
                <a:latin typeface="Courier New" pitchFamily="49" charset="0"/>
              </a:rPr>
              <a:t>&gt;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800" dirty="0">
                <a:latin typeface="Courier New" pitchFamily="49" charset="0"/>
              </a:rPr>
              <a:t>class C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800" dirty="0">
                <a:latin typeface="Courier New" pitchFamily="49" charset="0"/>
              </a:rPr>
              <a:t>    public: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800" dirty="0">
                <a:latin typeface="Courier New" pitchFamily="49" charset="0"/>
              </a:rPr>
              <a:t>        C (T x, U y): a(x), b(y)  {}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800" dirty="0">
                <a:latin typeface="Courier New" pitchFamily="49" charset="0"/>
              </a:rPr>
              <a:t>        print()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800" dirty="0">
                <a:latin typeface="Courier New" pitchFamily="49" charset="0"/>
              </a:rPr>
              <a:t>            </a:t>
            </a:r>
            <a:r>
              <a:rPr lang="en-US" altLang="zh-CN" sz="800" dirty="0" err="1">
                <a:latin typeface="Courier New" pitchFamily="49" charset="0"/>
              </a:rPr>
              <a:t>cout</a:t>
            </a:r>
            <a:r>
              <a:rPr lang="en-US" altLang="zh-CN" sz="800" dirty="0">
                <a:latin typeface="Courier New" pitchFamily="49" charset="0"/>
              </a:rPr>
              <a:t> &lt;&lt; "class: " &lt;&lt; a &lt;&lt; " " &lt;&lt; b &lt;&lt; </a:t>
            </a:r>
            <a:r>
              <a:rPr lang="en-US" altLang="zh-CN" sz="800" dirty="0" err="1">
                <a:latin typeface="Courier New" pitchFamily="49" charset="0"/>
              </a:rPr>
              <a:t>endl</a:t>
            </a:r>
            <a:r>
              <a:rPr lang="en-US" altLang="zh-CN" sz="800" dirty="0">
                <a:latin typeface="Courier New" pitchFamily="49" charset="0"/>
              </a:rPr>
              <a:t>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800" dirty="0">
                <a:latin typeface="Courier New" pitchFamily="49" charset="0"/>
              </a:rPr>
              <a:t>        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800" dirty="0">
                <a:latin typeface="Courier New" pitchFamily="49" charset="0"/>
              </a:rPr>
              <a:t>    public: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800" dirty="0">
                <a:latin typeface="Courier New" pitchFamily="49" charset="0"/>
              </a:rPr>
              <a:t>        T a;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800" dirty="0">
                <a:latin typeface="Courier New" pitchFamily="49" charset="0"/>
              </a:rPr>
              <a:t>        U b;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800" dirty="0">
                <a:latin typeface="Courier New" pitchFamily="49" charset="0"/>
              </a:rPr>
              <a:t>};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800" dirty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800" dirty="0">
                <a:latin typeface="Courier New" pitchFamily="49" charset="0"/>
              </a:rPr>
              <a:t>int main()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800" dirty="0">
                <a:latin typeface="Courier New" pitchFamily="49" charset="0"/>
              </a:rPr>
              <a:t>    C&lt;int, double&gt; c1(1, 1.3);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800" dirty="0">
                <a:latin typeface="Courier New" pitchFamily="49" charset="0"/>
              </a:rPr>
              <a:t>    c1.print();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800" dirty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800" dirty="0">
                <a:latin typeface="Courier New" pitchFamily="49" charset="0"/>
              </a:rPr>
              <a:t>    C&lt;int&gt; c2(1, 3);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800" dirty="0">
                <a:latin typeface="Courier New" pitchFamily="49" charset="0"/>
              </a:rPr>
              <a:t>    c2.print();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800" dirty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800" dirty="0">
                <a:latin typeface="Courier New" pitchFamily="49" charset="0"/>
              </a:rPr>
              <a:t>    C&lt;int&gt; c3(1, 'a');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800" dirty="0">
                <a:latin typeface="Courier New" pitchFamily="49" charset="0"/>
              </a:rPr>
              <a:t>    c3.print();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800" dirty="0">
                <a:latin typeface="Courier New" pitchFamily="49" charset="0"/>
              </a:rPr>
              <a:t>   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800" dirty="0">
                <a:latin typeface="Courier New" pitchFamily="49" charset="0"/>
              </a:rPr>
              <a:t>    return 0;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800" dirty="0">
                <a:latin typeface="Courier New" pitchFamily="49" charset="0"/>
              </a:rPr>
              <a:t>}</a:t>
            </a:r>
          </a:p>
        </p:txBody>
      </p:sp>
      <p:sp>
        <p:nvSpPr>
          <p:cNvPr id="6" name="文本框 4">
            <a:extLst>
              <a:ext uri="{FF2B5EF4-FFF2-40B4-BE49-F238E27FC236}">
                <a16:creationId xmlns:a16="http://schemas.microsoft.com/office/drawing/2014/main" id="{214E1901-BB64-4618-A0D5-61D14F723A71}"/>
              </a:ext>
            </a:extLst>
          </p:cNvPr>
          <p:cNvSpPr txBox="1"/>
          <p:nvPr/>
        </p:nvSpPr>
        <p:spPr>
          <a:xfrm>
            <a:off x="775472" y="4419600"/>
            <a:ext cx="3810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800" dirty="0">
                <a:latin typeface="Courier New" pitchFamily="49" charset="0"/>
              </a:rPr>
              <a:t>template &lt;class T, class U = int&gt;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800" dirty="0">
                <a:latin typeface="Courier New" pitchFamily="49" charset="0"/>
              </a:rPr>
              <a:t>void print(T a, U b)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800" dirty="0">
                <a:latin typeface="Courier New" pitchFamily="49" charset="0"/>
              </a:rPr>
              <a:t>    </a:t>
            </a:r>
            <a:r>
              <a:rPr lang="en-US" altLang="zh-CN" sz="800" dirty="0" err="1">
                <a:latin typeface="Courier New" pitchFamily="49" charset="0"/>
              </a:rPr>
              <a:t>cout</a:t>
            </a:r>
            <a:r>
              <a:rPr lang="en-US" altLang="zh-CN" sz="800" dirty="0">
                <a:latin typeface="Courier New" pitchFamily="49" charset="0"/>
              </a:rPr>
              <a:t> &lt;&lt; "function: " &lt;&lt; a &lt;&lt; " " &lt;&lt; b &lt;&lt; </a:t>
            </a:r>
            <a:r>
              <a:rPr lang="en-US" altLang="zh-CN" sz="800" dirty="0" err="1">
                <a:latin typeface="Courier New" pitchFamily="49" charset="0"/>
              </a:rPr>
              <a:t>endl</a:t>
            </a:r>
            <a:r>
              <a:rPr lang="en-US" altLang="zh-CN" sz="800" dirty="0">
                <a:latin typeface="Courier New" pitchFamily="49" charset="0"/>
              </a:rPr>
              <a:t>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800" dirty="0">
                <a:latin typeface="Courier New" pitchFamily="49" charset="0"/>
              </a:rPr>
              <a:t>}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800" dirty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800" dirty="0">
                <a:latin typeface="Courier New" pitchFamily="49" charset="0"/>
              </a:rPr>
              <a:t>int main()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800" dirty="0">
                <a:latin typeface="Courier New" pitchFamily="49" charset="0"/>
              </a:rPr>
              <a:t>    print('a', true);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800" dirty="0">
                <a:latin typeface="Courier New" pitchFamily="49" charset="0"/>
              </a:rPr>
              <a:t>    print('a’); // error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800" dirty="0">
                <a:latin typeface="Courier New" pitchFamily="49" charset="0"/>
              </a:rPr>
              <a:t>   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800" dirty="0">
                <a:latin typeface="Courier New" pitchFamily="49" charset="0"/>
              </a:rPr>
              <a:t>    return 0;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800" dirty="0">
                <a:latin typeface="Courier New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6B6732-E4F5-478B-86A6-8587F305CF10}"/>
              </a:ext>
            </a:extLst>
          </p:cNvPr>
          <p:cNvSpPr txBox="1"/>
          <p:nvPr/>
        </p:nvSpPr>
        <p:spPr>
          <a:xfrm>
            <a:off x="830382" y="6535579"/>
            <a:ext cx="195598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Code: lec11-08-default.cpp</a:t>
            </a:r>
          </a:p>
        </p:txBody>
      </p:sp>
    </p:spTree>
    <p:extLst>
      <p:ext uri="{BB962C8B-B14F-4D97-AF65-F5344CB8AC3E}">
        <p14:creationId xmlns:p14="http://schemas.microsoft.com/office/powerpoint/2010/main" val="1349448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63FAC-72AB-46BB-9A76-6696F83C3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Class Templates as Function Parameters</a:t>
            </a:r>
            <a:endParaRPr lang="en-HK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92CC6FA-DFDF-4CD3-85A7-E61A8DB9C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653ED2-267D-454B-B9E3-59503D7C3DE8}" type="slidenum">
              <a:rPr lang="zh-TW" altLang="en-US" smtClean="0"/>
              <a:pPr>
                <a:defRPr/>
              </a:pPr>
              <a:t>13</a:t>
            </a:fld>
            <a:endParaRPr lang="en-US" altLang="zh-TW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8597A3-1847-4FBF-8725-4583E7351ED2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One common way is to </a:t>
            </a:r>
            <a:r>
              <a:rPr lang="en-US" sz="2400" dirty="0">
                <a:solidFill>
                  <a:srgbClr val="C00000"/>
                </a:solidFill>
              </a:rPr>
              <a:t>explicitly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7030A0"/>
                </a:solidFill>
              </a:rPr>
              <a:t>specify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0070C0"/>
                </a:solidFill>
              </a:rPr>
              <a:t>each data type</a:t>
            </a:r>
            <a:endParaRPr lang="en-HK" sz="2400" dirty="0">
              <a:solidFill>
                <a:srgbClr val="0070C0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EA7B9B2-94BE-4AF4-83F7-950A3B511736}"/>
              </a:ext>
            </a:extLst>
          </p:cNvPr>
          <p:cNvSpPr txBox="1"/>
          <p:nvPr/>
        </p:nvSpPr>
        <p:spPr>
          <a:xfrm>
            <a:off x="2133600" y="2438400"/>
            <a:ext cx="4495800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template &lt;class T, class U&gt;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class </a:t>
            </a:r>
            <a:r>
              <a:rPr lang="en-US" altLang="zh-CN" sz="1000" dirty="0" err="1">
                <a:latin typeface="Courier New" pitchFamily="49" charset="0"/>
              </a:rPr>
              <a:t>DayOfYear</a:t>
            </a:r>
            <a:r>
              <a:rPr lang="en-US" altLang="zh-CN" sz="1000" dirty="0">
                <a:latin typeface="Courier New" pitchFamily="49" charset="0"/>
              </a:rPr>
              <a:t>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  public: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      </a:t>
            </a:r>
            <a:r>
              <a:rPr lang="en-US" altLang="zh-CN" sz="1000" dirty="0" err="1">
                <a:latin typeface="Courier New" pitchFamily="49" charset="0"/>
              </a:rPr>
              <a:t>DayOfYear</a:t>
            </a:r>
            <a:r>
              <a:rPr lang="en-US" altLang="zh-CN" sz="1000" dirty="0">
                <a:latin typeface="Courier New" pitchFamily="49" charset="0"/>
              </a:rPr>
              <a:t> (T m, U d): month(m), day(d)  {}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  public: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      T month;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      U day;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};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1000" dirty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void print(</a:t>
            </a:r>
            <a:r>
              <a:rPr lang="en-US" altLang="zh-CN" sz="1000" dirty="0" err="1">
                <a:latin typeface="Courier New" pitchFamily="49" charset="0"/>
              </a:rPr>
              <a:t>DayOfYear</a:t>
            </a:r>
            <a:r>
              <a:rPr lang="en-US" altLang="zh-CN" sz="1000" dirty="0">
                <a:latin typeface="Courier New" pitchFamily="49" charset="0"/>
              </a:rPr>
              <a:t>&lt;string, int&gt; &amp;d)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  </a:t>
            </a:r>
            <a:r>
              <a:rPr lang="en-US" altLang="zh-CN" sz="1000" dirty="0" err="1">
                <a:latin typeface="Courier New" pitchFamily="49" charset="0"/>
              </a:rPr>
              <a:t>cout</a:t>
            </a:r>
            <a:r>
              <a:rPr lang="en-US" altLang="zh-CN" sz="1000" dirty="0">
                <a:latin typeface="Courier New" pitchFamily="49" charset="0"/>
              </a:rPr>
              <a:t> &lt;&lt; "print: " &lt;&lt; </a:t>
            </a:r>
            <a:r>
              <a:rPr lang="en-US" altLang="zh-CN" sz="1000" dirty="0" err="1">
                <a:latin typeface="Courier New" pitchFamily="49" charset="0"/>
              </a:rPr>
              <a:t>d.month</a:t>
            </a:r>
            <a:r>
              <a:rPr lang="en-US" altLang="zh-CN" sz="1000" dirty="0">
                <a:latin typeface="Courier New" pitchFamily="49" charset="0"/>
              </a:rPr>
              <a:t> &lt;&lt; " " &lt;&lt; </a:t>
            </a:r>
            <a:r>
              <a:rPr lang="en-US" altLang="zh-CN" sz="1000" dirty="0" err="1">
                <a:latin typeface="Courier New" pitchFamily="49" charset="0"/>
              </a:rPr>
              <a:t>d.day</a:t>
            </a:r>
            <a:r>
              <a:rPr lang="en-US" altLang="zh-CN" sz="1000" dirty="0">
                <a:latin typeface="Courier New" pitchFamily="49" charset="0"/>
              </a:rPr>
              <a:t> &lt;&lt; </a:t>
            </a:r>
            <a:r>
              <a:rPr lang="en-US" altLang="zh-CN" sz="1000" dirty="0" err="1">
                <a:latin typeface="Courier New" pitchFamily="49" charset="0"/>
              </a:rPr>
              <a:t>endl</a:t>
            </a:r>
            <a:r>
              <a:rPr lang="en-US" altLang="zh-CN" sz="1000" dirty="0">
                <a:latin typeface="Courier New" pitchFamily="49" charset="0"/>
              </a:rPr>
              <a:t>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}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1000" dirty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int main()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  </a:t>
            </a:r>
            <a:r>
              <a:rPr lang="en-US" altLang="zh-CN" sz="1000" dirty="0" err="1">
                <a:latin typeface="Courier New" pitchFamily="49" charset="0"/>
              </a:rPr>
              <a:t>DayOfYear</a:t>
            </a:r>
            <a:r>
              <a:rPr lang="en-US" altLang="zh-CN" sz="1000" dirty="0">
                <a:latin typeface="Courier New" pitchFamily="49" charset="0"/>
              </a:rPr>
              <a:t>&lt;string, int&gt; d1("September", 1);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  print(d1);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 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  return 0;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E16FF8-10B1-418C-9413-001DAC896361}"/>
              </a:ext>
            </a:extLst>
          </p:cNvPr>
          <p:cNvSpPr txBox="1"/>
          <p:nvPr/>
        </p:nvSpPr>
        <p:spPr>
          <a:xfrm>
            <a:off x="830382" y="6535579"/>
            <a:ext cx="210025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Code: lec11-9-parameter.cpp</a:t>
            </a:r>
          </a:p>
        </p:txBody>
      </p:sp>
    </p:spTree>
    <p:extLst>
      <p:ext uri="{BB962C8B-B14F-4D97-AF65-F5344CB8AC3E}">
        <p14:creationId xmlns:p14="http://schemas.microsoft.com/office/powerpoint/2010/main" val="423505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32628-7F87-451A-A1CB-E8625229C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Inheritance in Class Templates</a:t>
            </a:r>
            <a:endParaRPr lang="en-HK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87875F-F849-43D4-99B5-F70D8ECE8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653ED2-267D-454B-B9E3-59503D7C3DE8}" type="slidenum">
              <a:rPr lang="zh-TW" altLang="en-US" smtClean="0"/>
              <a:pPr>
                <a:defRPr/>
              </a:pPr>
              <a:t>14</a:t>
            </a:fld>
            <a:endParaRPr lang="en-US" altLang="zh-TW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C34C95-0769-4F32-84B3-EAB807165E1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If the </a:t>
            </a:r>
            <a:r>
              <a:rPr lang="en-US" sz="2400" dirty="0">
                <a:solidFill>
                  <a:srgbClr val="C00000"/>
                </a:solidFill>
              </a:rPr>
              <a:t>parent class</a:t>
            </a:r>
            <a:r>
              <a:rPr lang="en-US" sz="2400" dirty="0"/>
              <a:t> is a </a:t>
            </a:r>
            <a:r>
              <a:rPr lang="en-US" sz="2400" dirty="0">
                <a:solidFill>
                  <a:srgbClr val="7030A0"/>
                </a:solidFill>
              </a:rPr>
              <a:t>template</a:t>
            </a:r>
            <a:r>
              <a:rPr lang="en-US" sz="2400" dirty="0"/>
              <a:t>, we should </a:t>
            </a:r>
            <a:r>
              <a:rPr lang="en-US" sz="2400" dirty="0">
                <a:solidFill>
                  <a:srgbClr val="0070C0"/>
                </a:solidFill>
              </a:rPr>
              <a:t>specify its type</a:t>
            </a:r>
            <a:r>
              <a:rPr lang="en-US" sz="2400" dirty="0"/>
              <a:t> when declaring its child class, or define the child class as template</a:t>
            </a:r>
            <a:endParaRPr lang="en-HK" sz="2400" dirty="0"/>
          </a:p>
        </p:txBody>
      </p:sp>
      <p:sp>
        <p:nvSpPr>
          <p:cNvPr id="6" name="文本框 4">
            <a:extLst>
              <a:ext uri="{FF2B5EF4-FFF2-40B4-BE49-F238E27FC236}">
                <a16:creationId xmlns:a16="http://schemas.microsoft.com/office/drawing/2014/main" id="{40D19B6E-0016-4A13-9E60-51A73BFA6E37}"/>
              </a:ext>
            </a:extLst>
          </p:cNvPr>
          <p:cNvSpPr txBox="1"/>
          <p:nvPr/>
        </p:nvSpPr>
        <p:spPr>
          <a:xfrm>
            <a:off x="879457" y="4001631"/>
            <a:ext cx="33528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class Child1 :public Base&lt;string&gt;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  public: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      Child1(): Base("child", "01") {}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};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1000" dirty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int main() {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1000" dirty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  Child1 c1;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  </a:t>
            </a:r>
            <a:r>
              <a:rPr lang="en-US" altLang="zh-CN" sz="1000" dirty="0" err="1">
                <a:latin typeface="Courier New" pitchFamily="49" charset="0"/>
              </a:rPr>
              <a:t>cout</a:t>
            </a:r>
            <a:r>
              <a:rPr lang="en-US" altLang="zh-CN" sz="1000" dirty="0">
                <a:latin typeface="Courier New" pitchFamily="49" charset="0"/>
              </a:rPr>
              <a:t> &lt;&lt; c1.n &lt;&lt; c1.m &lt;&lt; </a:t>
            </a:r>
            <a:r>
              <a:rPr lang="en-US" altLang="zh-CN" sz="1000" dirty="0" err="1">
                <a:latin typeface="Courier New" pitchFamily="49" charset="0"/>
              </a:rPr>
              <a:t>endl</a:t>
            </a:r>
            <a:r>
              <a:rPr lang="en-US" altLang="zh-CN" sz="1000" dirty="0">
                <a:latin typeface="Courier New" pitchFamily="49" charset="0"/>
              </a:rPr>
              <a:t>;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1000" dirty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  return 0;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}</a:t>
            </a:r>
          </a:p>
        </p:txBody>
      </p:sp>
      <p:sp>
        <p:nvSpPr>
          <p:cNvPr id="7" name="文本框 4">
            <a:extLst>
              <a:ext uri="{FF2B5EF4-FFF2-40B4-BE49-F238E27FC236}">
                <a16:creationId xmlns:a16="http://schemas.microsoft.com/office/drawing/2014/main" id="{300F0A75-A861-4A41-BC5C-2707A49BBAC0}"/>
              </a:ext>
            </a:extLst>
          </p:cNvPr>
          <p:cNvSpPr txBox="1"/>
          <p:nvPr/>
        </p:nvSpPr>
        <p:spPr>
          <a:xfrm>
            <a:off x="4343400" y="3962400"/>
            <a:ext cx="4495800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template &lt;class T&gt;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class Child2 :public Base&lt;T&gt;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  public: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      Child2()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          </a:t>
            </a:r>
            <a:r>
              <a:rPr lang="en-US" altLang="zh-CN" sz="1000" dirty="0" err="1">
                <a:solidFill>
                  <a:schemeClr val="bg1">
                    <a:lumMod val="75000"/>
                  </a:schemeClr>
                </a:solidFill>
                <a:latin typeface="Courier New" pitchFamily="49" charset="0"/>
              </a:rPr>
              <a:t>cout</a:t>
            </a:r>
            <a:r>
              <a:rPr lang="en-US" altLang="zh-CN" sz="1000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</a:rPr>
              <a:t> &lt;&lt; </a:t>
            </a:r>
            <a:r>
              <a:rPr lang="en-US" altLang="zh-CN" sz="1000" dirty="0" err="1">
                <a:solidFill>
                  <a:schemeClr val="bg1">
                    <a:lumMod val="75000"/>
                  </a:schemeClr>
                </a:solidFill>
                <a:latin typeface="Courier New" pitchFamily="49" charset="0"/>
              </a:rPr>
              <a:t>typeid</a:t>
            </a:r>
            <a:r>
              <a:rPr lang="en-US" altLang="zh-CN" sz="1000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</a:rPr>
              <a:t>(T).name() &lt;&lt; </a:t>
            </a:r>
            <a:r>
              <a:rPr lang="en-US" altLang="zh-CN" sz="1000" dirty="0" err="1">
                <a:solidFill>
                  <a:schemeClr val="bg1">
                    <a:lumMod val="75000"/>
                  </a:schemeClr>
                </a:solidFill>
                <a:latin typeface="Courier New" pitchFamily="49" charset="0"/>
              </a:rPr>
              <a:t>endl</a:t>
            </a:r>
            <a:r>
              <a:rPr lang="en-US" altLang="zh-CN" sz="1000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</a:rPr>
              <a:t>; // shows the deducted data type of T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      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};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1000" dirty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int main() {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1000" dirty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  Child2&lt;int&gt; c2;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1000" dirty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  return 0;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}</a:t>
            </a:r>
          </a:p>
        </p:txBody>
      </p:sp>
      <p:sp>
        <p:nvSpPr>
          <p:cNvPr id="8" name="文本框 4">
            <a:extLst>
              <a:ext uri="{FF2B5EF4-FFF2-40B4-BE49-F238E27FC236}">
                <a16:creationId xmlns:a16="http://schemas.microsoft.com/office/drawing/2014/main" id="{785F0590-CE62-4B36-A9F8-1F63E400CFD0}"/>
              </a:ext>
            </a:extLst>
          </p:cNvPr>
          <p:cNvSpPr txBox="1"/>
          <p:nvPr/>
        </p:nvSpPr>
        <p:spPr>
          <a:xfrm>
            <a:off x="3276600" y="2334161"/>
            <a:ext cx="4495800" cy="13234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template &lt;class T&gt;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class Base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  public: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      Base() {}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      Base(T a, T b): n(a), m(b) {}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1000" dirty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      T n, m;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};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AD1486-8EF0-4113-B7F9-D361688FFE3D}"/>
              </a:ext>
            </a:extLst>
          </p:cNvPr>
          <p:cNvSpPr txBox="1"/>
          <p:nvPr/>
        </p:nvSpPr>
        <p:spPr>
          <a:xfrm>
            <a:off x="830382" y="6535579"/>
            <a:ext cx="222849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Code: lec11-10-inheritance.cpp</a:t>
            </a:r>
          </a:p>
        </p:txBody>
      </p:sp>
    </p:spTree>
    <p:extLst>
      <p:ext uri="{BB962C8B-B14F-4D97-AF65-F5344CB8AC3E}">
        <p14:creationId xmlns:p14="http://schemas.microsoft.com/office/powerpoint/2010/main" val="4216547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97CF0-F33A-4235-BF6A-D7285A4F5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Separate Compilation for Templates</a:t>
            </a:r>
            <a:endParaRPr lang="en-HK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E772EEC-A114-44A0-BF24-2701DA77A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653ED2-267D-454B-B9E3-59503D7C3DE8}" type="slidenum">
              <a:rPr lang="zh-TW" altLang="en-US" smtClean="0"/>
              <a:pPr>
                <a:defRPr/>
              </a:pPr>
              <a:t>15</a:t>
            </a:fld>
            <a:endParaRPr lang="en-US" altLang="zh-TW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47330A-C0D6-41D3-A6C1-102CBC13610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For normal function/class, we usually write as follows:</a:t>
            </a:r>
          </a:p>
          <a:p>
            <a:pPr lvl="1"/>
            <a:r>
              <a:rPr lang="en-US" sz="1800" b="1" dirty="0"/>
              <a:t>Header</a:t>
            </a:r>
            <a:r>
              <a:rPr lang="en-US" sz="1800" dirty="0"/>
              <a:t> (.h): the </a:t>
            </a:r>
            <a:r>
              <a:rPr lang="en-US" sz="1800" dirty="0">
                <a:solidFill>
                  <a:srgbClr val="C00000"/>
                </a:solidFill>
              </a:rPr>
              <a:t>declaration</a:t>
            </a:r>
            <a:r>
              <a:rPr lang="en-US" sz="1800" dirty="0"/>
              <a:t> </a:t>
            </a:r>
          </a:p>
          <a:p>
            <a:pPr lvl="1"/>
            <a:r>
              <a:rPr lang="en-US" sz="1800" b="1" dirty="0"/>
              <a:t>Source</a:t>
            </a:r>
            <a:r>
              <a:rPr lang="en-US" sz="1800" dirty="0"/>
              <a:t> (.</a:t>
            </a:r>
            <a:r>
              <a:rPr lang="en-US" sz="1800" dirty="0" err="1"/>
              <a:t>cpp</a:t>
            </a:r>
            <a:r>
              <a:rPr lang="en-US" sz="1800" dirty="0"/>
              <a:t>): the </a:t>
            </a:r>
            <a:r>
              <a:rPr lang="en-US" sz="1800" dirty="0">
                <a:solidFill>
                  <a:srgbClr val="7030A0"/>
                </a:solidFill>
              </a:rPr>
              <a:t>definition</a:t>
            </a:r>
          </a:p>
          <a:p>
            <a:r>
              <a:rPr lang="en-US" sz="2400" dirty="0"/>
              <a:t>But it may cause problems with templates, since instances of function templates are created when they are called</a:t>
            </a:r>
          </a:p>
          <a:p>
            <a:pPr lvl="1"/>
            <a:r>
              <a:rPr lang="en-US" sz="1800" dirty="0"/>
              <a:t>Write the </a:t>
            </a:r>
            <a:r>
              <a:rPr lang="en-US" sz="1800" dirty="0">
                <a:solidFill>
                  <a:srgbClr val="0070C0"/>
                </a:solidFill>
              </a:rPr>
              <a:t>entire</a:t>
            </a:r>
            <a:r>
              <a:rPr lang="en-US" sz="1800" dirty="0"/>
              <a:t> class/function in a header, usually with extension </a:t>
            </a:r>
            <a:r>
              <a:rPr lang="en-US" sz="1800" dirty="0">
                <a:solidFill>
                  <a:srgbClr val="FF0000"/>
                </a:solidFill>
              </a:rPr>
              <a:t>.</a:t>
            </a:r>
            <a:r>
              <a:rPr lang="en-US" sz="1800" dirty="0" err="1">
                <a:solidFill>
                  <a:srgbClr val="FF0000"/>
                </a:solidFill>
              </a:rPr>
              <a:t>hpp</a:t>
            </a:r>
            <a:endParaRPr lang="en-HK" sz="1800" dirty="0">
              <a:solidFill>
                <a:srgbClr val="FF0000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23C4DF8-9E89-4379-A997-DFCEDC1CB816}"/>
              </a:ext>
            </a:extLst>
          </p:cNvPr>
          <p:cNvSpPr txBox="1"/>
          <p:nvPr/>
        </p:nvSpPr>
        <p:spPr>
          <a:xfrm>
            <a:off x="1143000" y="4118282"/>
            <a:ext cx="3641182" cy="243143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800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</a:rPr>
              <a:t>#pragma once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800" dirty="0">
                <a:latin typeface="Courier New" pitchFamily="49" charset="0"/>
              </a:rPr>
              <a:t>#include &lt;iostream&gt;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800" dirty="0">
                <a:latin typeface="Courier New" pitchFamily="49" charset="0"/>
              </a:rPr>
              <a:t>#include &lt;string&gt;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800" dirty="0">
                <a:latin typeface="Courier New" pitchFamily="49" charset="0"/>
              </a:rPr>
              <a:t>using namespace std;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800" dirty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800" dirty="0">
                <a:latin typeface="Courier New" pitchFamily="49" charset="0"/>
              </a:rPr>
              <a:t>template &lt;class T, class U&gt;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800" dirty="0">
                <a:latin typeface="Courier New" pitchFamily="49" charset="0"/>
              </a:rPr>
              <a:t>class </a:t>
            </a:r>
            <a:r>
              <a:rPr lang="en-US" altLang="zh-CN" sz="800" dirty="0" err="1">
                <a:latin typeface="Courier New" pitchFamily="49" charset="0"/>
              </a:rPr>
              <a:t>DayOfYear</a:t>
            </a:r>
            <a:r>
              <a:rPr lang="en-US" altLang="zh-CN" sz="800" dirty="0">
                <a:latin typeface="Courier New" pitchFamily="49" charset="0"/>
              </a:rPr>
              <a:t>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800" dirty="0">
                <a:latin typeface="Courier New" pitchFamily="49" charset="0"/>
              </a:rPr>
              <a:t>    public: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800" dirty="0">
                <a:latin typeface="Courier New" pitchFamily="49" charset="0"/>
              </a:rPr>
              <a:t>        </a:t>
            </a:r>
            <a:r>
              <a:rPr lang="en-US" altLang="zh-CN" sz="800" dirty="0" err="1">
                <a:latin typeface="Courier New" pitchFamily="49" charset="0"/>
              </a:rPr>
              <a:t>DayOfYear</a:t>
            </a:r>
            <a:r>
              <a:rPr lang="en-US" altLang="zh-CN" sz="800" dirty="0">
                <a:latin typeface="Courier New" pitchFamily="49" charset="0"/>
              </a:rPr>
              <a:t> (T m, U d): month(m), day(d)  {}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800" dirty="0">
                <a:latin typeface="Courier New" pitchFamily="49" charset="0"/>
              </a:rPr>
              <a:t>        void print();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800" dirty="0">
                <a:latin typeface="Courier New" pitchFamily="49" charset="0"/>
              </a:rPr>
              <a:t>    public: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800" dirty="0">
                <a:latin typeface="Courier New" pitchFamily="49" charset="0"/>
              </a:rPr>
              <a:t>        T month;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800" dirty="0">
                <a:latin typeface="Courier New" pitchFamily="49" charset="0"/>
              </a:rPr>
              <a:t>        U day;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800" dirty="0">
                <a:latin typeface="Courier New" pitchFamily="49" charset="0"/>
              </a:rPr>
              <a:t>};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800" dirty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800" dirty="0">
                <a:latin typeface="Courier New" pitchFamily="49" charset="0"/>
              </a:rPr>
              <a:t>template &lt;class T, class U&gt;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800" dirty="0">
                <a:latin typeface="Courier New" pitchFamily="49" charset="0"/>
              </a:rPr>
              <a:t>void </a:t>
            </a:r>
            <a:r>
              <a:rPr lang="en-US" altLang="zh-CN" sz="800" dirty="0" err="1">
                <a:latin typeface="Courier New" pitchFamily="49" charset="0"/>
              </a:rPr>
              <a:t>DayOfYear</a:t>
            </a:r>
            <a:r>
              <a:rPr lang="en-US" altLang="zh-CN" sz="800" dirty="0">
                <a:latin typeface="Courier New" pitchFamily="49" charset="0"/>
              </a:rPr>
              <a:t>&lt;T, U&gt;::print()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800" dirty="0">
                <a:latin typeface="Courier New" pitchFamily="49" charset="0"/>
              </a:rPr>
              <a:t>    </a:t>
            </a:r>
            <a:r>
              <a:rPr lang="en-US" altLang="zh-CN" sz="800" dirty="0" err="1">
                <a:latin typeface="Courier New" pitchFamily="49" charset="0"/>
              </a:rPr>
              <a:t>cout</a:t>
            </a:r>
            <a:r>
              <a:rPr lang="en-US" altLang="zh-CN" sz="800" dirty="0">
                <a:latin typeface="Courier New" pitchFamily="49" charset="0"/>
              </a:rPr>
              <a:t> &lt;&lt; month &lt;&lt; " " &lt;&lt; day &lt;&lt; </a:t>
            </a:r>
            <a:r>
              <a:rPr lang="en-US" altLang="zh-CN" sz="800" dirty="0" err="1">
                <a:latin typeface="Courier New" pitchFamily="49" charset="0"/>
              </a:rPr>
              <a:t>endl</a:t>
            </a:r>
            <a:r>
              <a:rPr lang="en-US" altLang="zh-CN" sz="800" dirty="0">
                <a:latin typeface="Courier New" pitchFamily="49" charset="0"/>
              </a:rPr>
              <a:t>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800" dirty="0">
                <a:latin typeface="Courier New" pitchFamily="49" charset="0"/>
              </a:rPr>
              <a:t>}</a:t>
            </a:r>
          </a:p>
        </p:txBody>
      </p:sp>
      <p:sp>
        <p:nvSpPr>
          <p:cNvPr id="6" name="文本框 4">
            <a:extLst>
              <a:ext uri="{FF2B5EF4-FFF2-40B4-BE49-F238E27FC236}">
                <a16:creationId xmlns:a16="http://schemas.microsoft.com/office/drawing/2014/main" id="{9EBDFC11-D65F-4D64-AD20-1B85D756203B}"/>
              </a:ext>
            </a:extLst>
          </p:cNvPr>
          <p:cNvSpPr txBox="1"/>
          <p:nvPr/>
        </p:nvSpPr>
        <p:spPr>
          <a:xfrm>
            <a:off x="5165182" y="4122003"/>
            <a:ext cx="3369218" cy="83099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800" dirty="0">
                <a:latin typeface="Courier New" pitchFamily="49" charset="0"/>
              </a:rPr>
              <a:t>#include "lec11-12-lib.hpp"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800" dirty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800" dirty="0">
                <a:latin typeface="Courier New" pitchFamily="49" charset="0"/>
              </a:rPr>
              <a:t>int main()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800" dirty="0">
                <a:latin typeface="Courier New" pitchFamily="49" charset="0"/>
              </a:rPr>
              <a:t>    </a:t>
            </a:r>
            <a:r>
              <a:rPr lang="en-US" altLang="zh-CN" sz="800" dirty="0" err="1">
                <a:latin typeface="Courier New" pitchFamily="49" charset="0"/>
              </a:rPr>
              <a:t>DayOfYear</a:t>
            </a:r>
            <a:r>
              <a:rPr lang="en-US" altLang="zh-CN" sz="800" dirty="0">
                <a:latin typeface="Courier New" pitchFamily="49" charset="0"/>
              </a:rPr>
              <a:t>&lt;string, int&gt; d("September", 1);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800" dirty="0">
                <a:latin typeface="Courier New" pitchFamily="49" charset="0"/>
              </a:rPr>
              <a:t>    </a:t>
            </a:r>
            <a:r>
              <a:rPr lang="en-US" altLang="zh-CN" sz="800" dirty="0" err="1">
                <a:latin typeface="Courier New" pitchFamily="49" charset="0"/>
              </a:rPr>
              <a:t>d.print</a:t>
            </a:r>
            <a:r>
              <a:rPr lang="en-US" altLang="zh-CN" sz="800" dirty="0">
                <a:latin typeface="Courier New" pitchFamily="49" charset="0"/>
              </a:rPr>
              <a:t>();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800" dirty="0">
                <a:latin typeface="Courier New" pitchFamily="49" charset="0"/>
              </a:rPr>
              <a:t>}</a:t>
            </a:r>
          </a:p>
        </p:txBody>
      </p:sp>
      <p:sp>
        <p:nvSpPr>
          <p:cNvPr id="7" name="文本框 4">
            <a:extLst>
              <a:ext uri="{FF2B5EF4-FFF2-40B4-BE49-F238E27FC236}">
                <a16:creationId xmlns:a16="http://schemas.microsoft.com/office/drawing/2014/main" id="{90EFB01F-BF06-412C-8B01-72A31F7C1667}"/>
              </a:ext>
            </a:extLst>
          </p:cNvPr>
          <p:cNvSpPr txBox="1"/>
          <p:nvPr/>
        </p:nvSpPr>
        <p:spPr>
          <a:xfrm>
            <a:off x="1066800" y="3818880"/>
            <a:ext cx="11779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+mn-lt"/>
              </a:rPr>
              <a:t>lec11-11-lib.hpp:</a:t>
            </a:r>
          </a:p>
        </p:txBody>
      </p:sp>
      <p:sp>
        <p:nvSpPr>
          <p:cNvPr id="8" name="文本框 4">
            <a:extLst>
              <a:ext uri="{FF2B5EF4-FFF2-40B4-BE49-F238E27FC236}">
                <a16:creationId xmlns:a16="http://schemas.microsoft.com/office/drawing/2014/main" id="{A47D847B-900B-41E9-B2BF-EC75BCB11639}"/>
              </a:ext>
            </a:extLst>
          </p:cNvPr>
          <p:cNvSpPr txBox="1"/>
          <p:nvPr/>
        </p:nvSpPr>
        <p:spPr>
          <a:xfrm>
            <a:off x="5105400" y="3810000"/>
            <a:ext cx="16625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+mn-lt"/>
              </a:rPr>
              <a:t>lec11-11-seperation.cpp:</a:t>
            </a:r>
          </a:p>
        </p:txBody>
      </p:sp>
    </p:spTree>
    <p:extLst>
      <p:ext uri="{BB962C8B-B14F-4D97-AF65-F5344CB8AC3E}">
        <p14:creationId xmlns:p14="http://schemas.microsoft.com/office/powerpoint/2010/main" val="159893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/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1892B-5556-4BBA-8AB9-DFE4810F6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Separate Compilation for Templates</a:t>
            </a:r>
            <a:endParaRPr lang="en-HK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3DB65B-A253-4CEF-9D5D-7888C6BD7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653ED2-267D-454B-B9E3-59503D7C3DE8}" type="slidenum">
              <a:rPr lang="zh-TW" altLang="en-US" smtClean="0"/>
              <a:pPr>
                <a:defRPr/>
              </a:pPr>
              <a:t>16</a:t>
            </a:fld>
            <a:endParaRPr lang="en-US" altLang="zh-TW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12242D-65C5-4FB8-B020-EBC3623DC20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More on header files in C++. Its extension is </a:t>
            </a:r>
            <a:r>
              <a:rPr lang="en-US" sz="2400" dirty="0">
                <a:solidFill>
                  <a:srgbClr val="FF0000"/>
                </a:solidFill>
              </a:rPr>
              <a:t>not unique</a:t>
            </a:r>
          </a:p>
          <a:p>
            <a:pPr lvl="1"/>
            <a:r>
              <a:rPr lang="en-US" sz="2000" dirty="0"/>
              <a:t>.h: a traditional extension inherited from C (still widely used)</a:t>
            </a:r>
          </a:p>
          <a:p>
            <a:pPr lvl="1"/>
            <a:r>
              <a:rPr lang="en-US" sz="2000" dirty="0">
                <a:solidFill>
                  <a:srgbClr val="7030A0"/>
                </a:solidFill>
              </a:rPr>
              <a:t>.</a:t>
            </a:r>
            <a:r>
              <a:rPr lang="en-US" sz="2000" dirty="0" err="1">
                <a:solidFill>
                  <a:srgbClr val="7030A0"/>
                </a:solidFill>
              </a:rPr>
              <a:t>hpp</a:t>
            </a:r>
            <a:r>
              <a:rPr lang="en-US" sz="2000" dirty="0"/>
              <a:t>: often used to specifically denote a C++ header</a:t>
            </a:r>
          </a:p>
          <a:p>
            <a:pPr lvl="1"/>
            <a:r>
              <a:rPr lang="en-US" sz="2000" dirty="0">
                <a:solidFill>
                  <a:srgbClr val="0070C0"/>
                </a:solidFill>
              </a:rPr>
              <a:t>No extension</a:t>
            </a:r>
            <a:r>
              <a:rPr lang="en-US" sz="2000" dirty="0"/>
              <a:t>: the standard library headers, e.g., &lt;iostream&gt;, do not have any extension</a:t>
            </a:r>
          </a:p>
          <a:p>
            <a:pPr lvl="1"/>
            <a:r>
              <a:rPr lang="en-US" sz="2000" dirty="0"/>
              <a:t>…</a:t>
            </a:r>
            <a:endParaRPr lang="en-HK" sz="2000" dirty="0"/>
          </a:p>
        </p:txBody>
      </p:sp>
    </p:spTree>
    <p:extLst>
      <p:ext uri="{BB962C8B-B14F-4D97-AF65-F5344CB8AC3E}">
        <p14:creationId xmlns:p14="http://schemas.microsoft.com/office/powerpoint/2010/main" val="2864566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F759B-1281-4CE8-B3C6-0F8B582CE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  <a:endParaRPr lang="en-HK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8AC8F82-A81A-4E95-A696-6C9467222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653ED2-267D-454B-B9E3-59503D7C3DE8}" type="slidenum">
              <a:rPr lang="zh-TW" altLang="en-US" smtClean="0"/>
              <a:pPr>
                <a:defRPr/>
              </a:pPr>
              <a:t>17</a:t>
            </a:fld>
            <a:endParaRPr lang="en-US" altLang="zh-TW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CB0A99-48AB-4963-8E59-B0756B2805A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Templates</a:t>
            </a:r>
          </a:p>
          <a:p>
            <a:endParaRPr lang="en-US" dirty="0"/>
          </a:p>
          <a:p>
            <a:r>
              <a:rPr lang="en-US" dirty="0"/>
              <a:t>Introduction to STL</a:t>
            </a:r>
          </a:p>
          <a:p>
            <a:endParaRPr lang="en-US" dirty="0"/>
          </a:p>
          <a:p>
            <a:r>
              <a:rPr lang="en-US" dirty="0"/>
              <a:t>Review</a:t>
            </a:r>
            <a:endParaRPr lang="en-HK" dirty="0"/>
          </a:p>
        </p:txBody>
      </p:sp>
    </p:spTree>
    <p:extLst>
      <p:ext uri="{BB962C8B-B14F-4D97-AF65-F5344CB8AC3E}">
        <p14:creationId xmlns:p14="http://schemas.microsoft.com/office/powerpoint/2010/main" val="42851602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18AE1-05F7-4E8B-8876-FA5C7AE5F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Standard Template Library (STL)</a:t>
            </a:r>
            <a:endParaRPr lang="en-HK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83764FA-3963-4E88-A85D-BD3BE715C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653ED2-267D-454B-B9E3-59503D7C3DE8}" type="slidenum">
              <a:rPr lang="zh-TW" altLang="en-US" smtClean="0"/>
              <a:pPr>
                <a:defRPr/>
              </a:pPr>
              <a:t>18</a:t>
            </a:fld>
            <a:endParaRPr lang="en-US" altLang="zh-TW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C8688A-7866-432F-9EB3-274BE98D30D7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C++ </a:t>
            </a:r>
            <a:r>
              <a:rPr lang="en-US" sz="2400" b="1" dirty="0"/>
              <a:t>STL</a:t>
            </a:r>
            <a:r>
              <a:rPr lang="en-US" sz="2400" dirty="0"/>
              <a:t> is a </a:t>
            </a:r>
            <a:r>
              <a:rPr lang="en-US" sz="2400" dirty="0">
                <a:solidFill>
                  <a:srgbClr val="C00000"/>
                </a:solidFill>
              </a:rPr>
              <a:t>set</a:t>
            </a:r>
            <a:r>
              <a:rPr lang="en-US" sz="2400" dirty="0"/>
              <a:t> of </a:t>
            </a:r>
            <a:r>
              <a:rPr lang="en-US" sz="2400" dirty="0">
                <a:solidFill>
                  <a:srgbClr val="7030A0"/>
                </a:solidFill>
              </a:rPr>
              <a:t>template classes</a:t>
            </a:r>
            <a:r>
              <a:rPr lang="en-US" sz="2400" dirty="0"/>
              <a:t> that provide common programming </a:t>
            </a:r>
            <a:r>
              <a:rPr lang="en-US" sz="2400" b="1" dirty="0"/>
              <a:t>data structures</a:t>
            </a:r>
            <a:r>
              <a:rPr lang="en-US" sz="2400" dirty="0"/>
              <a:t> and </a:t>
            </a:r>
            <a:r>
              <a:rPr lang="en-US" sz="2400" b="1" dirty="0"/>
              <a:t>functions</a:t>
            </a:r>
          </a:p>
          <a:p>
            <a:pPr lvl="1"/>
            <a:r>
              <a:rPr lang="en-US" sz="2000" dirty="0"/>
              <a:t>Advantages:</a:t>
            </a:r>
          </a:p>
          <a:p>
            <a:pPr lvl="2"/>
            <a:r>
              <a:rPr lang="en-US" sz="1600" dirty="0">
                <a:solidFill>
                  <a:srgbClr val="0070C0"/>
                </a:solidFill>
              </a:rPr>
              <a:t>Reusability</a:t>
            </a:r>
            <a:r>
              <a:rPr lang="en-US" sz="1600" dirty="0"/>
              <a:t>, </a:t>
            </a:r>
            <a:r>
              <a:rPr lang="en-US" sz="1600" dirty="0">
                <a:solidFill>
                  <a:srgbClr val="FFC000"/>
                </a:solidFill>
              </a:rPr>
              <a:t>efficient algorithm implementations</a:t>
            </a:r>
            <a:r>
              <a:rPr lang="en-US" sz="1600" dirty="0"/>
              <a:t>, etc.</a:t>
            </a:r>
          </a:p>
          <a:p>
            <a:r>
              <a:rPr lang="en-US" sz="2400" dirty="0"/>
              <a:t>Key components:</a:t>
            </a:r>
          </a:p>
          <a:p>
            <a:pPr lvl="1"/>
            <a:r>
              <a:rPr lang="en-US" sz="2000" dirty="0">
                <a:solidFill>
                  <a:srgbClr val="C00000"/>
                </a:solidFill>
              </a:rPr>
              <a:t>Containers</a:t>
            </a:r>
            <a:r>
              <a:rPr lang="en-US" sz="2000" dirty="0"/>
              <a:t>: data structures to store and operate data</a:t>
            </a:r>
          </a:p>
          <a:p>
            <a:pPr lvl="1"/>
            <a:r>
              <a:rPr lang="en-US" sz="2000" dirty="0">
                <a:solidFill>
                  <a:srgbClr val="7030A0"/>
                </a:solidFill>
              </a:rPr>
              <a:t>Algorithms</a:t>
            </a:r>
            <a:r>
              <a:rPr lang="en-US" sz="2000" dirty="0"/>
              <a:t>: how to operate data</a:t>
            </a:r>
          </a:p>
          <a:p>
            <a:pPr lvl="1"/>
            <a:r>
              <a:rPr lang="en-US" sz="2000" dirty="0">
                <a:solidFill>
                  <a:srgbClr val="0070C0"/>
                </a:solidFill>
              </a:rPr>
              <a:t>Iterators</a:t>
            </a:r>
            <a:r>
              <a:rPr lang="en-US" sz="2000" dirty="0"/>
              <a:t>: objects that allow algorithms to traverse containers</a:t>
            </a:r>
          </a:p>
          <a:p>
            <a:pPr lvl="1"/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Function objects (</a:t>
            </a:r>
            <a:r>
              <a:rPr lang="en-US" sz="2000" dirty="0" err="1">
                <a:solidFill>
                  <a:schemeClr val="bg1">
                    <a:lumMod val="75000"/>
                  </a:schemeClr>
                </a:solidFill>
              </a:rPr>
              <a:t>functors</a:t>
            </a:r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)</a:t>
            </a:r>
          </a:p>
          <a:p>
            <a:pPr lvl="1"/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Adaptors</a:t>
            </a:r>
          </a:p>
          <a:p>
            <a:pPr lvl="1"/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Allocators</a:t>
            </a:r>
            <a:endParaRPr lang="en-HK" sz="1600" dirty="0">
              <a:solidFill>
                <a:schemeClr val="bg1">
                  <a:lumMod val="75000"/>
                </a:schemeClr>
              </a:solidFill>
            </a:endParaRPr>
          </a:p>
          <a:p>
            <a:pPr lvl="1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692212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2F00C-A660-4F18-B8B5-86B923EC7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Standard Template Library (STL)</a:t>
            </a:r>
            <a:endParaRPr lang="en-HK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8FF8B7E-9E67-44A2-936B-E25E8E5AA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653ED2-267D-454B-B9E3-59503D7C3DE8}" type="slidenum">
              <a:rPr lang="zh-TW" altLang="en-US" smtClean="0"/>
              <a:pPr>
                <a:defRPr/>
              </a:pPr>
              <a:t>19</a:t>
            </a:fld>
            <a:endParaRPr lang="en-US" altLang="zh-TW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26C858-E7AE-4B4A-8B91-F874F068F31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Containers</a:t>
            </a:r>
          </a:p>
          <a:p>
            <a:pPr lvl="1"/>
            <a:r>
              <a:rPr lang="en-US" sz="2000" dirty="0">
                <a:solidFill>
                  <a:srgbClr val="C00000"/>
                </a:solidFill>
              </a:rPr>
              <a:t>Sequence containers</a:t>
            </a:r>
            <a:r>
              <a:rPr lang="en-US" sz="2000" dirty="0"/>
              <a:t>: elements can be accessed </a:t>
            </a:r>
            <a:r>
              <a:rPr lang="en-US" sz="2000" dirty="0">
                <a:solidFill>
                  <a:srgbClr val="C00000"/>
                </a:solidFill>
              </a:rPr>
              <a:t>sequentially</a:t>
            </a:r>
          </a:p>
          <a:p>
            <a:pPr lvl="2"/>
            <a:r>
              <a:rPr lang="en-US" sz="1600" dirty="0"/>
              <a:t>array, vector, deque, </a:t>
            </a:r>
            <a:r>
              <a:rPr lang="en-US" sz="1600" dirty="0" err="1"/>
              <a:t>forward_list</a:t>
            </a:r>
            <a:r>
              <a:rPr lang="en-US" sz="1600" dirty="0"/>
              <a:t>, etc.</a:t>
            </a:r>
          </a:p>
          <a:p>
            <a:pPr lvl="1"/>
            <a:r>
              <a:rPr lang="en-US" sz="2000" dirty="0">
                <a:solidFill>
                  <a:srgbClr val="7030A0"/>
                </a:solidFill>
              </a:rPr>
              <a:t>Associative containers</a:t>
            </a:r>
            <a:r>
              <a:rPr lang="en-US" sz="2000" dirty="0"/>
              <a:t>: data can be </a:t>
            </a:r>
            <a:r>
              <a:rPr lang="en-US" sz="2000" dirty="0">
                <a:solidFill>
                  <a:srgbClr val="7030A0"/>
                </a:solidFill>
              </a:rPr>
              <a:t>quickly</a:t>
            </a:r>
            <a:r>
              <a:rPr lang="en-US" sz="2000" dirty="0"/>
              <a:t> searched</a:t>
            </a:r>
          </a:p>
          <a:p>
            <a:pPr lvl="2"/>
            <a:r>
              <a:rPr lang="en-US" sz="1600" dirty="0"/>
              <a:t>set, multiset, map, multimap, etc.</a:t>
            </a:r>
          </a:p>
          <a:p>
            <a:pPr lvl="1"/>
            <a:r>
              <a:rPr lang="en-US" sz="2000" dirty="0"/>
              <a:t>Others</a:t>
            </a:r>
          </a:p>
          <a:p>
            <a:r>
              <a:rPr lang="en-US" sz="2400" b="1" dirty="0"/>
              <a:t>Algorithms</a:t>
            </a:r>
          </a:p>
          <a:p>
            <a:pPr lvl="1"/>
            <a:r>
              <a:rPr lang="en-US" sz="2000" dirty="0"/>
              <a:t>Sort, search, etc.</a:t>
            </a:r>
          </a:p>
          <a:p>
            <a:r>
              <a:rPr lang="en-US" sz="2400" b="1" dirty="0"/>
              <a:t>Iterators</a:t>
            </a:r>
          </a:p>
          <a:p>
            <a:pPr lvl="1"/>
            <a:r>
              <a:rPr lang="en-US" sz="2000" dirty="0"/>
              <a:t>Each container has its own iterator</a:t>
            </a:r>
            <a:endParaRPr lang="en-HK" sz="2000" dirty="0"/>
          </a:p>
        </p:txBody>
      </p:sp>
    </p:spTree>
    <p:extLst>
      <p:ext uri="{BB962C8B-B14F-4D97-AF65-F5344CB8AC3E}">
        <p14:creationId xmlns:p14="http://schemas.microsoft.com/office/powerpoint/2010/main" val="1371846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1F5B2-624D-478A-A1ED-68C17CFC8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vector</a:t>
            </a:r>
            <a:endParaRPr lang="en-HK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1C7E4F-2F60-461E-9036-3BAD0F296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653ED2-267D-454B-B9E3-59503D7C3DE8}" type="slidenum">
              <a:rPr lang="zh-TW" altLang="en-US" smtClean="0"/>
              <a:pPr>
                <a:defRPr/>
              </a:pPr>
              <a:t>20</a:t>
            </a:fld>
            <a:endParaRPr lang="en-US" altLang="zh-TW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6D5DC9-DB37-4240-9961-F4818D8B15AB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HK" dirty="0"/>
              <a:t>Container: </a:t>
            </a:r>
            <a: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  <a:t>vector</a:t>
            </a:r>
          </a:p>
          <a:p>
            <a:r>
              <a:rPr lang="en-HK" dirty="0"/>
              <a:t>Algorithm: </a:t>
            </a:r>
            <a:r>
              <a:rPr lang="en-HK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for_each</a:t>
            </a:r>
            <a:r>
              <a:rPr lang="en-HK" dirty="0"/>
              <a:t> and </a:t>
            </a:r>
            <a: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  <a:t>sort</a:t>
            </a:r>
          </a:p>
          <a:p>
            <a:r>
              <a:rPr lang="en-HK" dirty="0"/>
              <a:t>Iterator: </a:t>
            </a:r>
            <a: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  <a:t>vector&lt;int&gt;::iterator</a:t>
            </a:r>
          </a:p>
          <a:p>
            <a:endParaRPr lang="en-HK" dirty="0"/>
          </a:p>
          <a:p>
            <a:r>
              <a:rPr lang="en-HK" dirty="0"/>
              <a:t>Each container has its </a:t>
            </a:r>
            <a:r>
              <a:rPr lang="en-HK" dirty="0">
                <a:solidFill>
                  <a:srgbClr val="C00000"/>
                </a:solidFill>
              </a:rPr>
              <a:t>own library</a:t>
            </a:r>
            <a:r>
              <a:rPr lang="en-HK" dirty="0"/>
              <a:t>, which should be included first, e.g., </a:t>
            </a:r>
            <a: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&lt;vector&gt;</a:t>
            </a:r>
          </a:p>
          <a:p>
            <a:endParaRPr lang="en-HK" dirty="0"/>
          </a:p>
          <a:p>
            <a:endParaRPr lang="en-HK" dirty="0"/>
          </a:p>
        </p:txBody>
      </p:sp>
    </p:spTree>
    <p:extLst>
      <p:ext uri="{BB962C8B-B14F-4D97-AF65-F5344CB8AC3E}">
        <p14:creationId xmlns:p14="http://schemas.microsoft.com/office/powerpoint/2010/main" val="3634069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87328-4F1F-336A-FED8-33732FF0E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vector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BCAE0FC-53F1-C996-21A2-CAB99FF99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653ED2-267D-454B-B9E3-59503D7C3DE8}" type="slidenum">
              <a:rPr lang="zh-TW" altLang="en-US" smtClean="0"/>
              <a:pPr>
                <a:defRPr/>
              </a:pPr>
              <a:t>21</a:t>
            </a:fld>
            <a:endParaRPr lang="en-US" altLang="zh-TW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EEA6B2-0001-E8F8-46F4-9E2EC5D502D3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Basic operations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2710E3B-D9EB-D604-D7D7-112CB2A9E8FC}"/>
              </a:ext>
            </a:extLst>
          </p:cNvPr>
          <p:cNvSpPr txBox="1"/>
          <p:nvPr/>
        </p:nvSpPr>
        <p:spPr>
          <a:xfrm>
            <a:off x="242552" y="2115799"/>
            <a:ext cx="457200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#include &lt;iostream&gt;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#include &lt;vector&gt;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using namespace std;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1000" dirty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void print1(vector&lt;int&gt; &amp;v);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void print2(vector&lt;int&gt; &amp;v);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1000" dirty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zh-CN" sz="1000" dirty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void f1()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	// declare a vector object v;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	// we must specify the data type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	vector&lt;int&gt; v; 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1000" dirty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	// add data to v using its member function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	// </a:t>
            </a:r>
            <a:r>
              <a:rPr lang="en-US" altLang="zh-CN" sz="1000" dirty="0" err="1">
                <a:latin typeface="Courier New" pitchFamily="49" charset="0"/>
              </a:rPr>
              <a:t>push_back</a:t>
            </a:r>
            <a:r>
              <a:rPr lang="en-US" altLang="zh-CN" sz="1000" dirty="0">
                <a:latin typeface="Courier New" pitchFamily="49" charset="0"/>
              </a:rPr>
              <a:t>(data)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	</a:t>
            </a:r>
            <a:r>
              <a:rPr lang="en-US" altLang="zh-CN" sz="1000" dirty="0" err="1">
                <a:latin typeface="Courier New" pitchFamily="49" charset="0"/>
              </a:rPr>
              <a:t>v.push_back</a:t>
            </a:r>
            <a:r>
              <a:rPr lang="en-US" altLang="zh-CN" sz="1000" dirty="0">
                <a:latin typeface="Courier New" pitchFamily="49" charset="0"/>
              </a:rPr>
              <a:t>(30);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	</a:t>
            </a:r>
            <a:r>
              <a:rPr lang="en-US" altLang="zh-CN" sz="1000" dirty="0" err="1">
                <a:latin typeface="Courier New" pitchFamily="49" charset="0"/>
              </a:rPr>
              <a:t>v.push_back</a:t>
            </a:r>
            <a:r>
              <a:rPr lang="en-US" altLang="zh-CN" sz="1000" dirty="0">
                <a:latin typeface="Courier New" pitchFamily="49" charset="0"/>
              </a:rPr>
              <a:t>(20);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	</a:t>
            </a:r>
            <a:r>
              <a:rPr lang="en-US" altLang="zh-CN" sz="1000" dirty="0" err="1">
                <a:latin typeface="Courier New" pitchFamily="49" charset="0"/>
              </a:rPr>
              <a:t>v.push_back</a:t>
            </a:r>
            <a:r>
              <a:rPr lang="en-US" altLang="zh-CN" sz="1000" dirty="0">
                <a:latin typeface="Courier New" pitchFamily="49" charset="0"/>
              </a:rPr>
              <a:t>(10);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	</a:t>
            </a:r>
            <a:r>
              <a:rPr lang="en-US" altLang="zh-CN" sz="1000" dirty="0" err="1">
                <a:latin typeface="Courier New" pitchFamily="49" charset="0"/>
              </a:rPr>
              <a:t>v.push_back</a:t>
            </a:r>
            <a:r>
              <a:rPr lang="en-US" altLang="zh-CN" sz="1000" dirty="0">
                <a:latin typeface="Courier New" pitchFamily="49" charset="0"/>
              </a:rPr>
              <a:t>(70);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	</a:t>
            </a:r>
            <a:r>
              <a:rPr lang="en-US" altLang="zh-CN" sz="1000" dirty="0" err="1">
                <a:latin typeface="Courier New" pitchFamily="49" charset="0"/>
              </a:rPr>
              <a:t>v.push_back</a:t>
            </a:r>
            <a:r>
              <a:rPr lang="en-US" altLang="zh-CN" sz="1000" dirty="0">
                <a:latin typeface="Courier New" pitchFamily="49" charset="0"/>
              </a:rPr>
              <a:t>(80);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	</a:t>
            </a:r>
            <a:r>
              <a:rPr lang="en-US" altLang="zh-CN" sz="1000" dirty="0" err="1">
                <a:latin typeface="Courier New" pitchFamily="49" charset="0"/>
              </a:rPr>
              <a:t>v.push_back</a:t>
            </a:r>
            <a:r>
              <a:rPr lang="en-US" altLang="zh-CN" sz="1000" dirty="0">
                <a:latin typeface="Courier New" pitchFamily="49" charset="0"/>
              </a:rPr>
              <a:t>(90);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1000" dirty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	print1(v);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	print2(v);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}</a:t>
            </a:r>
          </a:p>
        </p:txBody>
      </p:sp>
      <p:sp>
        <p:nvSpPr>
          <p:cNvPr id="6" name="文本框 4">
            <a:extLst>
              <a:ext uri="{FF2B5EF4-FFF2-40B4-BE49-F238E27FC236}">
                <a16:creationId xmlns:a16="http://schemas.microsoft.com/office/drawing/2014/main" id="{80E9EFCA-00DF-F7AD-DA68-604C7B3C7B3C}"/>
              </a:ext>
            </a:extLst>
          </p:cNvPr>
          <p:cNvSpPr txBox="1"/>
          <p:nvPr/>
        </p:nvSpPr>
        <p:spPr>
          <a:xfrm>
            <a:off x="4400282" y="1808022"/>
            <a:ext cx="45720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// use iterator to traverse vector v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void print1(vector&lt;int&gt; &amp;v)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	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	vector&lt;int&gt;::iterator </a:t>
            </a:r>
            <a:r>
              <a:rPr lang="en-US" altLang="zh-CN" sz="1000" dirty="0" err="1">
                <a:latin typeface="Courier New" pitchFamily="49" charset="0"/>
              </a:rPr>
              <a:t>itBeg</a:t>
            </a:r>
            <a:r>
              <a:rPr lang="en-US" altLang="zh-CN" sz="1000" dirty="0">
                <a:latin typeface="Courier New" pitchFamily="49" charset="0"/>
              </a:rPr>
              <a:t> = </a:t>
            </a:r>
            <a:r>
              <a:rPr lang="en-US" altLang="zh-CN" sz="1000" dirty="0" err="1">
                <a:latin typeface="Courier New" pitchFamily="49" charset="0"/>
              </a:rPr>
              <a:t>v.begin</a:t>
            </a:r>
            <a:r>
              <a:rPr lang="en-US" altLang="zh-CN" sz="1000" dirty="0">
                <a:latin typeface="Courier New" pitchFamily="49" charset="0"/>
              </a:rPr>
              <a:t>();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	vector&lt;int&gt;::iterator </a:t>
            </a:r>
            <a:r>
              <a:rPr lang="en-US" altLang="zh-CN" sz="1000" dirty="0" err="1">
                <a:latin typeface="Courier New" pitchFamily="49" charset="0"/>
              </a:rPr>
              <a:t>itEnd</a:t>
            </a:r>
            <a:r>
              <a:rPr lang="en-US" altLang="zh-CN" sz="1000" dirty="0">
                <a:latin typeface="Courier New" pitchFamily="49" charset="0"/>
              </a:rPr>
              <a:t> = </a:t>
            </a:r>
            <a:r>
              <a:rPr lang="en-US" altLang="zh-CN" sz="1000" dirty="0" err="1">
                <a:latin typeface="Courier New" pitchFamily="49" charset="0"/>
              </a:rPr>
              <a:t>v.end</a:t>
            </a:r>
            <a:r>
              <a:rPr lang="en-US" altLang="zh-CN" sz="1000" dirty="0">
                <a:latin typeface="Courier New" pitchFamily="49" charset="0"/>
              </a:rPr>
              <a:t>();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1000" dirty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	while(</a:t>
            </a:r>
            <a:r>
              <a:rPr lang="en-US" altLang="zh-CN" sz="1000" dirty="0" err="1">
                <a:latin typeface="Courier New" pitchFamily="49" charset="0"/>
              </a:rPr>
              <a:t>itBeg</a:t>
            </a:r>
            <a:r>
              <a:rPr lang="en-US" altLang="zh-CN" sz="1000" dirty="0">
                <a:latin typeface="Courier New" pitchFamily="49" charset="0"/>
              </a:rPr>
              <a:t> != </a:t>
            </a:r>
            <a:r>
              <a:rPr lang="en-US" altLang="zh-CN" sz="1000" dirty="0" err="1">
                <a:latin typeface="Courier New" pitchFamily="49" charset="0"/>
              </a:rPr>
              <a:t>itEnd</a:t>
            </a:r>
            <a:r>
              <a:rPr lang="en-US" altLang="zh-CN" sz="1000" dirty="0">
                <a:latin typeface="Courier New" pitchFamily="49" charset="0"/>
              </a:rPr>
              <a:t>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		</a:t>
            </a:r>
            <a:r>
              <a:rPr lang="en-US" altLang="zh-CN" sz="1000" dirty="0" err="1">
                <a:latin typeface="Courier New" pitchFamily="49" charset="0"/>
              </a:rPr>
              <a:t>cout</a:t>
            </a:r>
            <a:r>
              <a:rPr lang="en-US" altLang="zh-CN" sz="1000" dirty="0">
                <a:latin typeface="Courier New" pitchFamily="49" charset="0"/>
              </a:rPr>
              <a:t> &lt;&lt; *(</a:t>
            </a:r>
            <a:r>
              <a:rPr lang="en-US" altLang="zh-CN" sz="1000" dirty="0" err="1">
                <a:latin typeface="Courier New" pitchFamily="49" charset="0"/>
              </a:rPr>
              <a:t>itBeg</a:t>
            </a:r>
            <a:r>
              <a:rPr lang="en-US" altLang="zh-CN" sz="1000" dirty="0">
                <a:latin typeface="Courier New" pitchFamily="49" charset="0"/>
              </a:rPr>
              <a:t>++) &lt;&lt; " ";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	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	</a:t>
            </a:r>
            <a:r>
              <a:rPr lang="en-US" altLang="zh-CN" sz="1000" dirty="0" err="1">
                <a:latin typeface="Courier New" pitchFamily="49" charset="0"/>
              </a:rPr>
              <a:t>cout</a:t>
            </a:r>
            <a:r>
              <a:rPr lang="en-US" altLang="zh-CN" sz="1000" dirty="0">
                <a:latin typeface="Courier New" pitchFamily="49" charset="0"/>
              </a:rPr>
              <a:t> &lt;&lt; </a:t>
            </a:r>
            <a:r>
              <a:rPr lang="en-US" altLang="zh-CN" sz="1000" dirty="0" err="1">
                <a:latin typeface="Courier New" pitchFamily="49" charset="0"/>
              </a:rPr>
              <a:t>endl</a:t>
            </a:r>
            <a:r>
              <a:rPr lang="en-US" altLang="zh-CN" sz="1000" dirty="0">
                <a:latin typeface="Courier New" pitchFamily="49" charset="0"/>
              </a:rPr>
              <a:t>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}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1000" dirty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// another way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void print2(vector&lt;int&gt; &amp;v)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	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	vector&lt;int&gt;::iterator it;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	for (it = </a:t>
            </a:r>
            <a:r>
              <a:rPr lang="en-US" altLang="zh-CN" sz="1000" dirty="0" err="1">
                <a:latin typeface="Courier New" pitchFamily="49" charset="0"/>
              </a:rPr>
              <a:t>v.begin</a:t>
            </a:r>
            <a:r>
              <a:rPr lang="en-US" altLang="zh-CN" sz="1000" dirty="0">
                <a:latin typeface="Courier New" pitchFamily="49" charset="0"/>
              </a:rPr>
              <a:t>(); it != </a:t>
            </a:r>
            <a:r>
              <a:rPr lang="en-US" altLang="zh-CN" sz="1000" dirty="0" err="1">
                <a:latin typeface="Courier New" pitchFamily="49" charset="0"/>
              </a:rPr>
              <a:t>v.end</a:t>
            </a:r>
            <a:r>
              <a:rPr lang="en-US" altLang="zh-CN" sz="1000" dirty="0">
                <a:latin typeface="Courier New" pitchFamily="49" charset="0"/>
              </a:rPr>
              <a:t>(); ++it)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		</a:t>
            </a:r>
            <a:r>
              <a:rPr lang="en-US" altLang="zh-CN" sz="1000" dirty="0" err="1">
                <a:latin typeface="Courier New" pitchFamily="49" charset="0"/>
              </a:rPr>
              <a:t>cout</a:t>
            </a:r>
            <a:r>
              <a:rPr lang="en-US" altLang="zh-CN" sz="1000" dirty="0">
                <a:latin typeface="Courier New" pitchFamily="49" charset="0"/>
              </a:rPr>
              <a:t> &lt;&lt; *it &lt;&lt; " ";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	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	</a:t>
            </a:r>
            <a:r>
              <a:rPr lang="en-US" altLang="zh-CN" sz="1000" dirty="0" err="1">
                <a:latin typeface="Courier New" pitchFamily="49" charset="0"/>
              </a:rPr>
              <a:t>cout</a:t>
            </a:r>
            <a:r>
              <a:rPr lang="en-US" altLang="zh-CN" sz="1000" dirty="0">
                <a:latin typeface="Courier New" pitchFamily="49" charset="0"/>
              </a:rPr>
              <a:t> &lt;&lt; </a:t>
            </a:r>
            <a:r>
              <a:rPr lang="en-US" altLang="zh-CN" sz="1000" dirty="0" err="1">
                <a:latin typeface="Courier New" pitchFamily="49" charset="0"/>
              </a:rPr>
              <a:t>endl</a:t>
            </a:r>
            <a:r>
              <a:rPr lang="en-US" altLang="zh-CN" sz="1000" dirty="0">
                <a:latin typeface="Courier New" pitchFamily="49" charset="0"/>
              </a:rPr>
              <a:t>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}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1000" dirty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zh-CN" sz="1000" dirty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int main()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	f1();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	return 0;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A80F91-C18D-C523-E685-9C56337ABBB3}"/>
              </a:ext>
            </a:extLst>
          </p:cNvPr>
          <p:cNvSpPr txBox="1"/>
          <p:nvPr/>
        </p:nvSpPr>
        <p:spPr>
          <a:xfrm>
            <a:off x="830382" y="6535579"/>
            <a:ext cx="191270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Code: lec11-12-vector.cpp</a:t>
            </a:r>
          </a:p>
        </p:txBody>
      </p:sp>
    </p:spTree>
    <p:extLst>
      <p:ext uri="{BB962C8B-B14F-4D97-AF65-F5344CB8AC3E}">
        <p14:creationId xmlns:p14="http://schemas.microsoft.com/office/powerpoint/2010/main" val="1368410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CECA5-A7F9-6393-1DC4-E3BE72438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vector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6780D2-CE4D-4451-3E2C-683773EB6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653ED2-267D-454B-B9E3-59503D7C3DE8}" type="slidenum">
              <a:rPr lang="zh-TW" altLang="en-US" smtClean="0"/>
              <a:pPr>
                <a:defRPr/>
              </a:pPr>
              <a:t>22</a:t>
            </a:fld>
            <a:endParaRPr lang="en-US" altLang="zh-TW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4C2A3D-E9CA-6CDA-7F83-88000055F9B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User-defined data types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AAACFD1-0C40-8596-AF94-9D4B85EAD77D}"/>
              </a:ext>
            </a:extLst>
          </p:cNvPr>
          <p:cNvSpPr txBox="1"/>
          <p:nvPr/>
        </p:nvSpPr>
        <p:spPr>
          <a:xfrm>
            <a:off x="768976" y="2043437"/>
            <a:ext cx="6691648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#include &lt;iostream&gt;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#include &lt;vector&gt;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#include &lt;string&gt;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using namespace std;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1000" dirty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class Student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  public: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	Student(string n, int a): name(n), age(a) {}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	string name;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	int age;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};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1000" dirty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void print(vector&lt;Student&gt; &amp;v);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void f()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  vector&lt;Student&gt; v; 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1000" dirty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  Student s1("Alice", 18);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  Student s2("Bob", 19);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  Student s3("Tom", 20);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  Student s4("John", 18);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  Student s5("David", 19);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1000" dirty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  </a:t>
            </a:r>
            <a:r>
              <a:rPr lang="en-US" altLang="zh-CN" sz="1000" dirty="0" err="1">
                <a:latin typeface="Courier New" pitchFamily="49" charset="0"/>
              </a:rPr>
              <a:t>v.push_back</a:t>
            </a:r>
            <a:r>
              <a:rPr lang="en-US" altLang="zh-CN" sz="1000" dirty="0">
                <a:latin typeface="Courier New" pitchFamily="49" charset="0"/>
              </a:rPr>
              <a:t>(s1);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  </a:t>
            </a:r>
            <a:r>
              <a:rPr lang="en-US" altLang="zh-CN" sz="1000" dirty="0" err="1">
                <a:latin typeface="Courier New" pitchFamily="49" charset="0"/>
              </a:rPr>
              <a:t>v.push_back</a:t>
            </a:r>
            <a:r>
              <a:rPr lang="en-US" altLang="zh-CN" sz="1000" dirty="0">
                <a:latin typeface="Courier New" pitchFamily="49" charset="0"/>
              </a:rPr>
              <a:t>(s2);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  </a:t>
            </a:r>
            <a:r>
              <a:rPr lang="en-US" altLang="zh-CN" sz="1000" dirty="0" err="1">
                <a:latin typeface="Courier New" pitchFamily="49" charset="0"/>
              </a:rPr>
              <a:t>v.push_back</a:t>
            </a:r>
            <a:r>
              <a:rPr lang="en-US" altLang="zh-CN" sz="1000" dirty="0">
                <a:latin typeface="Courier New" pitchFamily="49" charset="0"/>
              </a:rPr>
              <a:t>(s3);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  </a:t>
            </a:r>
            <a:r>
              <a:rPr lang="en-US" altLang="zh-CN" sz="1000" dirty="0" err="1">
                <a:latin typeface="Courier New" pitchFamily="49" charset="0"/>
              </a:rPr>
              <a:t>v.push_back</a:t>
            </a:r>
            <a:r>
              <a:rPr lang="en-US" altLang="zh-CN" sz="1000" dirty="0">
                <a:latin typeface="Courier New" pitchFamily="49" charset="0"/>
              </a:rPr>
              <a:t>(s4);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  </a:t>
            </a:r>
            <a:r>
              <a:rPr lang="en-US" altLang="zh-CN" sz="1000" dirty="0" err="1">
                <a:latin typeface="Courier New" pitchFamily="49" charset="0"/>
              </a:rPr>
              <a:t>v.push_back</a:t>
            </a:r>
            <a:r>
              <a:rPr lang="en-US" altLang="zh-CN" sz="1000" dirty="0">
                <a:latin typeface="Courier New" pitchFamily="49" charset="0"/>
              </a:rPr>
              <a:t>(s5);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1000" dirty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  print(v);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}</a:t>
            </a:r>
          </a:p>
        </p:txBody>
      </p:sp>
      <p:sp>
        <p:nvSpPr>
          <p:cNvPr id="6" name="文本框 4">
            <a:extLst>
              <a:ext uri="{FF2B5EF4-FFF2-40B4-BE49-F238E27FC236}">
                <a16:creationId xmlns:a16="http://schemas.microsoft.com/office/drawing/2014/main" id="{2A96F7B9-8B92-E82D-3D46-60D21804BBBA}"/>
              </a:ext>
            </a:extLst>
          </p:cNvPr>
          <p:cNvSpPr txBox="1"/>
          <p:nvPr/>
        </p:nvSpPr>
        <p:spPr>
          <a:xfrm>
            <a:off x="4162023" y="4117419"/>
            <a:ext cx="4775035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void print(vector&lt;Student&gt; &amp;v)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	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  vector&lt;Student&gt;::iterator it;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  for (it = </a:t>
            </a:r>
            <a:r>
              <a:rPr lang="en-US" altLang="zh-CN" sz="1000" dirty="0" err="1">
                <a:latin typeface="Courier New" pitchFamily="49" charset="0"/>
              </a:rPr>
              <a:t>v.begin</a:t>
            </a:r>
            <a:r>
              <a:rPr lang="en-US" altLang="zh-CN" sz="1000" dirty="0">
                <a:latin typeface="Courier New" pitchFamily="49" charset="0"/>
              </a:rPr>
              <a:t>(); it != </a:t>
            </a:r>
            <a:r>
              <a:rPr lang="en-US" altLang="zh-CN" sz="1000" dirty="0" err="1">
                <a:latin typeface="Courier New" pitchFamily="49" charset="0"/>
              </a:rPr>
              <a:t>v.end</a:t>
            </a:r>
            <a:r>
              <a:rPr lang="en-US" altLang="zh-CN" sz="1000" dirty="0">
                <a:latin typeface="Courier New" pitchFamily="49" charset="0"/>
              </a:rPr>
              <a:t>(); ++it)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	</a:t>
            </a:r>
            <a:r>
              <a:rPr lang="en-US" altLang="zh-CN" sz="1000" dirty="0" err="1">
                <a:latin typeface="Courier New" pitchFamily="49" charset="0"/>
              </a:rPr>
              <a:t>cout</a:t>
            </a:r>
            <a:r>
              <a:rPr lang="en-US" altLang="zh-CN" sz="1000" dirty="0">
                <a:latin typeface="Courier New" pitchFamily="49" charset="0"/>
              </a:rPr>
              <a:t> &lt;&lt; (*it).name &lt;&lt; " " &lt;&lt; it-&gt;age &lt;&lt; </a:t>
            </a:r>
            <a:r>
              <a:rPr lang="en-US" altLang="zh-CN" sz="1000" dirty="0" err="1">
                <a:latin typeface="Courier New" pitchFamily="49" charset="0"/>
              </a:rPr>
              <a:t>endl</a:t>
            </a:r>
            <a:r>
              <a:rPr lang="en-US" altLang="zh-CN" sz="1000" dirty="0">
                <a:latin typeface="Courier New" pitchFamily="49" charset="0"/>
              </a:rPr>
              <a:t>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  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}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1000" dirty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zh-CN" sz="1000" dirty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int main()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  f();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  return 0;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F31193-298C-30B3-10D1-A5AC303A8B0D}"/>
              </a:ext>
            </a:extLst>
          </p:cNvPr>
          <p:cNvSpPr txBox="1"/>
          <p:nvPr/>
        </p:nvSpPr>
        <p:spPr>
          <a:xfrm>
            <a:off x="982897" y="6535579"/>
            <a:ext cx="182293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Code: lec11-13-class.cpp</a:t>
            </a:r>
          </a:p>
        </p:txBody>
      </p:sp>
    </p:spTree>
    <p:extLst>
      <p:ext uri="{BB962C8B-B14F-4D97-AF65-F5344CB8AC3E}">
        <p14:creationId xmlns:p14="http://schemas.microsoft.com/office/powerpoint/2010/main" val="3060295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12D3C-99B7-F39D-616F-AB1D84742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vector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B6B5CFF-AD7B-75E5-6673-186FB894F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653ED2-267D-454B-B9E3-59503D7C3DE8}" type="slidenum">
              <a:rPr lang="zh-TW" altLang="en-US" smtClean="0"/>
              <a:pPr>
                <a:defRPr/>
              </a:pPr>
              <a:t>23</a:t>
            </a:fld>
            <a:endParaRPr lang="en-US" altLang="zh-TW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55726E-E613-51F8-C179-C8A24FFBC8C2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Algorithm (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&lt;algorithm&gt;</a:t>
            </a:r>
            <a:r>
              <a:rPr lang="en-US" dirty="0"/>
              <a:t>)</a:t>
            </a:r>
          </a:p>
          <a:p>
            <a:pPr lvl="1"/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for_each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(iterator b, iterator e, _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func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6ED40E1-21F4-2A62-D695-B116A81DE34F}"/>
              </a:ext>
            </a:extLst>
          </p:cNvPr>
          <p:cNvSpPr txBox="1"/>
          <p:nvPr/>
        </p:nvSpPr>
        <p:spPr>
          <a:xfrm>
            <a:off x="603504" y="2537045"/>
            <a:ext cx="434949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#include &lt;iostream&gt;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#include &lt;vector&gt;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#include &lt;algorithm&gt;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using namespace std;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1000" dirty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zh-CN" sz="1000" dirty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void </a:t>
            </a:r>
            <a:r>
              <a:rPr lang="en-US" altLang="zh-CN" sz="1000" dirty="0" err="1">
                <a:latin typeface="Courier New" pitchFamily="49" charset="0"/>
              </a:rPr>
              <a:t>myPrint</a:t>
            </a:r>
            <a:r>
              <a:rPr lang="en-US" altLang="zh-CN" sz="1000" dirty="0">
                <a:latin typeface="Courier New" pitchFamily="49" charset="0"/>
              </a:rPr>
              <a:t>(int &amp;</a:t>
            </a:r>
            <a:r>
              <a:rPr lang="en-US" altLang="zh-CN" sz="1000" dirty="0" err="1">
                <a:latin typeface="Courier New" pitchFamily="49" charset="0"/>
              </a:rPr>
              <a:t>val</a:t>
            </a:r>
            <a:r>
              <a:rPr lang="en-US" altLang="zh-CN" sz="1000" dirty="0">
                <a:latin typeface="Courier New" pitchFamily="49" charset="0"/>
              </a:rPr>
              <a:t>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	</a:t>
            </a:r>
            <a:r>
              <a:rPr lang="en-US" altLang="zh-CN" sz="1000" dirty="0" err="1">
                <a:latin typeface="Courier New" pitchFamily="49" charset="0"/>
              </a:rPr>
              <a:t>cout</a:t>
            </a:r>
            <a:r>
              <a:rPr lang="en-US" altLang="zh-CN" sz="1000" dirty="0">
                <a:latin typeface="Courier New" pitchFamily="49" charset="0"/>
              </a:rPr>
              <a:t> &lt;&lt; </a:t>
            </a:r>
            <a:r>
              <a:rPr lang="en-US" altLang="zh-CN" sz="1000" dirty="0" err="1">
                <a:latin typeface="Courier New" pitchFamily="49" charset="0"/>
              </a:rPr>
              <a:t>val</a:t>
            </a:r>
            <a:r>
              <a:rPr lang="en-US" altLang="zh-CN" sz="1000" dirty="0">
                <a:latin typeface="Courier New" pitchFamily="49" charset="0"/>
              </a:rPr>
              <a:t> &lt;&lt; " ";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}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1000" dirty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void f1(vector&lt;int&gt; &amp;v) {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1000" dirty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	</a:t>
            </a:r>
            <a:r>
              <a:rPr lang="en-US" altLang="zh-CN" sz="1000" dirty="0" err="1">
                <a:latin typeface="Courier New" pitchFamily="49" charset="0"/>
              </a:rPr>
              <a:t>for_each</a:t>
            </a:r>
            <a:r>
              <a:rPr lang="en-US" altLang="zh-CN" sz="1000" dirty="0">
                <a:latin typeface="Courier New" pitchFamily="49" charset="0"/>
              </a:rPr>
              <a:t>(</a:t>
            </a:r>
            <a:r>
              <a:rPr lang="en-US" altLang="zh-CN" sz="1000" dirty="0" err="1">
                <a:latin typeface="Courier New" pitchFamily="49" charset="0"/>
              </a:rPr>
              <a:t>v.begin</a:t>
            </a:r>
            <a:r>
              <a:rPr lang="en-US" altLang="zh-CN" sz="1000" dirty="0">
                <a:latin typeface="Courier New" pitchFamily="49" charset="0"/>
              </a:rPr>
              <a:t>(), </a:t>
            </a:r>
            <a:r>
              <a:rPr lang="en-US" altLang="zh-CN" sz="1000" dirty="0" err="1">
                <a:latin typeface="Courier New" pitchFamily="49" charset="0"/>
              </a:rPr>
              <a:t>v.end</a:t>
            </a:r>
            <a:r>
              <a:rPr lang="en-US" altLang="zh-CN" sz="1000" dirty="0">
                <a:latin typeface="Courier New" pitchFamily="49" charset="0"/>
              </a:rPr>
              <a:t>(), </a:t>
            </a:r>
            <a:r>
              <a:rPr lang="en-US" altLang="zh-CN" sz="1000" dirty="0" err="1">
                <a:latin typeface="Courier New" pitchFamily="49" charset="0"/>
              </a:rPr>
              <a:t>myPrint</a:t>
            </a:r>
            <a:r>
              <a:rPr lang="en-US" altLang="zh-CN" sz="1000" dirty="0">
                <a:latin typeface="Courier New" pitchFamily="49" charset="0"/>
              </a:rPr>
              <a:t>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	</a:t>
            </a:r>
            <a:r>
              <a:rPr lang="en-US" altLang="zh-CN" sz="1000" dirty="0" err="1">
                <a:latin typeface="Courier New" pitchFamily="49" charset="0"/>
              </a:rPr>
              <a:t>cout</a:t>
            </a:r>
            <a:r>
              <a:rPr lang="en-US" altLang="zh-CN" sz="1000" dirty="0">
                <a:latin typeface="Courier New" pitchFamily="49" charset="0"/>
              </a:rPr>
              <a:t> &lt;&lt; </a:t>
            </a:r>
            <a:r>
              <a:rPr lang="en-US" altLang="zh-CN" sz="1000" dirty="0" err="1">
                <a:latin typeface="Courier New" pitchFamily="49" charset="0"/>
              </a:rPr>
              <a:t>endl</a:t>
            </a:r>
            <a:r>
              <a:rPr lang="en-US" altLang="zh-CN" sz="1000" dirty="0">
                <a:latin typeface="Courier New" pitchFamily="49" charset="0"/>
              </a:rPr>
              <a:t>;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1000" dirty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}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1000" dirty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zh-CN" sz="1000" dirty="0">
              <a:latin typeface="Courier New" pitchFamily="49" charset="0"/>
            </a:endParaRPr>
          </a:p>
        </p:txBody>
      </p:sp>
      <p:sp>
        <p:nvSpPr>
          <p:cNvPr id="6" name="文本框 4">
            <a:extLst>
              <a:ext uri="{FF2B5EF4-FFF2-40B4-BE49-F238E27FC236}">
                <a16:creationId xmlns:a16="http://schemas.microsoft.com/office/drawing/2014/main" id="{F74FB3A7-3707-4CB7-5E98-ACC653E016AC}"/>
              </a:ext>
            </a:extLst>
          </p:cNvPr>
          <p:cNvSpPr txBox="1"/>
          <p:nvPr/>
        </p:nvSpPr>
        <p:spPr>
          <a:xfrm>
            <a:off x="4657859" y="2535972"/>
            <a:ext cx="4349496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void </a:t>
            </a:r>
            <a:r>
              <a:rPr lang="en-US" altLang="zh-CN" sz="1000" dirty="0" err="1">
                <a:latin typeface="Courier New" pitchFamily="49" charset="0"/>
              </a:rPr>
              <a:t>myOpt</a:t>
            </a:r>
            <a:r>
              <a:rPr lang="en-US" altLang="zh-CN" sz="1000" dirty="0">
                <a:latin typeface="Courier New" pitchFamily="49" charset="0"/>
              </a:rPr>
              <a:t>(int &amp;</a:t>
            </a:r>
            <a:r>
              <a:rPr lang="en-US" altLang="zh-CN" sz="1000" dirty="0" err="1">
                <a:latin typeface="Courier New" pitchFamily="49" charset="0"/>
              </a:rPr>
              <a:t>val</a:t>
            </a:r>
            <a:r>
              <a:rPr lang="en-US" altLang="zh-CN" sz="1000" dirty="0">
                <a:latin typeface="Courier New" pitchFamily="49" charset="0"/>
              </a:rPr>
              <a:t>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	</a:t>
            </a:r>
            <a:r>
              <a:rPr lang="en-US" altLang="zh-CN" sz="1000" dirty="0" err="1">
                <a:latin typeface="Courier New" pitchFamily="49" charset="0"/>
              </a:rPr>
              <a:t>val</a:t>
            </a:r>
            <a:r>
              <a:rPr lang="en-US" altLang="zh-CN" sz="1000" dirty="0">
                <a:latin typeface="Courier New" pitchFamily="49" charset="0"/>
              </a:rPr>
              <a:t> = -1 * </a:t>
            </a:r>
            <a:r>
              <a:rPr lang="en-US" altLang="zh-CN" sz="1000" dirty="0" err="1">
                <a:latin typeface="Courier New" pitchFamily="49" charset="0"/>
              </a:rPr>
              <a:t>val</a:t>
            </a:r>
            <a:r>
              <a:rPr lang="en-US" altLang="zh-CN" sz="1000" dirty="0">
                <a:latin typeface="Courier New" pitchFamily="49" charset="0"/>
              </a:rPr>
              <a:t>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}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1000" dirty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void f2(vector&lt;int&gt; &amp;v)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	</a:t>
            </a:r>
            <a:r>
              <a:rPr lang="en-US" altLang="zh-CN" sz="1000" dirty="0" err="1">
                <a:latin typeface="Courier New" pitchFamily="49" charset="0"/>
              </a:rPr>
              <a:t>for_each</a:t>
            </a:r>
            <a:r>
              <a:rPr lang="en-US" altLang="zh-CN" sz="1000" dirty="0">
                <a:latin typeface="Courier New" pitchFamily="49" charset="0"/>
              </a:rPr>
              <a:t>(</a:t>
            </a:r>
            <a:r>
              <a:rPr lang="en-US" altLang="zh-CN" sz="1000" dirty="0" err="1">
                <a:latin typeface="Courier New" pitchFamily="49" charset="0"/>
              </a:rPr>
              <a:t>v.begin</a:t>
            </a:r>
            <a:r>
              <a:rPr lang="en-US" altLang="zh-CN" sz="1000" dirty="0">
                <a:latin typeface="Courier New" pitchFamily="49" charset="0"/>
              </a:rPr>
              <a:t>(), </a:t>
            </a:r>
            <a:r>
              <a:rPr lang="en-US" altLang="zh-CN" sz="1000" dirty="0" err="1">
                <a:latin typeface="Courier New" pitchFamily="49" charset="0"/>
              </a:rPr>
              <a:t>v.end</a:t>
            </a:r>
            <a:r>
              <a:rPr lang="en-US" altLang="zh-CN" sz="1000" dirty="0">
                <a:latin typeface="Courier New" pitchFamily="49" charset="0"/>
              </a:rPr>
              <a:t>(), </a:t>
            </a:r>
            <a:r>
              <a:rPr lang="en-US" altLang="zh-CN" sz="1000" dirty="0" err="1">
                <a:latin typeface="Courier New" pitchFamily="49" charset="0"/>
              </a:rPr>
              <a:t>myOpt</a:t>
            </a:r>
            <a:r>
              <a:rPr lang="en-US" altLang="zh-CN" sz="1000" dirty="0">
                <a:latin typeface="Courier New" pitchFamily="49" charset="0"/>
              </a:rPr>
              <a:t>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	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	</a:t>
            </a:r>
            <a:r>
              <a:rPr lang="en-US" altLang="zh-CN" sz="1000" dirty="0" err="1">
                <a:latin typeface="Courier New" pitchFamily="49" charset="0"/>
              </a:rPr>
              <a:t>for_each</a:t>
            </a:r>
            <a:r>
              <a:rPr lang="en-US" altLang="zh-CN" sz="1000" dirty="0">
                <a:latin typeface="Courier New" pitchFamily="49" charset="0"/>
              </a:rPr>
              <a:t>(</a:t>
            </a:r>
            <a:r>
              <a:rPr lang="en-US" altLang="zh-CN" sz="1000" dirty="0" err="1">
                <a:latin typeface="Courier New" pitchFamily="49" charset="0"/>
              </a:rPr>
              <a:t>v.begin</a:t>
            </a:r>
            <a:r>
              <a:rPr lang="en-US" altLang="zh-CN" sz="1000" dirty="0">
                <a:latin typeface="Courier New" pitchFamily="49" charset="0"/>
              </a:rPr>
              <a:t>(), </a:t>
            </a:r>
            <a:r>
              <a:rPr lang="en-US" altLang="zh-CN" sz="1000" dirty="0" err="1">
                <a:latin typeface="Courier New" pitchFamily="49" charset="0"/>
              </a:rPr>
              <a:t>v.end</a:t>
            </a:r>
            <a:r>
              <a:rPr lang="en-US" altLang="zh-CN" sz="1000" dirty="0">
                <a:latin typeface="Courier New" pitchFamily="49" charset="0"/>
              </a:rPr>
              <a:t>(), </a:t>
            </a:r>
            <a:r>
              <a:rPr lang="en-US" altLang="zh-CN" sz="1000" dirty="0" err="1">
                <a:latin typeface="Courier New" pitchFamily="49" charset="0"/>
              </a:rPr>
              <a:t>myPrint</a:t>
            </a:r>
            <a:r>
              <a:rPr lang="en-US" altLang="zh-CN" sz="1000" dirty="0">
                <a:latin typeface="Courier New" pitchFamily="49" charset="0"/>
              </a:rPr>
              <a:t>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	</a:t>
            </a:r>
            <a:r>
              <a:rPr lang="en-US" altLang="zh-CN" sz="1000" dirty="0" err="1">
                <a:latin typeface="Courier New" pitchFamily="49" charset="0"/>
              </a:rPr>
              <a:t>cout</a:t>
            </a:r>
            <a:r>
              <a:rPr lang="en-US" altLang="zh-CN" sz="1000" dirty="0">
                <a:latin typeface="Courier New" pitchFamily="49" charset="0"/>
              </a:rPr>
              <a:t> &lt;&lt; </a:t>
            </a:r>
            <a:r>
              <a:rPr lang="en-US" altLang="zh-CN" sz="1000" dirty="0" err="1">
                <a:latin typeface="Courier New" pitchFamily="49" charset="0"/>
              </a:rPr>
              <a:t>endl</a:t>
            </a:r>
            <a:r>
              <a:rPr lang="en-US" altLang="zh-CN" sz="1000" dirty="0">
                <a:latin typeface="Courier New" pitchFamily="49" charset="0"/>
              </a:rPr>
              <a:t>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}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1000" dirty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int main() {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1000" dirty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	vector&lt;int&gt; v; 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1000" dirty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	</a:t>
            </a:r>
            <a:r>
              <a:rPr lang="en-US" altLang="zh-CN" sz="1000" dirty="0" err="1">
                <a:latin typeface="Courier New" pitchFamily="49" charset="0"/>
              </a:rPr>
              <a:t>v.push_back</a:t>
            </a:r>
            <a:r>
              <a:rPr lang="en-US" altLang="zh-CN" sz="1000" dirty="0">
                <a:latin typeface="Courier New" pitchFamily="49" charset="0"/>
              </a:rPr>
              <a:t>(30);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	</a:t>
            </a:r>
            <a:r>
              <a:rPr lang="en-US" altLang="zh-CN" sz="1000" dirty="0" err="1">
                <a:latin typeface="Courier New" pitchFamily="49" charset="0"/>
              </a:rPr>
              <a:t>v.push_back</a:t>
            </a:r>
            <a:r>
              <a:rPr lang="en-US" altLang="zh-CN" sz="1000" dirty="0">
                <a:latin typeface="Courier New" pitchFamily="49" charset="0"/>
              </a:rPr>
              <a:t>(20);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	</a:t>
            </a:r>
            <a:r>
              <a:rPr lang="en-US" altLang="zh-CN" sz="1000" dirty="0" err="1">
                <a:latin typeface="Courier New" pitchFamily="49" charset="0"/>
              </a:rPr>
              <a:t>v.push_back</a:t>
            </a:r>
            <a:r>
              <a:rPr lang="en-US" altLang="zh-CN" sz="1000" dirty="0">
                <a:latin typeface="Courier New" pitchFamily="49" charset="0"/>
              </a:rPr>
              <a:t>(10);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	</a:t>
            </a:r>
            <a:r>
              <a:rPr lang="en-US" altLang="zh-CN" sz="1000" dirty="0" err="1">
                <a:latin typeface="Courier New" pitchFamily="49" charset="0"/>
              </a:rPr>
              <a:t>v.push_back</a:t>
            </a:r>
            <a:r>
              <a:rPr lang="en-US" altLang="zh-CN" sz="1000" dirty="0">
                <a:latin typeface="Courier New" pitchFamily="49" charset="0"/>
              </a:rPr>
              <a:t>(70);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	</a:t>
            </a:r>
            <a:r>
              <a:rPr lang="en-US" altLang="zh-CN" sz="1000" dirty="0" err="1">
                <a:latin typeface="Courier New" pitchFamily="49" charset="0"/>
              </a:rPr>
              <a:t>v.push_back</a:t>
            </a:r>
            <a:r>
              <a:rPr lang="en-US" altLang="zh-CN" sz="1000" dirty="0">
                <a:latin typeface="Courier New" pitchFamily="49" charset="0"/>
              </a:rPr>
              <a:t>(80);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	</a:t>
            </a:r>
            <a:r>
              <a:rPr lang="en-US" altLang="zh-CN" sz="1000" dirty="0" err="1">
                <a:latin typeface="Courier New" pitchFamily="49" charset="0"/>
              </a:rPr>
              <a:t>v.push_back</a:t>
            </a:r>
            <a:r>
              <a:rPr lang="en-US" altLang="zh-CN" sz="1000" dirty="0">
                <a:latin typeface="Courier New" pitchFamily="49" charset="0"/>
              </a:rPr>
              <a:t>(90);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1000" dirty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	f2(v);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1000" dirty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	return 0;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7B20F8-A71B-8D36-A2A5-B87374F7481F}"/>
              </a:ext>
            </a:extLst>
          </p:cNvPr>
          <p:cNvSpPr txBox="1"/>
          <p:nvPr/>
        </p:nvSpPr>
        <p:spPr>
          <a:xfrm>
            <a:off x="982897" y="6535579"/>
            <a:ext cx="198964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Code: lec11-14-foreach.cpp</a:t>
            </a:r>
          </a:p>
        </p:txBody>
      </p:sp>
    </p:spTree>
    <p:extLst>
      <p:ext uri="{BB962C8B-B14F-4D97-AF65-F5344CB8AC3E}">
        <p14:creationId xmlns:p14="http://schemas.microsoft.com/office/powerpoint/2010/main" val="566913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7A39F-EF74-6504-DCEE-7F5A60E0B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vector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C13711-0A33-C423-0AC4-387C918B6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653ED2-267D-454B-B9E3-59503D7C3DE8}" type="slidenum">
              <a:rPr lang="zh-TW" altLang="en-US" smtClean="0"/>
              <a:pPr>
                <a:defRPr/>
              </a:pPr>
              <a:t>24</a:t>
            </a:fld>
            <a:endParaRPr lang="en-US" altLang="zh-TW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720341-5166-7561-1B72-541A8D0CEDB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Algorithm (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&lt;algorithm&gt;</a:t>
            </a:r>
            <a:r>
              <a:rPr lang="en-US" dirty="0"/>
              <a:t>)</a:t>
            </a:r>
          </a:p>
          <a:p>
            <a:pPr lvl="1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sort(iterator b, iterator e, _pred);</a:t>
            </a:r>
          </a:p>
          <a:p>
            <a:pPr lvl="1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_pred: </a:t>
            </a:r>
            <a:r>
              <a:rPr lang="en-US" sz="2000" dirty="0">
                <a:solidFill>
                  <a:srgbClr val="C00000"/>
                </a:solidFill>
                <a:cs typeface="Courier New" panose="02070309020205020404" pitchFamily="49" charset="0"/>
              </a:rPr>
              <a:t>predicate</a:t>
            </a:r>
            <a:r>
              <a:rPr lang="en-US" sz="2000" dirty="0">
                <a:cs typeface="Courier New" panose="02070309020205020404" pitchFamily="49" charset="0"/>
              </a:rPr>
              <a:t>, i.e., a functor whose returned type is bool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EFCB836-0557-181F-DF2E-901B871D5EFA}"/>
              </a:ext>
            </a:extLst>
          </p:cNvPr>
          <p:cNvSpPr txBox="1"/>
          <p:nvPr/>
        </p:nvSpPr>
        <p:spPr>
          <a:xfrm>
            <a:off x="457200" y="2997200"/>
            <a:ext cx="434949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#include &lt;iostream&gt;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#include &lt;vector&gt;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#include &lt;algorithm&gt;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using namespace std;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1000" dirty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class </a:t>
            </a:r>
            <a:r>
              <a:rPr lang="en-US" altLang="zh-CN" sz="1000" dirty="0" err="1">
                <a:latin typeface="Courier New" pitchFamily="49" charset="0"/>
              </a:rPr>
              <a:t>MyCompare</a:t>
            </a:r>
            <a:r>
              <a:rPr lang="en-US" altLang="zh-CN" sz="1000" dirty="0">
                <a:latin typeface="Courier New" pitchFamily="49" charset="0"/>
              </a:rPr>
              <a:t>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	public: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		bool operator()(int v1, int v2)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			return v1 &gt; v2;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		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};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1000" dirty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void </a:t>
            </a:r>
            <a:r>
              <a:rPr lang="en-US" altLang="zh-CN" sz="1000" dirty="0" err="1">
                <a:latin typeface="Courier New" pitchFamily="49" charset="0"/>
              </a:rPr>
              <a:t>myPrint</a:t>
            </a:r>
            <a:r>
              <a:rPr lang="en-US" altLang="zh-CN" sz="1000" dirty="0">
                <a:latin typeface="Courier New" pitchFamily="49" charset="0"/>
              </a:rPr>
              <a:t>(int &amp;</a:t>
            </a:r>
            <a:r>
              <a:rPr lang="en-US" altLang="zh-CN" sz="1000" dirty="0" err="1">
                <a:latin typeface="Courier New" pitchFamily="49" charset="0"/>
              </a:rPr>
              <a:t>val</a:t>
            </a:r>
            <a:r>
              <a:rPr lang="en-US" altLang="zh-CN" sz="1000" dirty="0">
                <a:latin typeface="Courier New" pitchFamily="49" charset="0"/>
              </a:rPr>
              <a:t>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	</a:t>
            </a:r>
            <a:r>
              <a:rPr lang="en-US" altLang="zh-CN" sz="1000" dirty="0" err="1">
                <a:latin typeface="Courier New" pitchFamily="49" charset="0"/>
              </a:rPr>
              <a:t>cout</a:t>
            </a:r>
            <a:r>
              <a:rPr lang="en-US" altLang="zh-CN" sz="1000" dirty="0">
                <a:latin typeface="Courier New" pitchFamily="49" charset="0"/>
              </a:rPr>
              <a:t> &lt;&lt; </a:t>
            </a:r>
            <a:r>
              <a:rPr lang="en-US" altLang="zh-CN" sz="1000" dirty="0" err="1">
                <a:latin typeface="Courier New" pitchFamily="49" charset="0"/>
              </a:rPr>
              <a:t>val</a:t>
            </a:r>
            <a:r>
              <a:rPr lang="en-US" altLang="zh-CN" sz="1000" dirty="0">
                <a:latin typeface="Courier New" pitchFamily="49" charset="0"/>
              </a:rPr>
              <a:t> &lt;&lt; " ";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}</a:t>
            </a:r>
          </a:p>
        </p:txBody>
      </p:sp>
      <p:sp>
        <p:nvSpPr>
          <p:cNvPr id="6" name="文本框 4">
            <a:extLst>
              <a:ext uri="{FF2B5EF4-FFF2-40B4-BE49-F238E27FC236}">
                <a16:creationId xmlns:a16="http://schemas.microsoft.com/office/drawing/2014/main" id="{14764467-EA56-4AA8-8B46-D83C8B2F2DD3}"/>
              </a:ext>
            </a:extLst>
          </p:cNvPr>
          <p:cNvSpPr txBox="1"/>
          <p:nvPr/>
        </p:nvSpPr>
        <p:spPr>
          <a:xfrm>
            <a:off x="4794504" y="2924413"/>
            <a:ext cx="4349496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int main() {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1000" dirty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	vector&lt;int&gt; v; 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1000" dirty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	</a:t>
            </a:r>
            <a:r>
              <a:rPr lang="en-US" altLang="zh-CN" sz="1000" dirty="0" err="1">
                <a:latin typeface="Courier New" pitchFamily="49" charset="0"/>
              </a:rPr>
              <a:t>v.push_back</a:t>
            </a:r>
            <a:r>
              <a:rPr lang="en-US" altLang="zh-CN" sz="1000" dirty="0">
                <a:latin typeface="Courier New" pitchFamily="49" charset="0"/>
              </a:rPr>
              <a:t>(30);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	</a:t>
            </a:r>
            <a:r>
              <a:rPr lang="en-US" altLang="zh-CN" sz="1000" dirty="0" err="1">
                <a:latin typeface="Courier New" pitchFamily="49" charset="0"/>
              </a:rPr>
              <a:t>v.push_back</a:t>
            </a:r>
            <a:r>
              <a:rPr lang="en-US" altLang="zh-CN" sz="1000" dirty="0">
                <a:latin typeface="Courier New" pitchFamily="49" charset="0"/>
              </a:rPr>
              <a:t>(20);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	</a:t>
            </a:r>
            <a:r>
              <a:rPr lang="en-US" altLang="zh-CN" sz="1000" dirty="0" err="1">
                <a:latin typeface="Courier New" pitchFamily="49" charset="0"/>
              </a:rPr>
              <a:t>v.push_back</a:t>
            </a:r>
            <a:r>
              <a:rPr lang="en-US" altLang="zh-CN" sz="1000" dirty="0">
                <a:latin typeface="Courier New" pitchFamily="49" charset="0"/>
              </a:rPr>
              <a:t>(10);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	</a:t>
            </a:r>
            <a:r>
              <a:rPr lang="en-US" altLang="zh-CN" sz="1000" dirty="0" err="1">
                <a:latin typeface="Courier New" pitchFamily="49" charset="0"/>
              </a:rPr>
              <a:t>v.push_back</a:t>
            </a:r>
            <a:r>
              <a:rPr lang="en-US" altLang="zh-CN" sz="1000" dirty="0">
                <a:latin typeface="Courier New" pitchFamily="49" charset="0"/>
              </a:rPr>
              <a:t>(70);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	</a:t>
            </a:r>
            <a:r>
              <a:rPr lang="en-US" altLang="zh-CN" sz="1000" dirty="0" err="1">
                <a:latin typeface="Courier New" pitchFamily="49" charset="0"/>
              </a:rPr>
              <a:t>v.push_back</a:t>
            </a:r>
            <a:r>
              <a:rPr lang="en-US" altLang="zh-CN" sz="1000" dirty="0">
                <a:latin typeface="Courier New" pitchFamily="49" charset="0"/>
              </a:rPr>
              <a:t>(80);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	</a:t>
            </a:r>
            <a:r>
              <a:rPr lang="en-US" altLang="zh-CN" sz="1000" dirty="0" err="1">
                <a:latin typeface="Courier New" pitchFamily="49" charset="0"/>
              </a:rPr>
              <a:t>v.push_back</a:t>
            </a:r>
            <a:r>
              <a:rPr lang="en-US" altLang="zh-CN" sz="1000" dirty="0">
                <a:latin typeface="Courier New" pitchFamily="49" charset="0"/>
              </a:rPr>
              <a:t>(90);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1000" dirty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	</a:t>
            </a:r>
            <a:r>
              <a:rPr lang="en-US" altLang="zh-CN" sz="1000" dirty="0" err="1">
                <a:latin typeface="Courier New" pitchFamily="49" charset="0"/>
              </a:rPr>
              <a:t>for_each</a:t>
            </a:r>
            <a:r>
              <a:rPr lang="en-US" altLang="zh-CN" sz="1000" dirty="0">
                <a:latin typeface="Courier New" pitchFamily="49" charset="0"/>
              </a:rPr>
              <a:t>(</a:t>
            </a:r>
            <a:r>
              <a:rPr lang="en-US" altLang="zh-CN" sz="1000" dirty="0" err="1">
                <a:latin typeface="Courier New" pitchFamily="49" charset="0"/>
              </a:rPr>
              <a:t>v.begin</a:t>
            </a:r>
            <a:r>
              <a:rPr lang="en-US" altLang="zh-CN" sz="1000" dirty="0">
                <a:latin typeface="Courier New" pitchFamily="49" charset="0"/>
              </a:rPr>
              <a:t>(), </a:t>
            </a:r>
            <a:r>
              <a:rPr lang="en-US" altLang="zh-CN" sz="1000" dirty="0" err="1">
                <a:latin typeface="Courier New" pitchFamily="49" charset="0"/>
              </a:rPr>
              <a:t>v.end</a:t>
            </a:r>
            <a:r>
              <a:rPr lang="en-US" altLang="zh-CN" sz="1000" dirty="0">
                <a:latin typeface="Courier New" pitchFamily="49" charset="0"/>
              </a:rPr>
              <a:t>(), </a:t>
            </a:r>
            <a:r>
              <a:rPr lang="en-US" altLang="zh-CN" sz="1000" dirty="0" err="1">
                <a:latin typeface="Courier New" pitchFamily="49" charset="0"/>
              </a:rPr>
              <a:t>myPrint</a:t>
            </a:r>
            <a:r>
              <a:rPr lang="en-US" altLang="zh-CN" sz="1000" dirty="0">
                <a:latin typeface="Courier New" pitchFamily="49" charset="0"/>
              </a:rPr>
              <a:t>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	</a:t>
            </a:r>
            <a:r>
              <a:rPr lang="en-US" altLang="zh-CN" sz="1000" dirty="0" err="1">
                <a:latin typeface="Courier New" pitchFamily="49" charset="0"/>
              </a:rPr>
              <a:t>cout</a:t>
            </a:r>
            <a:r>
              <a:rPr lang="en-US" altLang="zh-CN" sz="1000" dirty="0">
                <a:latin typeface="Courier New" pitchFamily="49" charset="0"/>
              </a:rPr>
              <a:t> &lt;&lt; </a:t>
            </a:r>
            <a:r>
              <a:rPr lang="en-US" altLang="zh-CN" sz="1000" dirty="0" err="1">
                <a:latin typeface="Courier New" pitchFamily="49" charset="0"/>
              </a:rPr>
              <a:t>endl</a:t>
            </a:r>
            <a:r>
              <a:rPr lang="en-US" altLang="zh-CN" sz="1000" dirty="0">
                <a:latin typeface="Courier New" pitchFamily="49" charset="0"/>
              </a:rPr>
              <a:t>;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1000" dirty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	sort(</a:t>
            </a:r>
            <a:r>
              <a:rPr lang="en-US" altLang="zh-CN" sz="1000" dirty="0" err="1">
                <a:latin typeface="Courier New" pitchFamily="49" charset="0"/>
              </a:rPr>
              <a:t>v.begin</a:t>
            </a:r>
            <a:r>
              <a:rPr lang="en-US" altLang="zh-CN" sz="1000" dirty="0">
                <a:latin typeface="Courier New" pitchFamily="49" charset="0"/>
              </a:rPr>
              <a:t>(), </a:t>
            </a:r>
            <a:r>
              <a:rPr lang="en-US" altLang="zh-CN" sz="1000" dirty="0" err="1">
                <a:latin typeface="Courier New" pitchFamily="49" charset="0"/>
              </a:rPr>
              <a:t>v.end</a:t>
            </a:r>
            <a:r>
              <a:rPr lang="en-US" altLang="zh-CN" sz="1000" dirty="0">
                <a:latin typeface="Courier New" pitchFamily="49" charset="0"/>
              </a:rPr>
              <a:t>(), </a:t>
            </a:r>
            <a:r>
              <a:rPr lang="en-US" altLang="zh-CN" sz="1000" dirty="0" err="1">
                <a:latin typeface="Courier New" pitchFamily="49" charset="0"/>
              </a:rPr>
              <a:t>MyCompare</a:t>
            </a:r>
            <a:r>
              <a:rPr lang="en-US" altLang="zh-CN" sz="1000" dirty="0">
                <a:latin typeface="Courier New" pitchFamily="49" charset="0"/>
              </a:rPr>
              <a:t>());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1000" dirty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	</a:t>
            </a:r>
            <a:r>
              <a:rPr lang="en-US" altLang="zh-CN" sz="1000" dirty="0" err="1">
                <a:latin typeface="Courier New" pitchFamily="49" charset="0"/>
              </a:rPr>
              <a:t>for_each</a:t>
            </a:r>
            <a:r>
              <a:rPr lang="en-US" altLang="zh-CN" sz="1000" dirty="0">
                <a:latin typeface="Courier New" pitchFamily="49" charset="0"/>
              </a:rPr>
              <a:t>(</a:t>
            </a:r>
            <a:r>
              <a:rPr lang="en-US" altLang="zh-CN" sz="1000" dirty="0" err="1">
                <a:latin typeface="Courier New" pitchFamily="49" charset="0"/>
              </a:rPr>
              <a:t>v.begin</a:t>
            </a:r>
            <a:r>
              <a:rPr lang="en-US" altLang="zh-CN" sz="1000" dirty="0">
                <a:latin typeface="Courier New" pitchFamily="49" charset="0"/>
              </a:rPr>
              <a:t>(), </a:t>
            </a:r>
            <a:r>
              <a:rPr lang="en-US" altLang="zh-CN" sz="1000" dirty="0" err="1">
                <a:latin typeface="Courier New" pitchFamily="49" charset="0"/>
              </a:rPr>
              <a:t>v.end</a:t>
            </a:r>
            <a:r>
              <a:rPr lang="en-US" altLang="zh-CN" sz="1000" dirty="0">
                <a:latin typeface="Courier New" pitchFamily="49" charset="0"/>
              </a:rPr>
              <a:t>(), </a:t>
            </a:r>
            <a:r>
              <a:rPr lang="en-US" altLang="zh-CN" sz="1000" dirty="0" err="1">
                <a:latin typeface="Courier New" pitchFamily="49" charset="0"/>
              </a:rPr>
              <a:t>myPrint</a:t>
            </a:r>
            <a:r>
              <a:rPr lang="en-US" altLang="zh-CN" sz="1000" dirty="0">
                <a:latin typeface="Courier New" pitchFamily="49" charset="0"/>
              </a:rPr>
              <a:t>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	</a:t>
            </a:r>
            <a:r>
              <a:rPr lang="en-US" altLang="zh-CN" sz="1000" dirty="0" err="1">
                <a:latin typeface="Courier New" pitchFamily="49" charset="0"/>
              </a:rPr>
              <a:t>cout</a:t>
            </a:r>
            <a:r>
              <a:rPr lang="en-US" altLang="zh-CN" sz="1000" dirty="0">
                <a:latin typeface="Courier New" pitchFamily="49" charset="0"/>
              </a:rPr>
              <a:t> &lt;&lt; </a:t>
            </a:r>
            <a:r>
              <a:rPr lang="en-US" altLang="zh-CN" sz="1000" dirty="0" err="1">
                <a:latin typeface="Courier New" pitchFamily="49" charset="0"/>
              </a:rPr>
              <a:t>endl</a:t>
            </a:r>
            <a:r>
              <a:rPr lang="en-US" altLang="zh-CN" sz="1000" dirty="0">
                <a:latin typeface="Courier New" pitchFamily="49" charset="0"/>
              </a:rPr>
              <a:t>;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1000" dirty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	return 0;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2670B1-F8B9-D76F-E31E-2D7FF5343E0D}"/>
              </a:ext>
            </a:extLst>
          </p:cNvPr>
          <p:cNvSpPr txBox="1"/>
          <p:nvPr/>
        </p:nvSpPr>
        <p:spPr>
          <a:xfrm>
            <a:off x="982897" y="6535579"/>
            <a:ext cx="17604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Code: lec11-15-sort.cpp</a:t>
            </a:r>
          </a:p>
        </p:txBody>
      </p:sp>
    </p:spTree>
    <p:extLst>
      <p:ext uri="{BB962C8B-B14F-4D97-AF65-F5344CB8AC3E}">
        <p14:creationId xmlns:p14="http://schemas.microsoft.com/office/powerpoint/2010/main" val="1784642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F759B-1281-4CE8-B3C6-0F8B582CE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  <a:endParaRPr lang="en-HK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8AC8F82-A81A-4E95-A696-6C9467222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653ED2-267D-454B-B9E3-59503D7C3DE8}" type="slidenum">
              <a:rPr lang="zh-TW" altLang="en-US" smtClean="0"/>
              <a:pPr>
                <a:defRPr/>
              </a:pPr>
              <a:t>25</a:t>
            </a:fld>
            <a:endParaRPr lang="en-US" altLang="zh-TW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CB0A99-48AB-4963-8E59-B0756B2805A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Templates</a:t>
            </a:r>
          </a:p>
          <a:p>
            <a:endParaRPr lang="en-US" dirty="0"/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Introduction to STL</a:t>
            </a:r>
          </a:p>
          <a:p>
            <a:endParaRPr lang="en-US" dirty="0"/>
          </a:p>
          <a:p>
            <a:r>
              <a:rPr lang="en-US" dirty="0"/>
              <a:t>Review</a:t>
            </a:r>
            <a:endParaRPr lang="en-HK" dirty="0"/>
          </a:p>
        </p:txBody>
      </p:sp>
    </p:spTree>
    <p:extLst>
      <p:ext uri="{BB962C8B-B14F-4D97-AF65-F5344CB8AC3E}">
        <p14:creationId xmlns:p14="http://schemas.microsoft.com/office/powerpoint/2010/main" val="2296777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9339A-CF60-C2B5-9C4E-D0596FFC8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Examination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7958DDB-789A-16D9-AAC9-A54473A4C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653ED2-267D-454B-B9E3-59503D7C3DE8}" type="slidenum">
              <a:rPr lang="zh-TW" altLang="en-US" smtClean="0"/>
              <a:pPr>
                <a:defRPr/>
              </a:pPr>
              <a:t>26</a:t>
            </a:fld>
            <a:endParaRPr lang="en-US" altLang="zh-TW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B39ACA-9675-5C95-08E6-F326F077CDF4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Time (not officially released yet)</a:t>
            </a:r>
          </a:p>
          <a:p>
            <a:pPr lvl="1"/>
            <a:r>
              <a:rPr lang="en-US" sz="2200" dirty="0">
                <a:solidFill>
                  <a:srgbClr val="FF0000"/>
                </a:solidFill>
              </a:rPr>
              <a:t>2 hours</a:t>
            </a:r>
            <a:r>
              <a:rPr lang="en-US" sz="2200" dirty="0"/>
              <a:t> to finish </a:t>
            </a:r>
            <a:r>
              <a:rPr lang="en-US" sz="2200" dirty="0">
                <a:solidFill>
                  <a:srgbClr val="FF0000"/>
                </a:solidFill>
              </a:rPr>
              <a:t>4 questions</a:t>
            </a:r>
          </a:p>
          <a:p>
            <a:pPr lvl="1"/>
            <a:r>
              <a:rPr lang="en-US" sz="2200" b="1" dirty="0"/>
              <a:t>close-book</a:t>
            </a:r>
            <a:r>
              <a:rPr lang="en-US" sz="2200" dirty="0"/>
              <a:t> on </a:t>
            </a:r>
            <a:r>
              <a:rPr lang="en-US" sz="2200" dirty="0">
                <a:solidFill>
                  <a:srgbClr val="FF0000"/>
                </a:solidFill>
              </a:rPr>
              <a:t>E-Quiz</a:t>
            </a:r>
            <a:r>
              <a:rPr lang="en-US" sz="2200" dirty="0"/>
              <a:t> with </a:t>
            </a:r>
            <a:r>
              <a:rPr lang="en-US" sz="2200" dirty="0">
                <a:solidFill>
                  <a:srgbClr val="FF0000"/>
                </a:solidFill>
              </a:rPr>
              <a:t>SEB</a:t>
            </a:r>
          </a:p>
          <a:p>
            <a:pPr lvl="1"/>
            <a:r>
              <a:rPr lang="en-US" sz="2200" dirty="0"/>
              <a:t>Use </a:t>
            </a:r>
            <a:r>
              <a:rPr lang="en-US" sz="2200" dirty="0">
                <a:solidFill>
                  <a:srgbClr val="FF0000"/>
                </a:solidFill>
              </a:rPr>
              <a:t>university computers</a:t>
            </a:r>
          </a:p>
          <a:p>
            <a:r>
              <a:rPr lang="en-US" sz="2400" dirty="0"/>
              <a:t>Type of questions</a:t>
            </a:r>
          </a:p>
          <a:p>
            <a:pPr lvl="1"/>
            <a:r>
              <a:rPr lang="en-US" sz="2200" dirty="0"/>
              <a:t>all questions are </a:t>
            </a:r>
            <a:r>
              <a:rPr lang="en-US" sz="2200" dirty="0">
                <a:solidFill>
                  <a:srgbClr val="7030A0"/>
                </a:solidFill>
              </a:rPr>
              <a:t>coding</a:t>
            </a:r>
            <a:r>
              <a:rPr lang="en-US" sz="2200" dirty="0"/>
              <a:t> questions (similar to the mid-term)</a:t>
            </a:r>
          </a:p>
          <a:p>
            <a:r>
              <a:rPr lang="en-US" sz="2400" dirty="0"/>
              <a:t>Review materials</a:t>
            </a:r>
          </a:p>
          <a:p>
            <a:pPr lvl="1"/>
            <a:r>
              <a:rPr lang="en-US" sz="2200" dirty="0">
                <a:solidFill>
                  <a:srgbClr val="00B050"/>
                </a:solidFill>
              </a:rPr>
              <a:t>Lecture</a:t>
            </a:r>
            <a:r>
              <a:rPr lang="en-US" sz="2200" dirty="0"/>
              <a:t> slides / examples</a:t>
            </a:r>
          </a:p>
          <a:p>
            <a:pPr lvl="1"/>
            <a:r>
              <a:rPr lang="en-US" sz="2200" dirty="0">
                <a:solidFill>
                  <a:srgbClr val="FFC000"/>
                </a:solidFill>
              </a:rPr>
              <a:t>Lab</a:t>
            </a:r>
            <a:r>
              <a:rPr lang="en-US" sz="2200" dirty="0"/>
              <a:t> questions and practice questions</a:t>
            </a:r>
          </a:p>
          <a:p>
            <a:pPr lvl="1"/>
            <a:r>
              <a:rPr lang="en-US" sz="2200" dirty="0">
                <a:solidFill>
                  <a:srgbClr val="0070C0"/>
                </a:solidFill>
              </a:rPr>
              <a:t>Assignment</a:t>
            </a:r>
            <a:r>
              <a:rPr lang="en-US" sz="2200" dirty="0"/>
              <a:t> questions</a:t>
            </a:r>
          </a:p>
          <a:p>
            <a:pPr lvl="1"/>
            <a:r>
              <a:rPr lang="en-US" sz="2200" dirty="0">
                <a:solidFill>
                  <a:schemeClr val="bg1">
                    <a:lumMod val="75000"/>
                  </a:schemeClr>
                </a:solidFill>
              </a:rPr>
              <a:t>…</a:t>
            </a:r>
          </a:p>
          <a:p>
            <a:pPr lvl="1"/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4018150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90CE3-29C6-89AD-D07D-3E58E5E34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 </a:t>
            </a:r>
            <a:r>
              <a:rPr lang="en-US" dirty="0">
                <a:solidFill>
                  <a:srgbClr val="FF0000"/>
                </a:solidFill>
              </a:rPr>
              <a:t>Not</a:t>
            </a:r>
            <a:r>
              <a:rPr lang="en-US" dirty="0"/>
              <a:t> Covered in the Exam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1797F94-4A81-0EC6-A193-77B3CF878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653ED2-267D-454B-B9E3-59503D7C3DE8}" type="slidenum">
              <a:rPr lang="zh-TW" altLang="en-US" smtClean="0"/>
              <a:pPr>
                <a:defRPr/>
              </a:pPr>
              <a:t>27</a:t>
            </a:fld>
            <a:endParaRPr lang="en-US" altLang="zh-TW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B3A74F-858C-1C66-F94E-1ADCCAE947F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Lec07</a:t>
            </a:r>
            <a:endParaRPr lang="en-US" sz="2200" dirty="0"/>
          </a:p>
          <a:p>
            <a:pPr lvl="1"/>
            <a:r>
              <a:rPr lang="en-US" sz="2200" dirty="0"/>
              <a:t>Diamond problem</a:t>
            </a:r>
          </a:p>
          <a:p>
            <a:r>
              <a:rPr lang="en-US" sz="2400" dirty="0"/>
              <a:t>Lec09</a:t>
            </a:r>
          </a:p>
          <a:p>
            <a:pPr lvl="1"/>
            <a:r>
              <a:rPr lang="en-US" sz="2200" dirty="0"/>
              <a:t>functor</a:t>
            </a:r>
          </a:p>
          <a:p>
            <a:r>
              <a:rPr lang="en-US" sz="2400" dirty="0"/>
              <a:t>Lec10</a:t>
            </a:r>
          </a:p>
          <a:p>
            <a:pPr lvl="1"/>
            <a:r>
              <a:rPr lang="en-US" sz="2200" dirty="0" err="1"/>
              <a:t>vtable</a:t>
            </a:r>
            <a:r>
              <a:rPr lang="en-US" sz="2200" dirty="0"/>
              <a:t> and </a:t>
            </a:r>
            <a:r>
              <a:rPr lang="en-US" sz="2200" dirty="0" err="1"/>
              <a:t>vptr</a:t>
            </a:r>
            <a:endParaRPr lang="en-US" sz="2200" dirty="0"/>
          </a:p>
          <a:p>
            <a:r>
              <a:rPr lang="en-US" sz="2400" dirty="0"/>
              <a:t>Lec11</a:t>
            </a:r>
          </a:p>
          <a:p>
            <a:pPr lvl="1"/>
            <a:r>
              <a:rPr lang="en-US" sz="2200" dirty="0"/>
              <a:t>STL</a:t>
            </a:r>
          </a:p>
          <a:p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15861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CBAA9-4064-A756-9CB3-D80CAD0F3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Suggestions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A0E6E9E-6E90-717A-EE51-D091906B3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653ED2-267D-454B-B9E3-59503D7C3DE8}" type="slidenum">
              <a:rPr lang="zh-TW" altLang="en-US" smtClean="0"/>
              <a:pPr>
                <a:defRPr/>
              </a:pPr>
              <a:t>28</a:t>
            </a:fld>
            <a:endParaRPr lang="en-US" altLang="zh-TW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3E95D3-DEB2-AEEA-AB53-0AC17D04DA1E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14400" y="1524000"/>
            <a:ext cx="7772400" cy="4953000"/>
          </a:xfrm>
        </p:spPr>
        <p:txBody>
          <a:bodyPr>
            <a:normAutofit fontScale="70000" lnSpcReduction="20000"/>
          </a:bodyPr>
          <a:lstStyle/>
          <a:p>
            <a:r>
              <a:rPr lang="en-US" sz="2400" dirty="0"/>
              <a:t>All remaining topics from Lec01 to Lec11 (i.e., not in the “Topics Not Covered in the Exam”) may be tested in the final examination</a:t>
            </a:r>
          </a:p>
          <a:p>
            <a:endParaRPr lang="en-US" sz="2400" dirty="0"/>
          </a:p>
          <a:p>
            <a:r>
              <a:rPr lang="en-US" sz="2400" dirty="0"/>
              <a:t>The topics before the mid-term quiz (from Lec01 to Lec06) will still be tested, which are all the basics of C++ programming, for example,</a:t>
            </a:r>
          </a:p>
          <a:p>
            <a:pPr lvl="1"/>
            <a:r>
              <a:rPr lang="en-US" sz="2200" dirty="0"/>
              <a:t>loop, conditional statements, sorting algorithm, recursive functions,</a:t>
            </a:r>
          </a:p>
          <a:p>
            <a:pPr lvl="1"/>
            <a:r>
              <a:rPr lang="en-US" sz="2200" dirty="0"/>
              <a:t>class, constructors and destructor, public/private/protected, </a:t>
            </a:r>
          </a:p>
          <a:p>
            <a:pPr lvl="1"/>
            <a:r>
              <a:rPr lang="en-US" sz="2200" dirty="0"/>
              <a:t>friend functions (non-member functions but can access private members),</a:t>
            </a:r>
          </a:p>
          <a:p>
            <a:pPr lvl="1"/>
            <a:r>
              <a:rPr lang="en-US" sz="2200" dirty="0"/>
              <a:t>…</a:t>
            </a:r>
          </a:p>
          <a:p>
            <a:pPr marL="320040" lvl="1" indent="0">
              <a:buNone/>
            </a:pPr>
            <a:endParaRPr lang="en-US" sz="2400" dirty="0"/>
          </a:p>
          <a:p>
            <a:r>
              <a:rPr lang="en-US" sz="2400" dirty="0"/>
              <a:t>but the final exam will focus more on the topics learned after the mid-term quiz, for example,</a:t>
            </a:r>
          </a:p>
          <a:p>
            <a:pPr lvl="1"/>
            <a:r>
              <a:rPr lang="en-US" sz="2200" dirty="0"/>
              <a:t>call-by-pointer, call-by-reference, inheritance, order of constructor/destructor, </a:t>
            </a:r>
          </a:p>
          <a:p>
            <a:pPr lvl="1"/>
            <a:r>
              <a:rPr lang="en-US" sz="2200" dirty="0"/>
              <a:t>pointer with array, dynamic memory allocation, memory leak, copy constructor, shallow/deep copy, </a:t>
            </a:r>
          </a:p>
          <a:p>
            <a:pPr lvl="1"/>
            <a:r>
              <a:rPr lang="en-US" sz="2200" dirty="0"/>
              <a:t>this pointer, inheritance for base class without default constructor, operator overloading, chain function calls,</a:t>
            </a:r>
          </a:p>
          <a:p>
            <a:pPr lvl="1"/>
            <a:r>
              <a:rPr lang="en-US" sz="2200" dirty="0"/>
              <a:t>different types of polymorphism, virtual function, pure virtual function, abstract class, virtual destructor,</a:t>
            </a:r>
          </a:p>
          <a:p>
            <a:pPr lvl="1"/>
            <a:r>
              <a:rPr lang="en-US" sz="2200" dirty="0"/>
              <a:t>function templates, class templates, inheritance in class </a:t>
            </a:r>
            <a:r>
              <a:rPr lang="en-US" sz="2200"/>
              <a:t>templates, file I/O,</a:t>
            </a:r>
            <a:endParaRPr lang="en-US" sz="2200" dirty="0"/>
          </a:p>
          <a:p>
            <a:pPr lvl="1"/>
            <a:r>
              <a:rPr lang="en-US" sz="2200" dirty="0"/>
              <a:t>…</a:t>
            </a:r>
          </a:p>
          <a:p>
            <a:pPr lvl="1"/>
            <a:endParaRPr lang="en-US" sz="2200" dirty="0"/>
          </a:p>
          <a:p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707439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F28D8-42A9-4EDE-B97F-DB4D6130F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2743200"/>
            <a:ext cx="7772400" cy="1143000"/>
          </a:xfrm>
        </p:spPr>
        <p:txBody>
          <a:bodyPr/>
          <a:lstStyle/>
          <a:p>
            <a:pPr algn="ctr"/>
            <a:r>
              <a:rPr lang="en-US" sz="8800" dirty="0">
                <a:solidFill>
                  <a:schemeClr val="tx1"/>
                </a:solidFill>
              </a:rPr>
              <a:t>Good Luck!</a:t>
            </a:r>
            <a:endParaRPr lang="en-HK" sz="8800" dirty="0">
              <a:solidFill>
                <a:schemeClr val="tx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A7365DC-39A3-D16D-C1BB-522019876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14B6E79-AB13-4C50-96FB-BE00BC43F4F2}" type="slidenum">
              <a:rPr kumimoji="0" lang="en-US" altLang="zh-HK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altLang="zh-HK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308196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17071</TotalTime>
  <Words>4517</Words>
  <Application>Microsoft Macintosh PowerPoint</Application>
  <PresentationFormat>On-screen Show (4:3)</PresentationFormat>
  <Paragraphs>789</Paragraphs>
  <Slides>29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29</vt:i4>
      </vt:variant>
    </vt:vector>
  </HeadingPairs>
  <TitlesOfParts>
    <vt:vector size="37" baseType="lpstr">
      <vt:lpstr>Arial</vt:lpstr>
      <vt:lpstr>Calibri</vt:lpstr>
      <vt:lpstr>Courier New</vt:lpstr>
      <vt:lpstr>Verdana</vt:lpstr>
      <vt:lpstr>Wingdings</vt:lpstr>
      <vt:lpstr>Wingdings 2</vt:lpstr>
      <vt:lpstr>Equity</vt:lpstr>
      <vt:lpstr>1_Equity</vt:lpstr>
      <vt:lpstr>PowerPoint Presentation</vt:lpstr>
      <vt:lpstr>Outline</vt:lpstr>
      <vt:lpstr>Generic Programming (Generics)</vt:lpstr>
      <vt:lpstr>Templates in C++</vt:lpstr>
      <vt:lpstr>Templates in C++</vt:lpstr>
      <vt:lpstr>Example</vt:lpstr>
      <vt:lpstr>Function Calls Involving Templates</vt:lpstr>
      <vt:lpstr>Function Calls Involving Templates</vt:lpstr>
      <vt:lpstr>Class Templates - Motivation</vt:lpstr>
      <vt:lpstr>Class Templates</vt:lpstr>
      <vt:lpstr>Class and Function Templates</vt:lpstr>
      <vt:lpstr>Class and Function Templates</vt:lpstr>
      <vt:lpstr>Class Templates as Function Parameters</vt:lpstr>
      <vt:lpstr>Inheritance in Class Templates</vt:lpstr>
      <vt:lpstr>Separate Compilation for Templates</vt:lpstr>
      <vt:lpstr>Separate Compilation for Templates</vt:lpstr>
      <vt:lpstr>Outline</vt:lpstr>
      <vt:lpstr>Standard Template Library (STL)</vt:lpstr>
      <vt:lpstr>Standard Template Library (STL)</vt:lpstr>
      <vt:lpstr>Example: vector</vt:lpstr>
      <vt:lpstr>Example: vector</vt:lpstr>
      <vt:lpstr>Example: vector</vt:lpstr>
      <vt:lpstr>Example: vector</vt:lpstr>
      <vt:lpstr>Example: vector</vt:lpstr>
      <vt:lpstr>Outline</vt:lpstr>
      <vt:lpstr>Final Examination</vt:lpstr>
      <vt:lpstr>Topics Not Covered in the Exam</vt:lpstr>
      <vt:lpstr>Review Suggestions</vt:lpstr>
      <vt:lpstr>Good Luck!</vt:lpstr>
    </vt:vector>
  </TitlesOfParts>
  <Company>City University of Hong Kong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Programming</dc:title>
  <dc:creator>joe</dc:creator>
  <cp:lastModifiedBy>LI Zhenjiang 李镇江</cp:lastModifiedBy>
  <cp:revision>1510</cp:revision>
  <dcterms:created xsi:type="dcterms:W3CDTF">2009-04-30T13:38:41Z</dcterms:created>
  <dcterms:modified xsi:type="dcterms:W3CDTF">2025-04-06T10:59:53Z</dcterms:modified>
</cp:coreProperties>
</file>