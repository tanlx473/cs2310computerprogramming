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11" r:id="rId1"/>
  </p:sldMasterIdLst>
  <p:notesMasterIdLst>
    <p:notesMasterId r:id="rId43"/>
  </p:notesMasterIdLst>
  <p:sldIdLst>
    <p:sldId id="283" r:id="rId2"/>
    <p:sldId id="610" r:id="rId3"/>
    <p:sldId id="286" r:id="rId4"/>
    <p:sldId id="258" r:id="rId5"/>
    <p:sldId id="259" r:id="rId6"/>
    <p:sldId id="260" r:id="rId7"/>
    <p:sldId id="285" r:id="rId8"/>
    <p:sldId id="261" r:id="rId9"/>
    <p:sldId id="611" r:id="rId10"/>
    <p:sldId id="262" r:id="rId11"/>
    <p:sldId id="263" r:id="rId12"/>
    <p:sldId id="264" r:id="rId13"/>
    <p:sldId id="265" r:id="rId14"/>
    <p:sldId id="266" r:id="rId15"/>
    <p:sldId id="267" r:id="rId16"/>
    <p:sldId id="302" r:id="rId17"/>
    <p:sldId id="303" r:id="rId18"/>
    <p:sldId id="268" r:id="rId19"/>
    <p:sldId id="269" r:id="rId20"/>
    <p:sldId id="276" r:id="rId21"/>
    <p:sldId id="270" r:id="rId22"/>
    <p:sldId id="271" r:id="rId23"/>
    <p:sldId id="291" r:id="rId24"/>
    <p:sldId id="280" r:id="rId25"/>
    <p:sldId id="272" r:id="rId26"/>
    <p:sldId id="277" r:id="rId27"/>
    <p:sldId id="274" r:id="rId28"/>
    <p:sldId id="281" r:id="rId29"/>
    <p:sldId id="275" r:id="rId30"/>
    <p:sldId id="282" r:id="rId31"/>
    <p:sldId id="292" r:id="rId32"/>
    <p:sldId id="293" r:id="rId33"/>
    <p:sldId id="304" r:id="rId34"/>
    <p:sldId id="615" r:id="rId35"/>
    <p:sldId id="307" r:id="rId36"/>
    <p:sldId id="612" r:id="rId37"/>
    <p:sldId id="601" r:id="rId38"/>
    <p:sldId id="602" r:id="rId39"/>
    <p:sldId id="603" r:id="rId40"/>
    <p:sldId id="604" r:id="rId41"/>
    <p:sldId id="605" r:id="rId4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99FF66"/>
    <a:srgbClr val="6699FF"/>
    <a:srgbClr val="006600"/>
    <a:srgbClr val="0000FF"/>
    <a:srgbClr val="003399"/>
    <a:srgbClr val="FF3300"/>
    <a:srgbClr val="FF9900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2449" autoAdjust="0"/>
  </p:normalViewPr>
  <p:slideViewPr>
    <p:cSldViewPr>
      <p:cViewPr varScale="1">
        <p:scale>
          <a:sx n="104" d="100"/>
          <a:sy n="104" d="100"/>
        </p:scale>
        <p:origin x="242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77222C60-64E2-40CB-9633-4681D5EA9E9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387240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14196-70E2-4D90-A2E3-BFDED2C3A698}" type="slidenum">
              <a:rPr lang="en-US" altLang="zh-HK" smtClean="0"/>
              <a:pPr/>
              <a:t>1</a:t>
            </a:fld>
            <a:endParaRPr lang="en-US" altLang="zh-HK"/>
          </a:p>
        </p:txBody>
      </p:sp>
    </p:spTree>
    <p:extLst>
      <p:ext uri="{BB962C8B-B14F-4D97-AF65-F5344CB8AC3E}">
        <p14:creationId xmlns:p14="http://schemas.microsoft.com/office/powerpoint/2010/main" val="2824008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01532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AD5A90B6-7CEB-4398-9A96-27C2A58AD224}" type="slidenum">
              <a:rPr lang="zh-TW" altLang="en-US">
                <a:latin typeface="Arial" charset="0"/>
              </a:rPr>
              <a:pPr/>
              <a:t>4</a:t>
            </a:fld>
            <a:endParaRPr lang="en-US" altLang="zh-TW">
              <a:latin typeface="Arial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6809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5357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4800F4AD-BC73-49BD-A2EE-FE6CA6427A19}" type="slidenum">
              <a:rPr lang="zh-TW" altLang="en-US">
                <a:latin typeface="Arial" charset="0"/>
              </a:rPr>
              <a:pPr/>
              <a:t>6</a:t>
            </a:fld>
            <a:endParaRPr lang="en-US" altLang="zh-TW">
              <a:latin typeface="Arial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9691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4678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FFFDCE83-5FF2-4311-B2CF-C0266E88899E}" type="slidenum">
              <a:rPr lang="zh-TW" altLang="en-US">
                <a:latin typeface="Arial" charset="0"/>
              </a:rPr>
              <a:pPr/>
              <a:t>8</a:t>
            </a:fld>
            <a:endParaRPr lang="en-US" altLang="zh-TW">
              <a:latin typeface="Arial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0378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48F9FDBB-7BD1-4A29-ABED-435118F92DB8}" type="slidenum">
              <a:rPr lang="zh-TW" altLang="en-US">
                <a:latin typeface="Arial" charset="0"/>
              </a:rPr>
              <a:pPr/>
              <a:t>10</a:t>
            </a:fld>
            <a:endParaRPr lang="en-US" altLang="zh-TW">
              <a:latin typeface="Arial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TW" baseline="0" dirty="0"/>
          </a:p>
        </p:txBody>
      </p:sp>
    </p:spTree>
    <p:extLst>
      <p:ext uri="{BB962C8B-B14F-4D97-AF65-F5344CB8AC3E}">
        <p14:creationId xmlns:p14="http://schemas.microsoft.com/office/powerpoint/2010/main" val="1085574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C79E0E70-6771-44AD-9BC5-E3E1316C68A2}" type="slidenum">
              <a:rPr lang="zh-TW" altLang="en-US">
                <a:latin typeface="Arial" charset="0"/>
              </a:rPr>
              <a:pPr/>
              <a:t>11</a:t>
            </a:fld>
            <a:endParaRPr lang="en-US" altLang="zh-TW">
              <a:latin typeface="Arial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4190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CA46E88A-D901-4C41-9121-A29C2D4EDBCA}" type="slidenum">
              <a:rPr lang="zh-TW" altLang="en-US">
                <a:latin typeface="Arial" charset="0"/>
              </a:rPr>
              <a:pPr/>
              <a:t>12</a:t>
            </a:fld>
            <a:endParaRPr lang="en-US" altLang="zh-TW">
              <a:latin typeface="Arial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5613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44B9F35F-A3F4-41B5-8B6C-E337148C85EB}" type="slidenum">
              <a:rPr lang="zh-TW" altLang="en-US">
                <a:latin typeface="Arial" charset="0"/>
              </a:rPr>
              <a:pPr/>
              <a:t>13</a:t>
            </a:fld>
            <a:endParaRPr lang="en-US" altLang="zh-TW">
              <a:latin typeface="Arial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4164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5F29BBAB-A6D9-4602-8246-0D161444D158}" type="slidenum">
              <a:rPr lang="zh-TW" altLang="en-US">
                <a:latin typeface="Arial" charset="0"/>
              </a:rPr>
              <a:pPr/>
              <a:t>14</a:t>
            </a:fld>
            <a:endParaRPr lang="en-US" altLang="zh-TW">
              <a:latin typeface="Arial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57702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59E5E77D-BE76-48DB-A34D-A17411319053}" type="slidenum">
              <a:rPr lang="zh-TW" altLang="en-US">
                <a:latin typeface="Arial" charset="0"/>
              </a:rPr>
              <a:pPr/>
              <a:t>15</a:t>
            </a:fld>
            <a:endParaRPr lang="en-US" altLang="zh-TW">
              <a:latin typeface="Arial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221506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917854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5D1CB8B0-6B37-4FF6-84AC-3226952546C0}" type="slidenum">
              <a:rPr lang="zh-TW" altLang="en-US">
                <a:latin typeface="Arial" charset="0"/>
              </a:rPr>
              <a:pPr/>
              <a:t>18</a:t>
            </a:fld>
            <a:endParaRPr lang="en-US" altLang="zh-TW">
              <a:latin typeface="Arial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47552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5E1B0FA0-D014-46E2-B32B-354E10C720FB}" type="slidenum">
              <a:rPr lang="zh-TW" altLang="en-US">
                <a:latin typeface="Arial" charset="0"/>
              </a:rPr>
              <a:pPr/>
              <a:t>19</a:t>
            </a:fld>
            <a:endParaRPr lang="en-US" altLang="zh-TW">
              <a:latin typeface="Arial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0012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673961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031426BE-090E-42D4-A79D-72687A653A90}" type="slidenum">
              <a:rPr lang="zh-TW" altLang="en-US">
                <a:latin typeface="Arial" charset="0"/>
              </a:rPr>
              <a:pPr/>
              <a:t>21</a:t>
            </a:fld>
            <a:endParaRPr lang="en-US" altLang="zh-TW">
              <a:latin typeface="Arial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baseline="0" dirty="0"/>
          </a:p>
        </p:txBody>
      </p:sp>
    </p:spTree>
    <p:extLst>
      <p:ext uri="{BB962C8B-B14F-4D97-AF65-F5344CB8AC3E}">
        <p14:creationId xmlns:p14="http://schemas.microsoft.com/office/powerpoint/2010/main" val="11099266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908BFE05-B0C0-413E-B966-492180993017}" type="slidenum">
              <a:rPr lang="zh-TW" altLang="en-US">
                <a:latin typeface="Arial" charset="0"/>
              </a:rPr>
              <a:pPr/>
              <a:t>22</a:t>
            </a:fld>
            <a:endParaRPr lang="en-US" altLang="zh-TW">
              <a:latin typeface="Arial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38262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908BFE05-B0C0-413E-B966-492180993017}" type="slidenum">
              <a:rPr lang="zh-TW" altLang="en-US">
                <a:latin typeface="Arial" charset="0"/>
              </a:rPr>
              <a:pPr/>
              <a:t>23</a:t>
            </a:fld>
            <a:endParaRPr lang="en-US" altLang="zh-TW">
              <a:latin typeface="Arial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065717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908BFE05-B0C0-413E-B966-492180993017}" type="slidenum">
              <a:rPr lang="zh-TW" altLang="en-US">
                <a:latin typeface="Arial" charset="0"/>
              </a:rPr>
              <a:pPr/>
              <a:t>24</a:t>
            </a:fld>
            <a:endParaRPr lang="en-US" altLang="zh-TW">
              <a:latin typeface="Arial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95923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AF43E867-685E-4659-B698-F00EAB7EB23F}" type="slidenum">
              <a:rPr lang="zh-TW" altLang="en-US">
                <a:latin typeface="Arial" charset="0"/>
              </a:rPr>
              <a:pPr/>
              <a:t>25</a:t>
            </a:fld>
            <a:endParaRPr lang="en-US" altLang="zh-TW">
              <a:latin typeface="Arial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67195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9CE71DED-06CF-4B31-9501-4C53226BF66C}" type="slidenum">
              <a:rPr lang="zh-TW" altLang="en-US">
                <a:latin typeface="Arial" charset="0"/>
              </a:rPr>
              <a:pPr/>
              <a:t>27</a:t>
            </a:fld>
            <a:endParaRPr lang="en-US" altLang="zh-TW">
              <a:latin typeface="Arial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42097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5510EED8-6EA6-45F5-BA4A-BC464627B439}" type="slidenum">
              <a:rPr lang="zh-TW" altLang="en-US">
                <a:latin typeface="Arial" charset="0"/>
              </a:rPr>
              <a:pPr/>
              <a:t>28</a:t>
            </a:fld>
            <a:endParaRPr lang="en-US" altLang="zh-TW">
              <a:latin typeface="Arial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50658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5510EED8-6EA6-45F5-BA4A-BC464627B439}" type="slidenum">
              <a:rPr lang="zh-TW" altLang="en-US">
                <a:latin typeface="Arial" charset="0"/>
              </a:rPr>
              <a:pPr/>
              <a:t>29</a:t>
            </a:fld>
            <a:endParaRPr lang="en-US" altLang="zh-TW">
              <a:latin typeface="Arial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470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5510EED8-6EA6-45F5-BA4A-BC464627B439}" type="slidenum">
              <a:rPr lang="zh-TW" altLang="en-US">
                <a:latin typeface="Arial" charset="0"/>
              </a:rPr>
              <a:pPr/>
              <a:t>30</a:t>
            </a:fld>
            <a:endParaRPr lang="en-US" altLang="zh-TW">
              <a:latin typeface="Arial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22223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908BFE05-B0C0-413E-B966-492180993017}" type="slidenum">
              <a:rPr lang="zh-TW" altLang="en-US">
                <a:latin typeface="Arial" charset="0"/>
              </a:rPr>
              <a:pPr/>
              <a:t>31</a:t>
            </a:fld>
            <a:endParaRPr lang="en-US" altLang="zh-TW">
              <a:latin typeface="Arial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01460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908BFE05-B0C0-413E-B966-492180993017}" type="slidenum">
              <a:rPr lang="zh-TW" altLang="en-US">
                <a:latin typeface="Arial" charset="0"/>
              </a:rPr>
              <a:pPr/>
              <a:t>32</a:t>
            </a:fld>
            <a:endParaRPr lang="en-US" altLang="zh-TW">
              <a:latin typeface="Arial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351785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37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20870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38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82900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zh-HK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B5C2743-D08D-4184-B069-AF685F75E0BA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kumimoji="0" lang="en-US" altLang="zh-HK" dirty="0"/>
              <a:t>Click to edit Master 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4495800"/>
          </a:xfrm>
        </p:spPr>
        <p:txBody>
          <a:bodyPr vert="horz"/>
          <a:lstStyle/>
          <a:p>
            <a:pPr lvl="0" eaLnBrk="1" latinLnBrk="0" hangingPunct="1"/>
            <a:r>
              <a:rPr lang="en-US" altLang="zh-HK" dirty="0"/>
              <a:t>Click to edit Master text styles</a:t>
            </a:r>
          </a:p>
          <a:p>
            <a:pPr lvl="1" eaLnBrk="1" latinLnBrk="0" hangingPunct="1"/>
            <a:r>
              <a:rPr lang="en-US" altLang="zh-HK" dirty="0"/>
              <a:t>Second level</a:t>
            </a:r>
          </a:p>
          <a:p>
            <a:pPr lvl="2" eaLnBrk="1" latinLnBrk="0" hangingPunct="1"/>
            <a:r>
              <a:rPr lang="en-US" altLang="zh-HK" dirty="0"/>
              <a:t>Third level</a:t>
            </a:r>
          </a:p>
          <a:p>
            <a:pPr lvl="3" eaLnBrk="1" latinLnBrk="0" hangingPunct="1"/>
            <a:r>
              <a:rPr lang="en-US" altLang="zh-HK" dirty="0"/>
              <a:t>Fourth level</a:t>
            </a:r>
          </a:p>
          <a:p>
            <a:pPr lvl="4" eaLnBrk="1" latinLnBrk="0" hangingPunct="1"/>
            <a:r>
              <a:rPr lang="en-US" altLang="zh-HK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FF23F5B4-AE80-465C-A3ED-50E8D613BC72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9EA6A3-6FB3-45C3-B5E4-65C2A039E8A0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E4F29A-11F9-4289-BAEA-3DBF06A7BD43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61D845-962E-4455-A2B5-DA53818F64D6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1D6685-4528-47AC-A86E-0E8CF3BF5C8A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5FE0DA-0414-4FA6-B45F-BDA2ABAF19A0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71D8F204-56D6-4B7B-B280-C1165CC7AAF8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zh-HK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9C601E-6505-4D45-8656-5A38EBD2497C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AFCE8-421B-4D24-950F-59FC806B6FF6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5E69E-0F67-4EF9-9BD9-4C150AC24529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6737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zh-HK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682E9A-2793-454F-80FD-07C04410403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68030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altLang="zh-HK"/>
              <a:t>Click to edit Master text styles</a:t>
            </a:r>
          </a:p>
          <a:p>
            <a:pPr lvl="1" eaLnBrk="1" latinLnBrk="0" hangingPunct="1"/>
            <a:r>
              <a:rPr kumimoji="0" lang="en-US" altLang="zh-HK"/>
              <a:t>Second level</a:t>
            </a:r>
          </a:p>
          <a:p>
            <a:pPr lvl="2" eaLnBrk="1" latinLnBrk="0" hangingPunct="1"/>
            <a:r>
              <a:rPr kumimoji="0" lang="en-US" altLang="zh-HK"/>
              <a:t>Third level</a:t>
            </a:r>
          </a:p>
          <a:p>
            <a:pPr lvl="3" eaLnBrk="1" latinLnBrk="0" hangingPunct="1"/>
            <a:r>
              <a:rPr kumimoji="0" lang="en-US" altLang="zh-HK"/>
              <a:t>Fourth level</a:t>
            </a:r>
          </a:p>
          <a:p>
            <a:pPr lvl="4" eaLnBrk="1" latinLnBrk="0" hangingPunct="1"/>
            <a:r>
              <a:rPr kumimoji="0" lang="en-US" altLang="zh-HK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7C787ADA-DBD0-44B6-BABA-8F720F2E124F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09600" y="4343400"/>
            <a:ext cx="7848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TW" sz="2200" dirty="0"/>
          </a:p>
          <a:p>
            <a:pPr eaLnBrk="1" hangingPunct="1"/>
            <a:r>
              <a:rPr lang="en-US" altLang="zh-TW" sz="2200" i="1" dirty="0"/>
              <a:t>Computer Science, City University of Hong Kong</a:t>
            </a:r>
          </a:p>
          <a:p>
            <a:pPr eaLnBrk="1" hangingPunct="1"/>
            <a:r>
              <a:rPr lang="en-US" altLang="zh-TW" sz="2200" i="1" dirty="0"/>
              <a:t>Semester B 2024-25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52425" y="1905000"/>
            <a:ext cx="87153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altLang="zh-TW" dirty="0"/>
              <a:t>CS2310 Computer Programming</a:t>
            </a:r>
            <a:br>
              <a:rPr lang="en-US" altLang="zh-TW" dirty="0"/>
            </a:br>
            <a:endParaRPr lang="en-US" altLang="zh-TW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295466" y="3286780"/>
            <a:ext cx="23433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TW" sz="28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LT08: Pointer II</a:t>
            </a:r>
            <a:endParaRPr lang="en-US" altLang="zh-HK" sz="2800" dirty="0">
              <a:solidFill>
                <a:srgbClr val="D34817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5413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385C-02B4-D045-FC41-AA38F602C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1FA27-5BD8-A7BC-3C47-1F13148FC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F1B37-41FA-EE43-9057-EEC4B868DC6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More about pointer</a:t>
            </a:r>
          </a:p>
          <a:p>
            <a:endParaRPr lang="en-US" dirty="0"/>
          </a:p>
          <a:p>
            <a:r>
              <a:rPr lang="en-US" dirty="0"/>
              <a:t>Applications of pointer</a:t>
            </a:r>
          </a:p>
          <a:p>
            <a:endParaRPr lang="en-US" dirty="0"/>
          </a:p>
          <a:p>
            <a:r>
              <a:rPr lang="en-US" dirty="0"/>
              <a:t>More about class</a:t>
            </a:r>
          </a:p>
        </p:txBody>
      </p:sp>
    </p:spTree>
    <p:extLst>
      <p:ext uri="{BB962C8B-B14F-4D97-AF65-F5344CB8AC3E}">
        <p14:creationId xmlns:p14="http://schemas.microsoft.com/office/powerpoint/2010/main" val="24636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676400"/>
            <a:ext cx="7772400" cy="46482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Difference</a:t>
            </a:r>
            <a:r>
              <a:rPr lang="en-US" dirty="0"/>
              <a:t> with common variables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About its size?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099247"/>
              </p:ext>
            </p:extLst>
          </p:nvPr>
        </p:nvGraphicFramePr>
        <p:xfrm>
          <a:off x="914400" y="2458720"/>
          <a:ext cx="7696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HK" dirty="0"/>
                        <a:t>Variable type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 err="1"/>
                        <a:t>int</a:t>
                      </a:r>
                      <a:r>
                        <a:rPr lang="en-US" altLang="zh-HK" dirty="0"/>
                        <a:t> x;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float x;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double x;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char x;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HK" dirty="0"/>
                        <a:t>Pointer</a:t>
                      </a:r>
                      <a:r>
                        <a:rPr lang="en-US" altLang="zh-HK" baseline="0" dirty="0"/>
                        <a:t> type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 err="1"/>
                        <a:t>int</a:t>
                      </a:r>
                      <a:r>
                        <a:rPr lang="en-US" altLang="zh-HK" dirty="0"/>
                        <a:t>*</a:t>
                      </a:r>
                      <a:r>
                        <a:rPr lang="en-US" altLang="zh-HK" dirty="0" err="1"/>
                        <a:t>Pointx</a:t>
                      </a:r>
                      <a:r>
                        <a:rPr lang="en-US" altLang="zh-HK" dirty="0"/>
                        <a:t>;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float*</a:t>
                      </a:r>
                      <a:r>
                        <a:rPr lang="en-US" altLang="zh-HK" dirty="0" err="1"/>
                        <a:t>Pointx</a:t>
                      </a:r>
                      <a:r>
                        <a:rPr lang="en-US" altLang="zh-HK" dirty="0"/>
                        <a:t>;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double*</a:t>
                      </a:r>
                      <a:r>
                        <a:rPr lang="en-US" altLang="zh-HK" dirty="0" err="1"/>
                        <a:t>Pointx</a:t>
                      </a:r>
                      <a:r>
                        <a:rPr lang="en-US" altLang="zh-HK" dirty="0"/>
                        <a:t>;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HK" dirty="0"/>
                        <a:t>char*</a:t>
                      </a:r>
                      <a:r>
                        <a:rPr lang="en-US" altLang="zh-HK" dirty="0" err="1"/>
                        <a:t>Pointx</a:t>
                      </a:r>
                      <a:r>
                        <a:rPr lang="en-US" altLang="zh-HK" dirty="0"/>
                        <a:t>;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859245" y="4131106"/>
            <a:ext cx="134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4730" y="4140627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9230" y="3657600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9230" y="4594745"/>
            <a:ext cx="1229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Address</a:t>
            </a:r>
          </a:p>
        </p:txBody>
      </p:sp>
      <p:sp>
        <p:nvSpPr>
          <p:cNvPr id="11" name="Left Brace 10"/>
          <p:cNvSpPr/>
          <p:nvPr/>
        </p:nvSpPr>
        <p:spPr>
          <a:xfrm>
            <a:off x="6349415" y="3879761"/>
            <a:ext cx="228600" cy="94666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164836" y="5770220"/>
            <a:ext cx="2858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8*8=64bits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36EFA-DC74-E0FB-0949-18798A3EE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3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FD4E21-2F6A-2E2A-A80A-9B921F812332}"/>
              </a:ext>
            </a:extLst>
          </p:cNvPr>
          <p:cNvSpPr txBox="1"/>
          <p:nvPr/>
        </p:nvSpPr>
        <p:spPr>
          <a:xfrm>
            <a:off x="691052" y="6400800"/>
            <a:ext cx="17556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lec08-01-size.cpp</a:t>
            </a:r>
          </a:p>
        </p:txBody>
      </p:sp>
    </p:spTree>
    <p:extLst>
      <p:ext uri="{BB962C8B-B14F-4D97-AF65-F5344CB8AC3E}">
        <p14:creationId xmlns:p14="http://schemas.microsoft.com/office/powerpoint/2010/main" val="346380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 animBg="1"/>
      <p:bldP spid="1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itchFamily="2" charset="-122"/>
              </a:rPr>
              <a:t>The NULL pointer</a:t>
            </a:r>
            <a:endParaRPr lang="en-US" altLang="zh-TW" dirty="0">
              <a:ea typeface="新細明體" charset="-120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828800"/>
            <a:ext cx="7653338" cy="42672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r>
              <a:rPr lang="en-US" altLang="zh-CN" sz="2200" dirty="0">
                <a:ea typeface="SimSun" pitchFamily="2" charset="-122"/>
              </a:rPr>
              <a:t>A </a:t>
            </a:r>
            <a:r>
              <a:rPr lang="en-US" altLang="zh-CN" sz="2200" dirty="0">
                <a:solidFill>
                  <a:srgbClr val="C00000"/>
                </a:solidFill>
                <a:ea typeface="SimSun" pitchFamily="2" charset="-122"/>
              </a:rPr>
              <a:t>special</a:t>
            </a:r>
            <a:r>
              <a:rPr lang="en-US" altLang="zh-CN" sz="2200" dirty="0">
                <a:ea typeface="SimSun" pitchFamily="2" charset="-122"/>
              </a:rPr>
              <a:t> value that can be assigned to </a:t>
            </a:r>
            <a:r>
              <a:rPr lang="en-US" altLang="zh-CN" sz="2200" b="1" dirty="0">
                <a:ea typeface="SimSun" pitchFamily="2" charset="-122"/>
              </a:rPr>
              <a:t>any</a:t>
            </a:r>
            <a:r>
              <a:rPr lang="en-US" altLang="zh-CN" sz="2200" dirty="0">
                <a:ea typeface="SimSun" pitchFamily="2" charset="-122"/>
              </a:rPr>
              <a:t> type of pointer variable (e.g., </a:t>
            </a:r>
            <a:r>
              <a:rPr lang="en-US" altLang="zh-CN" sz="2200" dirty="0" err="1">
                <a:ea typeface="SimSun" pitchFamily="2" charset="-122"/>
              </a:rPr>
              <a:t>int</a:t>
            </a:r>
            <a:r>
              <a:rPr lang="en-US" altLang="zh-CN" sz="2200" dirty="0">
                <a:ea typeface="SimSun" pitchFamily="2" charset="-122"/>
              </a:rPr>
              <a:t> *a=NULL; double*b=NULL;)</a:t>
            </a:r>
          </a:p>
          <a:p>
            <a:pPr eaLnBrk="1" hangingPunct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r>
              <a:rPr lang="en-US" altLang="zh-CN" sz="2200" dirty="0">
                <a:ea typeface="SimSun" pitchFamily="2" charset="-122"/>
              </a:rPr>
              <a:t>A </a:t>
            </a:r>
            <a:r>
              <a:rPr lang="en-US" altLang="zh-CN" sz="2200" b="1" dirty="0">
                <a:ea typeface="SimSun" pitchFamily="2" charset="-122"/>
              </a:rPr>
              <a:t>symbolic constant</a:t>
            </a:r>
            <a:r>
              <a:rPr lang="en-US" altLang="zh-CN" sz="2200" dirty="0">
                <a:ea typeface="SimSun" pitchFamily="2" charset="-122"/>
              </a:rPr>
              <a:t> defined in several standard library headers, e.g. </a:t>
            </a:r>
            <a:r>
              <a:rPr lang="en-US" altLang="zh-CN" sz="2200" dirty="0">
                <a:latin typeface="Courier New" pitchFamily="49" charset="0"/>
                <a:ea typeface="SimSun" pitchFamily="2" charset="-122"/>
              </a:rPr>
              <a:t>&lt;</a:t>
            </a:r>
            <a:r>
              <a:rPr lang="en-US" altLang="zh-CN" sz="2200" dirty="0" err="1">
                <a:latin typeface="Courier New" pitchFamily="49" charset="0"/>
                <a:ea typeface="SimSun" pitchFamily="2" charset="-122"/>
              </a:rPr>
              <a:t>iostream</a:t>
            </a:r>
            <a:r>
              <a:rPr lang="en-US" altLang="zh-CN" sz="2200" dirty="0">
                <a:latin typeface="Courier New" pitchFamily="49" charset="0"/>
                <a:ea typeface="SimSun" pitchFamily="2" charset="-122"/>
              </a:rPr>
              <a:t>&gt;</a:t>
            </a:r>
          </a:p>
          <a:p>
            <a:pPr eaLnBrk="1" hangingPunct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r>
              <a:rPr lang="en-US" altLang="zh-CN" sz="2200" dirty="0">
                <a:ea typeface="SimSun" pitchFamily="2" charset="-122"/>
              </a:rPr>
              <a:t>When assigned to a pointer variable, that variable points to </a:t>
            </a:r>
            <a:r>
              <a:rPr lang="en-US" altLang="zh-CN" sz="2200" dirty="0">
                <a:solidFill>
                  <a:srgbClr val="FF0000"/>
                </a:solidFill>
                <a:ea typeface="SimSun" pitchFamily="2" charset="-122"/>
              </a:rPr>
              <a:t>nothing</a:t>
            </a:r>
          </a:p>
          <a:p>
            <a:pPr eaLnBrk="1" hangingPunct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r>
              <a:rPr lang="en-US" altLang="zh-CN" sz="2200" dirty="0">
                <a:ea typeface="SimSun" pitchFamily="2" charset="-122"/>
              </a:rPr>
              <a:t>Example</a:t>
            </a:r>
          </a:p>
          <a:p>
            <a:pPr lvl="1" eaLnBrk="1" hangingPunct="1">
              <a:buClr>
                <a:schemeClr val="tx1"/>
              </a:buClr>
              <a:buSzPct val="50000"/>
              <a:buFont typeface="Wingdings" pitchFamily="2" charset="2"/>
              <a:buNone/>
            </a:pPr>
            <a:r>
              <a:rPr lang="en-US" altLang="zh-TW" sz="2000" dirty="0" err="1">
                <a:latin typeface="Courier New" pitchFamily="49" charset="0"/>
                <a:ea typeface="新細明體" charset="-120"/>
              </a:rPr>
              <a:t>int</a:t>
            </a:r>
            <a:r>
              <a:rPr lang="en-US" altLang="zh-TW" sz="2000" dirty="0">
                <a:latin typeface="Courier New" pitchFamily="49" charset="0"/>
                <a:ea typeface="新細明體" charset="-120"/>
              </a:rPr>
              <a:t> *ptr1 = NULL; </a:t>
            </a:r>
          </a:p>
          <a:p>
            <a:pPr lvl="1" eaLnBrk="1" hangingPunct="1">
              <a:buClr>
                <a:schemeClr val="tx1"/>
              </a:buClr>
              <a:buSzPct val="50000"/>
              <a:buFont typeface="Wingdings" pitchFamily="2" charset="2"/>
              <a:buNone/>
            </a:pPr>
            <a:r>
              <a:rPr lang="en-US" altLang="zh-TW" sz="2000" dirty="0" err="1">
                <a:latin typeface="Courier New" pitchFamily="49" charset="0"/>
                <a:ea typeface="新細明體" charset="-120"/>
              </a:rPr>
              <a:t>int</a:t>
            </a:r>
            <a:r>
              <a:rPr lang="en-US" altLang="zh-TW" sz="2000" dirty="0">
                <a:latin typeface="Courier New" pitchFamily="49" charset="0"/>
                <a:ea typeface="新細明體" charset="-120"/>
              </a:rPr>
              <a:t> *ptr2 = 0;</a:t>
            </a:r>
          </a:p>
          <a:p>
            <a:pPr lvl="1" eaLnBrk="1" hangingPunct="1">
              <a:buClr>
                <a:schemeClr val="tx1"/>
              </a:buClr>
              <a:buSzPct val="50000"/>
              <a:buFont typeface="Wingdings" pitchFamily="2" charset="2"/>
              <a:buNone/>
            </a:pPr>
            <a:endParaRPr lang="en-US" altLang="zh-TW" sz="2000" dirty="0">
              <a:ea typeface="新細明體" charset="-12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AF0BDB-DC0F-E1E4-20D6-03BC72C3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4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C9E624-9807-8845-BD66-22B7CCCEC1C1}"/>
              </a:ext>
            </a:extLst>
          </p:cNvPr>
          <p:cNvSpPr txBox="1"/>
          <p:nvPr/>
        </p:nvSpPr>
        <p:spPr>
          <a:xfrm>
            <a:off x="691052" y="6395088"/>
            <a:ext cx="17556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lec08-02-null.cpp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400" dirty="0">
                <a:ea typeface="新細明體" charset="-120"/>
              </a:rPr>
              <a:t>Operations on pointers</a:t>
            </a:r>
            <a:endParaRPr lang="en-GB" altLang="zh-HK" sz="3400" dirty="0">
              <a:ea typeface="新細明體" charset="-120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sz="2600" dirty="0">
                <a:ea typeface="新細明體" charset="-120"/>
              </a:rPr>
              <a:t>Copying the </a:t>
            </a:r>
            <a:r>
              <a:rPr lang="en-US" altLang="zh-TW" sz="2600" b="1" dirty="0">
                <a:ea typeface="新細明體" charset="-120"/>
              </a:rPr>
              <a:t>address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200" dirty="0">
                <a:latin typeface="Courier New" pitchFamily="49" charset="0"/>
                <a:ea typeface="新細明體" charset="-120"/>
              </a:rPr>
              <a:t>p = q;</a:t>
            </a:r>
          </a:p>
          <a:p>
            <a:pPr lvl="1" eaLnBrk="1" hangingPunct="1"/>
            <a:r>
              <a:rPr lang="en-US" altLang="zh-TW" sz="2200" dirty="0">
                <a:latin typeface="Courier New" pitchFamily="49" charset="0"/>
                <a:ea typeface="新細明體" charset="-120"/>
              </a:rPr>
              <a:t>p</a:t>
            </a:r>
            <a:r>
              <a:rPr lang="en-US" altLang="zh-TW" sz="2200" dirty="0">
                <a:ea typeface="新細明體" charset="-120"/>
              </a:rPr>
              <a:t> and </a:t>
            </a:r>
            <a:r>
              <a:rPr lang="en-US" altLang="zh-TW" sz="2200" dirty="0">
                <a:latin typeface="Courier New" pitchFamily="49" charset="0"/>
                <a:ea typeface="新細明體" charset="-120"/>
              </a:rPr>
              <a:t>q</a:t>
            </a:r>
            <a:r>
              <a:rPr lang="en-US" altLang="zh-TW" sz="2200" dirty="0">
                <a:ea typeface="新細明體" charset="-120"/>
              </a:rPr>
              <a:t> both point to the </a:t>
            </a:r>
            <a:r>
              <a:rPr lang="en-US" altLang="zh-TW" sz="2200" dirty="0">
                <a:solidFill>
                  <a:srgbClr val="C00000"/>
                </a:solidFill>
                <a:ea typeface="新細明體" charset="-120"/>
              </a:rPr>
              <a:t>same</a:t>
            </a:r>
            <a:r>
              <a:rPr lang="en-US" altLang="zh-TW" sz="2200" dirty="0">
                <a:ea typeface="新細明體" charset="-120"/>
              </a:rPr>
              <a:t> variable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79E7F7-A924-6309-1F6E-2A36DEB35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5</a:t>
            </a:fld>
            <a:endParaRPr lang="en-US" altLang="zh-TW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3600"/>
            <a:ext cx="7772400" cy="1144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>
                <a:ea typeface="新細明體" charset="-120"/>
              </a:rPr>
              <a:t>Copy the address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828800"/>
            <a:ext cx="3924300" cy="42672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Clr>
                <a:schemeClr val="tx1"/>
              </a:buClr>
              <a:buSzPct val="50000"/>
              <a:buFont typeface="Wingdings" pitchFamily="2" charset="2"/>
              <a:buNone/>
            </a:pPr>
            <a:r>
              <a:rPr lang="en-US" altLang="zh-TW" dirty="0">
                <a:ea typeface="新細明體" charset="-120"/>
              </a:rPr>
              <a:t>Copy address</a:t>
            </a:r>
            <a:r>
              <a:rPr lang="en-US" altLang="zh-TW" sz="2600" dirty="0">
                <a:ea typeface="新細明體" charset="-120"/>
              </a:rPr>
              <a:t>:  </a:t>
            </a:r>
            <a:r>
              <a:rPr lang="en-US" altLang="zh-TW" sz="2600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p = q;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2600" dirty="0">
              <a:latin typeface="Courier New" pitchFamily="49" charset="0"/>
              <a:ea typeface="新細明體" charset="-12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TW" sz="1700" dirty="0">
              <a:latin typeface="Courier New" pitchFamily="49" charset="0"/>
              <a:ea typeface="新細明體" charset="-12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TW" sz="1700" dirty="0">
              <a:latin typeface="Courier New" pitchFamily="49" charset="0"/>
              <a:ea typeface="新細明體" charset="-12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TW" sz="1700" dirty="0">
              <a:latin typeface="Courier New" pitchFamily="49" charset="0"/>
              <a:ea typeface="新細明體" charset="-120"/>
            </a:endParaRPr>
          </a:p>
          <a:p>
            <a:pPr eaLnBrk="1" hangingPunct="1">
              <a:buFont typeface="Wingdings" pitchFamily="2" charset="2"/>
              <a:buChar char="q"/>
            </a:pPr>
            <a:endParaRPr lang="en-US" altLang="zh-TW" sz="1700" dirty="0">
              <a:ea typeface="新細明體" charset="-120"/>
            </a:endParaRPr>
          </a:p>
          <a:p>
            <a:pPr eaLnBrk="1" hangingPunct="1">
              <a:buFont typeface="Wingdings" pitchFamily="2" charset="2"/>
              <a:buChar char="q"/>
            </a:pPr>
            <a:endParaRPr lang="en-US" altLang="zh-TW" sz="1700" dirty="0">
              <a:ea typeface="新細明體" charset="-120"/>
            </a:endParaRPr>
          </a:p>
          <a:p>
            <a:pPr eaLnBrk="1" hangingPunct="1">
              <a:buFont typeface="Wingdings" pitchFamily="2" charset="2"/>
              <a:buChar char="q"/>
            </a:pPr>
            <a:endParaRPr lang="zh-TW" altLang="en-US" sz="1700" dirty="0">
              <a:ea typeface="新細明體" charset="-120"/>
            </a:endParaRPr>
          </a:p>
        </p:txBody>
      </p:sp>
      <p:graphicFrame>
        <p:nvGraphicFramePr>
          <p:cNvPr id="7174" name="Object 24"/>
          <p:cNvGraphicFramePr>
            <a:graphicFrameLocks noGrp="1" noChangeAspect="1"/>
          </p:cNvGraphicFramePr>
          <p:nvPr>
            <p:ph sz="half" idx="2"/>
          </p:nvPr>
        </p:nvGraphicFramePr>
        <p:xfrm>
          <a:off x="4643438" y="1995488"/>
          <a:ext cx="3924300" cy="378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333895" imgH="6103866" progId="Visio.Drawing.11">
                  <p:embed/>
                </p:oleObj>
              </mc:Choice>
              <mc:Fallback>
                <p:oleObj name="Visio" r:id="rId3" imgW="6333895" imgH="6103866" progId="Visio.Drawing.11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995488"/>
                        <a:ext cx="3924300" cy="378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Text Box 23"/>
          <p:cNvSpPr txBox="1">
            <a:spLocks noChangeArrowheads="1"/>
          </p:cNvSpPr>
          <p:nvPr/>
        </p:nvSpPr>
        <p:spPr bwMode="auto">
          <a:xfrm>
            <a:off x="927100" y="2362200"/>
            <a:ext cx="35052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Arial" charset="0"/>
                <a:ea typeface="新細明體" charset="-120"/>
              </a:rPr>
              <a:t>We copy the content (</a:t>
            </a:r>
            <a:r>
              <a:rPr kumimoji="1" lang="en-US" altLang="zh-TW" sz="2000" b="1" dirty="0">
                <a:solidFill>
                  <a:srgbClr val="00B0F0"/>
                </a:solidFill>
                <a:latin typeface="Arial" charset="0"/>
                <a:ea typeface="新細明體" charset="-120"/>
              </a:rPr>
              <a:t>which is an address</a:t>
            </a:r>
            <a:r>
              <a:rPr kumimoji="1" lang="en-US" altLang="zh-TW" sz="2000" dirty="0">
                <a:latin typeface="Arial" charset="0"/>
                <a:ea typeface="新細明體" charset="-120"/>
              </a:rPr>
              <a:t>) of </a:t>
            </a:r>
            <a:r>
              <a:rPr kumimoji="1" lang="en-US" altLang="zh-TW" sz="200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q</a:t>
            </a:r>
            <a:r>
              <a:rPr kumimoji="1" lang="en-US" altLang="zh-TW" sz="2000" dirty="0">
                <a:latin typeface="Arial" charset="0"/>
                <a:ea typeface="新細明體" charset="-120"/>
              </a:rPr>
              <a:t> to </a:t>
            </a:r>
            <a:r>
              <a:rPr kumimoji="1" lang="en-US" altLang="zh-TW" sz="200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p</a:t>
            </a:r>
            <a:r>
              <a:rPr kumimoji="1" lang="en-US" altLang="zh-TW" sz="2000" dirty="0">
                <a:latin typeface="Arial" charset="0"/>
                <a:ea typeface="新細明體" charset="-120"/>
              </a:rPr>
              <a:t>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kumimoji="1" lang="en-US" altLang="zh-TW" sz="2000" dirty="0">
              <a:latin typeface="Arial" charset="0"/>
              <a:ea typeface="新細明體" charset="-120"/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Arial" charset="0"/>
                <a:ea typeface="新細明體" charset="-120"/>
              </a:rPr>
              <a:t>After the assignment, </a:t>
            </a:r>
            <a:r>
              <a:rPr kumimoji="1" lang="en-US" altLang="zh-TW" sz="200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p</a:t>
            </a:r>
            <a:r>
              <a:rPr kumimoji="1" lang="en-US" altLang="zh-TW" sz="2000" dirty="0">
                <a:latin typeface="Arial" charset="0"/>
                <a:ea typeface="新細明體" charset="-120"/>
              </a:rPr>
              <a:t> and </a:t>
            </a:r>
            <a:r>
              <a:rPr kumimoji="1" lang="en-US" altLang="zh-TW" sz="200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q</a:t>
            </a:r>
            <a:r>
              <a:rPr kumimoji="1" lang="en-US" altLang="zh-TW" sz="2000" dirty="0">
                <a:latin typeface="Arial" charset="0"/>
                <a:ea typeface="新細明體" charset="-120"/>
              </a:rPr>
              <a:t> point to the same location in memory.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kumimoji="1" lang="en-US" altLang="zh-TW" sz="2000" dirty="0">
              <a:latin typeface="Arial" charset="0"/>
              <a:ea typeface="新細明體" charset="-120"/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Arial" charset="0"/>
                <a:ea typeface="新細明體" charset="-120"/>
              </a:rPr>
              <a:t>Therefore, if we change </a:t>
            </a:r>
            <a:r>
              <a:rPr kumimoji="1" lang="en-US" altLang="zh-TW" sz="200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*p</a:t>
            </a:r>
            <a:r>
              <a:rPr kumimoji="1" lang="en-US" altLang="zh-TW" sz="2000" dirty="0">
                <a:latin typeface="Arial" charset="0"/>
                <a:ea typeface="新細明體" charset="-120"/>
              </a:rPr>
              <a:t>, </a:t>
            </a:r>
            <a:r>
              <a:rPr kumimoji="1" lang="en-US" altLang="zh-TW" sz="200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*q </a:t>
            </a:r>
            <a:r>
              <a:rPr kumimoji="1" lang="en-US" altLang="zh-TW" sz="2000" dirty="0">
                <a:latin typeface="Arial" charset="0"/>
                <a:ea typeface="新細明體" charset="-120"/>
              </a:rPr>
              <a:t>will also be changed</a:t>
            </a:r>
          </a:p>
        </p:txBody>
      </p:sp>
      <p:sp>
        <p:nvSpPr>
          <p:cNvPr id="2" name="Rectangle 1"/>
          <p:cNvSpPr/>
          <p:nvPr/>
        </p:nvSpPr>
        <p:spPr>
          <a:xfrm>
            <a:off x="4619826" y="3886199"/>
            <a:ext cx="4066973" cy="2057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671706-EE33-4EAA-0357-54A93BBC9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5E69E-0F67-4EF9-9BD9-4C150AC24529}" type="slidenum">
              <a:rPr lang="zh-TW" altLang="en-US" smtClean="0"/>
              <a:pPr>
                <a:defRPr/>
              </a:pPr>
              <a:t>6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400" dirty="0">
                <a:ea typeface="新細明體" charset="-120"/>
              </a:rPr>
              <a:t>Operations on pointers</a:t>
            </a:r>
            <a:endParaRPr lang="en-GB" altLang="zh-HK" sz="3400" dirty="0">
              <a:ea typeface="新細明體" charset="-120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zh-TW" sz="2600" dirty="0">
                <a:ea typeface="新細明體" charset="-120"/>
              </a:rPr>
              <a:t>Copying the </a:t>
            </a:r>
            <a:r>
              <a:rPr lang="en-US" altLang="zh-TW" sz="2600" b="1" dirty="0">
                <a:ea typeface="新細明體" charset="-120"/>
              </a:rPr>
              <a:t>content</a:t>
            </a:r>
          </a:p>
          <a:p>
            <a:pPr lvl="1" eaLnBrk="1" hangingPunct="1"/>
            <a:r>
              <a:rPr lang="en-US" altLang="zh-TW" sz="2200" dirty="0">
                <a:ea typeface="新細明體" charset="-120"/>
              </a:rPr>
              <a:t>Copy the value of the variable which is pointed by the </a:t>
            </a:r>
            <a:r>
              <a:rPr lang="en-US" altLang="zh-TW" sz="2100" dirty="0">
                <a:latin typeface="Courier New" pitchFamily="49" charset="0"/>
                <a:ea typeface="新細明體" charset="-120"/>
              </a:rPr>
              <a:t>p</a:t>
            </a:r>
            <a:r>
              <a:rPr lang="en-US" altLang="zh-TW" sz="2200" dirty="0">
                <a:ea typeface="新細明體" charset="-120"/>
              </a:rPr>
              <a:t> to the variable which is pointed by </a:t>
            </a:r>
            <a:r>
              <a:rPr lang="en-US" altLang="zh-TW" sz="2100" dirty="0">
                <a:latin typeface="Courier New" pitchFamily="49" charset="0"/>
                <a:ea typeface="新細明體" charset="-120"/>
              </a:rPr>
              <a:t>q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200" dirty="0">
                <a:latin typeface="Courier New" pitchFamily="49" charset="0"/>
                <a:ea typeface="新細明體" charset="-120"/>
              </a:rPr>
              <a:t>*p = *q;</a:t>
            </a:r>
          </a:p>
          <a:p>
            <a:pPr lvl="1" eaLnBrk="1" hangingPunct="1"/>
            <a:r>
              <a:rPr lang="en-US" altLang="zh-TW" sz="2200" dirty="0">
                <a:latin typeface="Courier New" pitchFamily="49" charset="0"/>
                <a:ea typeface="新細明體" charset="-120"/>
              </a:rPr>
              <a:t>p</a:t>
            </a:r>
            <a:r>
              <a:rPr lang="en-US" altLang="zh-TW" sz="2200" dirty="0">
                <a:ea typeface="新細明體" charset="-120"/>
              </a:rPr>
              <a:t> and </a:t>
            </a:r>
            <a:r>
              <a:rPr lang="en-US" altLang="zh-TW" sz="2200" dirty="0">
                <a:latin typeface="Courier New" pitchFamily="49" charset="0"/>
                <a:ea typeface="新細明體" charset="-120"/>
              </a:rPr>
              <a:t>q</a:t>
            </a:r>
            <a:r>
              <a:rPr lang="en-US" altLang="zh-TW" sz="2200" dirty="0">
                <a:ea typeface="新細明體" charset="-120"/>
              </a:rPr>
              <a:t> may point to different variables</a:t>
            </a:r>
            <a:endParaRPr lang="en-GB" altLang="zh-HK" sz="2200" dirty="0">
              <a:ea typeface="新細明體" charset="-12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EFD591-8F3F-7D90-0BB5-911E116E2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177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3600"/>
            <a:ext cx="7772400" cy="1144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>
                <a:ea typeface="新細明體" charset="-120"/>
              </a:rPr>
              <a:t>Copy the content</a:t>
            </a:r>
          </a:p>
        </p:txBody>
      </p:sp>
      <p:sp>
        <p:nvSpPr>
          <p:cNvPr id="8196" name="Rectangle 2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3924300" cy="42672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SzPct val="50000"/>
              <a:buFont typeface="Wingdings" pitchFamily="2" charset="2"/>
              <a:buNone/>
            </a:pPr>
            <a:r>
              <a:rPr lang="en-US" altLang="zh-TW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*p = *q;</a:t>
            </a:r>
          </a:p>
          <a:p>
            <a:pPr eaLnBrk="1" hangingPunct="1"/>
            <a:endParaRPr lang="zh-TW" altLang="en-US" sz="2000" dirty="0">
              <a:ea typeface="新細明體" charset="-120"/>
            </a:endParaRPr>
          </a:p>
        </p:txBody>
      </p:sp>
      <p:graphicFrame>
        <p:nvGraphicFramePr>
          <p:cNvPr id="8198" name="Object 24"/>
          <p:cNvGraphicFramePr>
            <a:graphicFrameLocks noGrp="1" noChangeAspect="1"/>
          </p:cNvGraphicFramePr>
          <p:nvPr>
            <p:ph sz="half" idx="2"/>
          </p:nvPr>
        </p:nvGraphicFramePr>
        <p:xfrm>
          <a:off x="4643438" y="1995488"/>
          <a:ext cx="3924300" cy="378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333895" imgH="6103866" progId="Visio.Drawing.11">
                  <p:embed/>
                </p:oleObj>
              </mc:Choice>
              <mc:Fallback>
                <p:oleObj name="Visio" r:id="rId3" imgW="6333895" imgH="6103866" progId="Visio.Drawing.11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995488"/>
                        <a:ext cx="3924300" cy="378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Text Box 22"/>
          <p:cNvSpPr txBox="1">
            <a:spLocks noChangeArrowheads="1"/>
          </p:cNvSpPr>
          <p:nvPr/>
        </p:nvSpPr>
        <p:spPr bwMode="auto">
          <a:xfrm>
            <a:off x="838200" y="2514600"/>
            <a:ext cx="37338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Arial" charset="0"/>
                <a:ea typeface="新細明體" charset="-120"/>
              </a:rPr>
              <a:t>We copy the value of the </a:t>
            </a:r>
            <a:r>
              <a:rPr kumimoji="1" lang="en-US" altLang="zh-TW" sz="2000" b="1" dirty="0">
                <a:latin typeface="Arial" charset="0"/>
                <a:ea typeface="新細明體" charset="-120"/>
              </a:rPr>
              <a:t>variable</a:t>
            </a:r>
            <a:r>
              <a:rPr kumimoji="1" lang="en-US" altLang="zh-TW" sz="2000" dirty="0">
                <a:latin typeface="Arial" charset="0"/>
                <a:ea typeface="新細明體" charset="-120"/>
              </a:rPr>
              <a:t> pointed by </a:t>
            </a:r>
            <a:r>
              <a:rPr kumimoji="1" lang="en-US" altLang="zh-TW" sz="200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q</a:t>
            </a:r>
            <a:r>
              <a:rPr kumimoji="1" lang="en-US" altLang="zh-TW" sz="2000" dirty="0">
                <a:latin typeface="Arial" charset="0"/>
                <a:ea typeface="新細明體" charset="-120"/>
              </a:rPr>
              <a:t> to the </a:t>
            </a:r>
            <a:r>
              <a:rPr kumimoji="1" lang="en-US" altLang="zh-TW" sz="2000" b="1" dirty="0">
                <a:latin typeface="Arial" charset="0"/>
                <a:ea typeface="新細明體" charset="-120"/>
              </a:rPr>
              <a:t>variable</a:t>
            </a:r>
            <a:r>
              <a:rPr kumimoji="1" lang="en-US" altLang="zh-TW" sz="2000" dirty="0">
                <a:latin typeface="Arial" charset="0"/>
                <a:ea typeface="新細明體" charset="-120"/>
              </a:rPr>
              <a:t> pointed by </a:t>
            </a:r>
            <a:r>
              <a:rPr kumimoji="1" lang="en-US" altLang="zh-TW" sz="200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p</a:t>
            </a:r>
            <a:r>
              <a:rPr kumimoji="1" lang="en-US" altLang="zh-TW" sz="2000" dirty="0">
                <a:latin typeface="Arial" charset="0"/>
                <a:ea typeface="新細明體" charset="-120"/>
              </a:rPr>
              <a:t>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kumimoji="1" lang="en-US" altLang="zh-TW" sz="2000" dirty="0">
              <a:latin typeface="Arial" charset="0"/>
              <a:ea typeface="新細明體" charset="-12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Arial" charset="0"/>
                <a:ea typeface="新細明體" charset="-120"/>
              </a:rPr>
              <a:t>After the assignment, </a:t>
            </a:r>
            <a:r>
              <a:rPr kumimoji="1" lang="en-US" altLang="zh-TW" sz="200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p</a:t>
            </a:r>
            <a:r>
              <a:rPr kumimoji="1" lang="en-US" altLang="zh-TW" sz="2000" dirty="0">
                <a:latin typeface="Arial" charset="0"/>
                <a:ea typeface="新細明體" charset="-120"/>
              </a:rPr>
              <a:t> and </a:t>
            </a:r>
            <a:r>
              <a:rPr kumimoji="1" lang="en-US" altLang="zh-TW" sz="200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q</a:t>
            </a:r>
            <a:r>
              <a:rPr kumimoji="1" lang="en-US" altLang="zh-TW" sz="2000" dirty="0">
                <a:latin typeface="Arial" charset="0"/>
                <a:ea typeface="新細明體" charset="-120"/>
              </a:rPr>
              <a:t> still point to different locations in memory.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kumimoji="1" lang="en-US" altLang="zh-TW" sz="2000" dirty="0">
              <a:latin typeface="Arial" charset="0"/>
              <a:ea typeface="新細明體" charset="-12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latin typeface="Arial" charset="0"/>
                <a:ea typeface="新細明體" charset="-120"/>
              </a:rPr>
              <a:t>If we change </a:t>
            </a:r>
            <a:r>
              <a:rPr kumimoji="1" lang="en-US" altLang="zh-TW" sz="200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*p</a:t>
            </a:r>
            <a:r>
              <a:rPr kumimoji="1" lang="en-US" altLang="zh-TW" sz="2000" dirty="0">
                <a:latin typeface="Arial" charset="0"/>
                <a:ea typeface="新細明體" charset="-120"/>
              </a:rPr>
              <a:t>, </a:t>
            </a:r>
            <a:r>
              <a:rPr kumimoji="1" lang="en-US" altLang="zh-TW" sz="200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*q</a:t>
            </a:r>
            <a:r>
              <a:rPr kumimoji="1" lang="en-US" altLang="zh-TW" sz="2000" dirty="0">
                <a:latin typeface="Arial" charset="0"/>
                <a:ea typeface="新細明體" charset="-120"/>
              </a:rPr>
              <a:t> will not be changed as </a:t>
            </a:r>
            <a:r>
              <a:rPr kumimoji="1" lang="en-US" altLang="zh-TW" sz="200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p</a:t>
            </a:r>
            <a:r>
              <a:rPr kumimoji="1" lang="en-US" altLang="zh-TW" sz="2000" dirty="0">
                <a:latin typeface="Arial" charset="0"/>
                <a:ea typeface="新細明體" charset="-120"/>
              </a:rPr>
              <a:t> and </a:t>
            </a:r>
            <a:r>
              <a:rPr kumimoji="1" lang="en-US" altLang="zh-TW" sz="2000" dirty="0">
                <a:solidFill>
                  <a:srgbClr val="FF0000"/>
                </a:solidFill>
                <a:latin typeface="Arial" charset="0"/>
                <a:ea typeface="新細明體" charset="-120"/>
              </a:rPr>
              <a:t>q</a:t>
            </a:r>
            <a:r>
              <a:rPr kumimoji="1" lang="en-US" altLang="zh-TW" sz="2000" dirty="0">
                <a:latin typeface="Arial" charset="0"/>
                <a:ea typeface="新細明體" charset="-120"/>
              </a:rPr>
              <a:t> point to different location in memory.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9826" y="3886199"/>
            <a:ext cx="4066973" cy="2057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21FFE4-AD50-99DF-3363-99DBB17A2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5E69E-0F67-4EF9-9BD9-4C150AC24529}" type="slidenum">
              <a:rPr lang="zh-TW" altLang="en-US" smtClean="0"/>
              <a:pPr>
                <a:defRPr/>
              </a:pPr>
              <a:t>8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385C-02B4-D045-FC41-AA38F602C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1FA27-5BD8-A7BC-3C47-1F13148FC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9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F1B37-41FA-EE43-9057-EEC4B868DC6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More about pointer</a:t>
            </a:r>
          </a:p>
          <a:p>
            <a:endParaRPr lang="en-US" dirty="0"/>
          </a:p>
          <a:p>
            <a:r>
              <a:rPr lang="en-US" dirty="0"/>
              <a:t>Applications of pointer</a:t>
            </a:r>
          </a:p>
          <a:p>
            <a:endParaRPr lang="en-US" dirty="0"/>
          </a:p>
          <a:p>
            <a:r>
              <a:rPr lang="en-US" dirty="0"/>
              <a:t>More about class</a:t>
            </a:r>
          </a:p>
        </p:txBody>
      </p:sp>
    </p:spTree>
    <p:extLst>
      <p:ext uri="{BB962C8B-B14F-4D97-AF65-F5344CB8AC3E}">
        <p14:creationId xmlns:p14="http://schemas.microsoft.com/office/powerpoint/2010/main" val="4034616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400" dirty="0">
                <a:ea typeface="新細明體" charset="-120"/>
              </a:rPr>
              <a:t>Relationship between arrays and pointers</a:t>
            </a:r>
          </a:p>
        </p:txBody>
      </p:sp>
      <p:graphicFrame>
        <p:nvGraphicFramePr>
          <p:cNvPr id="9223" name="Object 36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93097005"/>
              </p:ext>
            </p:extLst>
          </p:nvPr>
        </p:nvGraphicFramePr>
        <p:xfrm>
          <a:off x="4114800" y="1752600"/>
          <a:ext cx="4862513" cy="2409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624496" imgH="2787590" progId="Visio.Drawing.11">
                  <p:embed/>
                </p:oleObj>
              </mc:Choice>
              <mc:Fallback>
                <p:oleObj name="Visio" r:id="rId3" imgW="5624496" imgH="2787590" progId="Visio.Drawing.11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752600"/>
                        <a:ext cx="4862513" cy="24099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Text Box 24"/>
          <p:cNvSpPr txBox="1">
            <a:spLocks noChangeArrowheads="1"/>
          </p:cNvSpPr>
          <p:nvPr/>
        </p:nvSpPr>
        <p:spPr bwMode="auto">
          <a:xfrm>
            <a:off x="1066800" y="1676400"/>
            <a:ext cx="2787650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kumimoji="1" lang="en-US" altLang="zh-TW" dirty="0" err="1">
                <a:latin typeface="Courier New" pitchFamily="49" charset="0"/>
                <a:ea typeface="新細明體" charset="-120"/>
              </a:rPr>
              <a:t>int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 </a:t>
            </a:r>
            <a:r>
              <a:rPr kumimoji="1" lang="en-US" altLang="zh-TW" b="1" dirty="0" err="1">
                <a:solidFill>
                  <a:srgbClr val="0070C0"/>
                </a:solidFill>
                <a:latin typeface="Courier New" pitchFamily="49" charset="0"/>
                <a:ea typeface="新細明體" charset="-120"/>
              </a:rPr>
              <a:t>num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[2]={40,50};</a:t>
            </a:r>
          </a:p>
          <a:p>
            <a:pPr eaLnBrk="1" hangingPunct="1"/>
            <a:r>
              <a:rPr kumimoji="1" lang="en-US" altLang="zh-TW" b="1" dirty="0" err="1">
                <a:solidFill>
                  <a:srgbClr val="0070C0"/>
                </a:solidFill>
                <a:latin typeface="Courier New" pitchFamily="49" charset="0"/>
                <a:ea typeface="新細明體" charset="-120"/>
              </a:rPr>
              <a:t>num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[0]=400;</a:t>
            </a:r>
          </a:p>
          <a:p>
            <a:pPr eaLnBrk="1" hangingPunct="1"/>
            <a:r>
              <a:rPr kumimoji="1" lang="en-US" altLang="zh-TW" b="1" dirty="0" err="1">
                <a:solidFill>
                  <a:srgbClr val="0070C0"/>
                </a:solidFill>
                <a:latin typeface="Courier New" pitchFamily="49" charset="0"/>
                <a:ea typeface="新細明體" charset="-120"/>
              </a:rPr>
              <a:t>num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[1]=500;</a:t>
            </a:r>
          </a:p>
        </p:txBody>
      </p:sp>
      <p:sp>
        <p:nvSpPr>
          <p:cNvPr id="9220" name="Text Box 25"/>
          <p:cNvSpPr txBox="1">
            <a:spLocks noChangeArrowheads="1"/>
          </p:cNvSpPr>
          <p:nvPr/>
        </p:nvSpPr>
        <p:spPr bwMode="auto">
          <a:xfrm>
            <a:off x="1069616" y="3024347"/>
            <a:ext cx="2803973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kumimoji="1" lang="en-US" altLang="zh-TW" dirty="0" err="1">
                <a:latin typeface="Courier New" pitchFamily="49" charset="0"/>
                <a:ea typeface="新細明體" charset="-120"/>
              </a:rPr>
              <a:t>int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 </a:t>
            </a:r>
            <a:r>
              <a:rPr kumimoji="1" lang="en-US" altLang="zh-TW" b="1" dirty="0" err="1">
                <a:solidFill>
                  <a:srgbClr val="0070C0"/>
                </a:solidFill>
                <a:latin typeface="Courier New" pitchFamily="49" charset="0"/>
                <a:ea typeface="新細明體" charset="-120"/>
              </a:rPr>
              <a:t>num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[2]={40,50};</a:t>
            </a:r>
          </a:p>
          <a:p>
            <a:pPr eaLnBrk="1" hangingPunct="1"/>
            <a:r>
              <a:rPr kumimoji="1" lang="en-US" altLang="zh-TW" dirty="0" err="1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int</a:t>
            </a:r>
            <a:r>
              <a:rPr kumimoji="1" lang="en-US" altLang="zh-TW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 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*</a:t>
            </a:r>
            <a:r>
              <a:rPr kumimoji="1" lang="en-US" altLang="zh-TW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p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=</a:t>
            </a:r>
            <a:r>
              <a:rPr kumimoji="1" lang="en-US" altLang="zh-TW" b="1" dirty="0" err="1">
                <a:solidFill>
                  <a:srgbClr val="0070C0"/>
                </a:solidFill>
                <a:latin typeface="Courier New" pitchFamily="49" charset="0"/>
                <a:ea typeface="新細明體" charset="-120"/>
              </a:rPr>
              <a:t>num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;</a:t>
            </a:r>
          </a:p>
          <a:p>
            <a:pPr eaLnBrk="1" hangingPunct="1"/>
            <a:r>
              <a:rPr kumimoji="1" lang="en-US" altLang="zh-TW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p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[0]=400; </a:t>
            </a:r>
          </a:p>
          <a:p>
            <a:pPr eaLnBrk="1" hangingPunct="1"/>
            <a:r>
              <a:rPr kumimoji="1" lang="en-US" altLang="zh-TW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p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[1]=500;  </a:t>
            </a:r>
            <a:endParaRPr kumimoji="1" lang="en-US" altLang="zh-TW" u="sng" dirty="0">
              <a:solidFill>
                <a:srgbClr val="006600"/>
              </a:solidFill>
              <a:latin typeface="Courier New" pitchFamily="49" charset="0"/>
              <a:ea typeface="新細明體" charset="-120"/>
            </a:endParaRPr>
          </a:p>
        </p:txBody>
      </p:sp>
      <p:sp>
        <p:nvSpPr>
          <p:cNvPr id="9221" name="Text Box 26"/>
          <p:cNvSpPr txBox="1">
            <a:spLocks noChangeArrowheads="1"/>
          </p:cNvSpPr>
          <p:nvPr/>
        </p:nvSpPr>
        <p:spPr bwMode="auto">
          <a:xfrm>
            <a:off x="990600" y="2643347"/>
            <a:ext cx="156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kumimoji="1" lang="en-US" altLang="zh-TW" dirty="0">
                <a:latin typeface="Comic Sans MS" pitchFamily="66" charset="0"/>
                <a:ea typeface="新細明體" charset="-120"/>
              </a:rPr>
              <a:t>Equivalent to</a:t>
            </a:r>
          </a:p>
        </p:txBody>
      </p:sp>
      <p:sp>
        <p:nvSpPr>
          <p:cNvPr id="9222" name="Rectangle 27"/>
          <p:cNvSpPr>
            <a:spLocks noChangeArrowheads="1"/>
          </p:cNvSpPr>
          <p:nvPr/>
        </p:nvSpPr>
        <p:spPr bwMode="auto">
          <a:xfrm>
            <a:off x="838200" y="4419600"/>
            <a:ext cx="7772400" cy="175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TW" sz="1900" u="sng" dirty="0">
                <a:latin typeface="+mn-lt"/>
                <a:ea typeface="新細明體" charset="-120"/>
              </a:rPr>
              <a:t>We can use array-like notation in pointers</a:t>
            </a:r>
          </a:p>
          <a:p>
            <a:pPr eaLnBrk="1" hangingPunct="1"/>
            <a:r>
              <a:rPr kumimoji="1" lang="en-US" altLang="zh-TW" b="1" dirty="0" err="1">
                <a:solidFill>
                  <a:srgbClr val="0070C0"/>
                </a:solidFill>
                <a:latin typeface="+mn-lt"/>
                <a:ea typeface="新細明體" charset="-120"/>
              </a:rPr>
              <a:t>num</a:t>
            </a:r>
            <a:r>
              <a:rPr kumimoji="1" lang="en-US" altLang="zh-TW" dirty="0">
                <a:solidFill>
                  <a:srgbClr val="0070C0"/>
                </a:solidFill>
                <a:latin typeface="+mn-lt"/>
                <a:ea typeface="新細明體" charset="-120"/>
              </a:rPr>
              <a:t> </a:t>
            </a:r>
            <a:r>
              <a:rPr kumimoji="1" lang="en-US" altLang="zh-TW" dirty="0">
                <a:latin typeface="+mn-lt"/>
                <a:ea typeface="新細明體" charset="-120"/>
              </a:rPr>
              <a:t>is a </a:t>
            </a:r>
            <a:r>
              <a:rPr kumimoji="1" lang="en-US" altLang="zh-TW" dirty="0">
                <a:solidFill>
                  <a:srgbClr val="FF0000"/>
                </a:solidFill>
                <a:latin typeface="+mn-lt"/>
                <a:ea typeface="新細明體" charset="-120"/>
              </a:rPr>
              <a:t>constant </a:t>
            </a:r>
            <a:r>
              <a:rPr kumimoji="1" lang="en-US" altLang="zh-TW" dirty="0">
                <a:latin typeface="+mn-lt"/>
                <a:ea typeface="新細明體" charset="-120"/>
              </a:rPr>
              <a:t>pointer to the </a:t>
            </a:r>
            <a:r>
              <a:rPr kumimoji="1" lang="en-US" altLang="zh-TW" dirty="0">
                <a:solidFill>
                  <a:srgbClr val="FF0000"/>
                </a:solidFill>
                <a:latin typeface="+mn-lt"/>
                <a:ea typeface="新細明體" charset="-120"/>
              </a:rPr>
              <a:t>first</a:t>
            </a:r>
            <a:r>
              <a:rPr kumimoji="1" lang="en-US" altLang="zh-TW" dirty="0">
                <a:latin typeface="+mn-lt"/>
                <a:ea typeface="新細明體" charset="-120"/>
              </a:rPr>
              <a:t> byte of the array;</a:t>
            </a:r>
          </a:p>
          <a:p>
            <a:pPr eaLnBrk="1" hangingPunct="1"/>
            <a:r>
              <a:rPr kumimoji="1" lang="en-US" altLang="zh-TW" dirty="0">
                <a:solidFill>
                  <a:srgbClr val="FF0000"/>
                </a:solidFill>
                <a:latin typeface="+mn-lt"/>
                <a:ea typeface="新細明體" charset="-120"/>
              </a:rPr>
              <a:t>p</a:t>
            </a:r>
            <a:r>
              <a:rPr kumimoji="1" lang="en-US" altLang="zh-TW" dirty="0">
                <a:latin typeface="+mn-lt"/>
                <a:ea typeface="新細明體" charset="-120"/>
              </a:rPr>
              <a:t> is a pointer variable; and thus the value of </a:t>
            </a:r>
            <a:r>
              <a:rPr kumimoji="1" lang="en-US" altLang="zh-TW" dirty="0">
                <a:solidFill>
                  <a:srgbClr val="FF0000"/>
                </a:solidFill>
                <a:latin typeface="+mn-lt"/>
                <a:ea typeface="新細明體" charset="-120"/>
              </a:rPr>
              <a:t>p</a:t>
            </a:r>
            <a:r>
              <a:rPr kumimoji="1" lang="en-US" altLang="zh-TW" dirty="0">
                <a:latin typeface="+mn-lt"/>
                <a:ea typeface="新細明體" charset="-120"/>
              </a:rPr>
              <a:t> can be changed.</a:t>
            </a:r>
          </a:p>
          <a:p>
            <a:pPr eaLnBrk="1" hangingPunct="1"/>
            <a:r>
              <a:rPr kumimoji="1" lang="en-US" altLang="zh-TW" dirty="0">
                <a:solidFill>
                  <a:srgbClr val="FF0000"/>
                </a:solidFill>
                <a:latin typeface="+mn-lt"/>
                <a:ea typeface="新細明體" charset="-120"/>
              </a:rPr>
              <a:t>p</a:t>
            </a:r>
            <a:r>
              <a:rPr kumimoji="1" lang="en-US" altLang="zh-TW" dirty="0">
                <a:latin typeface="+mn-lt"/>
                <a:ea typeface="新細明體" charset="-120"/>
              </a:rPr>
              <a:t>=</a:t>
            </a:r>
            <a:r>
              <a:rPr kumimoji="1" lang="en-US" altLang="zh-TW" b="1" dirty="0" err="1">
                <a:solidFill>
                  <a:srgbClr val="0070C0"/>
                </a:solidFill>
                <a:latin typeface="+mn-lt"/>
                <a:ea typeface="新細明體" charset="-120"/>
              </a:rPr>
              <a:t>num</a:t>
            </a:r>
            <a:r>
              <a:rPr kumimoji="1" lang="en-US" altLang="zh-TW" dirty="0">
                <a:latin typeface="+mn-lt"/>
                <a:ea typeface="新細明體" charset="-120"/>
              </a:rPr>
              <a:t>;</a:t>
            </a:r>
          </a:p>
          <a:p>
            <a:pPr eaLnBrk="1" hangingPunct="1"/>
            <a:r>
              <a:rPr kumimoji="1" lang="en-US" altLang="zh-TW" dirty="0">
                <a:latin typeface="+mn-lt"/>
                <a:ea typeface="新細明體" charset="-120"/>
              </a:rPr>
              <a:t>However, the value of </a:t>
            </a:r>
            <a:r>
              <a:rPr kumimoji="1" lang="en-US" altLang="zh-TW" b="1" dirty="0" err="1">
                <a:solidFill>
                  <a:srgbClr val="0070C0"/>
                </a:solidFill>
                <a:latin typeface="+mn-lt"/>
                <a:ea typeface="新細明體" charset="-120"/>
              </a:rPr>
              <a:t>num</a:t>
            </a:r>
            <a:r>
              <a:rPr kumimoji="1" lang="en-US" altLang="zh-TW" dirty="0">
                <a:solidFill>
                  <a:srgbClr val="0070C0"/>
                </a:solidFill>
                <a:latin typeface="+mn-lt"/>
                <a:ea typeface="新細明體" charset="-120"/>
              </a:rPr>
              <a:t> </a:t>
            </a:r>
            <a:r>
              <a:rPr kumimoji="1" lang="en-US" altLang="zh-TW" dirty="0">
                <a:latin typeface="+mn-lt"/>
                <a:ea typeface="新細明體" charset="-120"/>
              </a:rPr>
              <a:t>cannot be changed.</a:t>
            </a:r>
          </a:p>
          <a:p>
            <a:pPr eaLnBrk="1" hangingPunct="1"/>
            <a:r>
              <a:rPr kumimoji="1" lang="en-US" altLang="zh-TW" b="1" dirty="0" err="1">
                <a:solidFill>
                  <a:srgbClr val="0070C0"/>
                </a:solidFill>
                <a:latin typeface="+mn-lt"/>
                <a:ea typeface="新細明體" charset="-120"/>
              </a:rPr>
              <a:t>num</a:t>
            </a:r>
            <a:r>
              <a:rPr kumimoji="1" lang="en-US" altLang="zh-TW" dirty="0">
                <a:latin typeface="+mn-lt"/>
                <a:ea typeface="新細明體" charset="-120"/>
              </a:rPr>
              <a:t>=</a:t>
            </a:r>
            <a:r>
              <a:rPr kumimoji="1" lang="en-US" altLang="zh-TW" dirty="0">
                <a:solidFill>
                  <a:srgbClr val="FF0000"/>
                </a:solidFill>
                <a:latin typeface="+mn-lt"/>
                <a:ea typeface="新細明體" charset="-120"/>
              </a:rPr>
              <a:t>p</a:t>
            </a:r>
            <a:r>
              <a:rPr kumimoji="1" lang="en-US" altLang="zh-TW" dirty="0">
                <a:latin typeface="+mn-lt"/>
                <a:ea typeface="新細明體" charset="-120"/>
              </a:rPr>
              <a:t>; </a:t>
            </a:r>
            <a:r>
              <a:rPr kumimoji="1" lang="en-US" altLang="zh-TW" dirty="0">
                <a:solidFill>
                  <a:srgbClr val="00B050"/>
                </a:solidFill>
                <a:latin typeface="+mn-lt"/>
                <a:ea typeface="新細明體" charset="-120"/>
              </a:rPr>
              <a:t>/*illegal*/</a:t>
            </a:r>
          </a:p>
        </p:txBody>
      </p:sp>
      <p:sp>
        <p:nvSpPr>
          <p:cNvPr id="2" name="Rectangle 1"/>
          <p:cNvSpPr/>
          <p:nvPr/>
        </p:nvSpPr>
        <p:spPr>
          <a:xfrm>
            <a:off x="3962400" y="1981200"/>
            <a:ext cx="1905000" cy="2362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203F94-D9B1-711D-1595-8C108953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10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nimBg="1"/>
      <p:bldP spid="9221" grpId="0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400" dirty="0">
                <a:ea typeface="新細明體" charset="-120"/>
              </a:rPr>
              <a:t>Relationship between arrays and pointers</a:t>
            </a:r>
          </a:p>
        </p:txBody>
      </p:sp>
      <p:graphicFrame>
        <p:nvGraphicFramePr>
          <p:cNvPr id="10247" name="Object 34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689209526"/>
              </p:ext>
            </p:extLst>
          </p:nvPr>
        </p:nvGraphicFramePr>
        <p:xfrm>
          <a:off x="4038600" y="1600200"/>
          <a:ext cx="4641183" cy="230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624496" imgH="2787590" progId="Visio.Drawing.11">
                  <p:embed/>
                </p:oleObj>
              </mc:Choice>
              <mc:Fallback>
                <p:oleObj name="Visio" r:id="rId3" imgW="5624496" imgH="2787590" progId="Visio.Drawing.11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600200"/>
                        <a:ext cx="4641183" cy="230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Text Box 24"/>
          <p:cNvSpPr txBox="1">
            <a:spLocks noChangeArrowheads="1"/>
          </p:cNvSpPr>
          <p:nvPr/>
        </p:nvSpPr>
        <p:spPr bwMode="auto">
          <a:xfrm>
            <a:off x="914400" y="1600200"/>
            <a:ext cx="2803973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kumimoji="1" lang="en-US" altLang="zh-TW" dirty="0" err="1">
                <a:latin typeface="Courier New" pitchFamily="49" charset="0"/>
                <a:ea typeface="新細明體" charset="-120"/>
              </a:rPr>
              <a:t>int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 </a:t>
            </a:r>
            <a:r>
              <a:rPr kumimoji="1" lang="en-US" altLang="zh-TW" dirty="0" err="1">
                <a:latin typeface="Courier New" pitchFamily="49" charset="0"/>
                <a:ea typeface="新細明體" charset="-120"/>
              </a:rPr>
              <a:t>num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[2]={40,50};</a:t>
            </a:r>
          </a:p>
          <a:p>
            <a:pPr eaLnBrk="1" hangingPunct="1"/>
            <a:r>
              <a:rPr kumimoji="1" lang="en-US" altLang="zh-TW" dirty="0" err="1">
                <a:latin typeface="Courier New" pitchFamily="49" charset="0"/>
                <a:ea typeface="新細明體" charset="-120"/>
              </a:rPr>
              <a:t>int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 </a:t>
            </a:r>
            <a:r>
              <a:rPr kumimoji="1" lang="en-US" altLang="zh-TW">
                <a:latin typeface="Courier New" pitchFamily="49" charset="0"/>
                <a:ea typeface="新細明體" charset="-120"/>
              </a:rPr>
              <a:t>*p=</a:t>
            </a:r>
            <a:r>
              <a:rPr kumimoji="1" lang="en-US" altLang="zh-TW" dirty="0" err="1">
                <a:latin typeface="Courier New" pitchFamily="49" charset="0"/>
                <a:ea typeface="新細明體" charset="-120"/>
              </a:rPr>
              <a:t>num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;</a:t>
            </a:r>
          </a:p>
          <a:p>
            <a:pPr eaLnBrk="1" hangingPunct="1"/>
            <a:r>
              <a:rPr kumimoji="1" lang="en-US" altLang="zh-TW" dirty="0">
                <a:latin typeface="Courier New" pitchFamily="49" charset="0"/>
                <a:ea typeface="新細明體" charset="-120"/>
              </a:rPr>
              <a:t>p[0]=400;</a:t>
            </a:r>
          </a:p>
          <a:p>
            <a:pPr eaLnBrk="1" hangingPunct="1"/>
            <a:r>
              <a:rPr kumimoji="1" lang="en-US" altLang="zh-TW" dirty="0">
                <a:latin typeface="Courier New" pitchFamily="49" charset="0"/>
                <a:ea typeface="新細明體" charset="-120"/>
              </a:rPr>
              <a:t>p[1]=500;</a:t>
            </a:r>
          </a:p>
        </p:txBody>
      </p:sp>
      <p:sp>
        <p:nvSpPr>
          <p:cNvPr id="10244" name="Text Box 28"/>
          <p:cNvSpPr txBox="1">
            <a:spLocks noChangeArrowheads="1"/>
          </p:cNvSpPr>
          <p:nvPr/>
        </p:nvSpPr>
        <p:spPr bwMode="auto">
          <a:xfrm>
            <a:off x="914400" y="3749714"/>
            <a:ext cx="4800600" cy="14773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kumimoji="1" lang="en-US" altLang="zh-TW" dirty="0" err="1">
                <a:latin typeface="Courier New" pitchFamily="49" charset="0"/>
                <a:ea typeface="新細明體" charset="-120"/>
              </a:rPr>
              <a:t>int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 </a:t>
            </a:r>
            <a:r>
              <a:rPr kumimoji="1" lang="en-US" altLang="zh-TW" dirty="0" err="1">
                <a:latin typeface="Courier New" pitchFamily="49" charset="0"/>
                <a:ea typeface="新細明體" charset="-120"/>
              </a:rPr>
              <a:t>num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[2]={40,50};</a:t>
            </a:r>
          </a:p>
          <a:p>
            <a:pPr eaLnBrk="1" hangingPunct="1"/>
            <a:r>
              <a:rPr kumimoji="1" lang="en-US" altLang="zh-TW" dirty="0" err="1">
                <a:latin typeface="Courier New" pitchFamily="49" charset="0"/>
                <a:ea typeface="新細明體" charset="-120"/>
              </a:rPr>
              <a:t>int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 *p=</a:t>
            </a:r>
            <a:r>
              <a:rPr kumimoji="1" lang="en-US" altLang="zh-TW" dirty="0" err="1">
                <a:latin typeface="Courier New" pitchFamily="49" charset="0"/>
                <a:ea typeface="新細明體" charset="-120"/>
              </a:rPr>
              <a:t>num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;  	/* p points to 90</a:t>
            </a:r>
          </a:p>
          <a:p>
            <a:pPr eaLnBrk="1" hangingPunct="1"/>
            <a:r>
              <a:rPr kumimoji="1" lang="en-US" altLang="zh-TW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*p=400;</a:t>
            </a:r>
          </a:p>
          <a:p>
            <a:pPr eaLnBrk="1" hangingPunct="1"/>
            <a:r>
              <a:rPr kumimoji="1" lang="en-US" altLang="zh-TW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++p; 		</a:t>
            </a:r>
          </a:p>
          <a:p>
            <a:pPr eaLnBrk="1" hangingPunct="1"/>
            <a:r>
              <a:rPr kumimoji="1" lang="en-US" altLang="zh-TW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*p=500;</a:t>
            </a:r>
          </a:p>
        </p:txBody>
      </p:sp>
      <p:sp>
        <p:nvSpPr>
          <p:cNvPr id="10245" name="Text Box 29"/>
          <p:cNvSpPr txBox="1">
            <a:spLocks noChangeArrowheads="1"/>
          </p:cNvSpPr>
          <p:nvPr/>
        </p:nvSpPr>
        <p:spPr bwMode="auto">
          <a:xfrm>
            <a:off x="914400" y="3200400"/>
            <a:ext cx="156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kumimoji="1" lang="en-US" altLang="zh-TW" dirty="0">
                <a:latin typeface="Comic Sans MS" pitchFamily="66" charset="0"/>
                <a:ea typeface="新細明體" charset="-120"/>
              </a:rPr>
              <a:t>Equivalent to</a:t>
            </a:r>
          </a:p>
        </p:txBody>
      </p:sp>
      <p:sp>
        <p:nvSpPr>
          <p:cNvPr id="2" name="Rounded Rectangular Callout 1"/>
          <p:cNvSpPr/>
          <p:nvPr/>
        </p:nvSpPr>
        <p:spPr>
          <a:xfrm>
            <a:off x="2209800" y="5943600"/>
            <a:ext cx="6019800" cy="609600"/>
          </a:xfrm>
          <a:prstGeom prst="wedgeRoundRectCallout">
            <a:avLst>
              <a:gd name="adj1" fmla="val -59652"/>
              <a:gd name="adj2" fmla="val -20527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ea typeface="新細明體" charset="-120"/>
              </a:rPr>
              <a:t>++p increments the content of p (an address) by </a:t>
            </a:r>
            <a:r>
              <a:rPr kumimoji="1" lang="en-US" altLang="zh-TW" dirty="0" err="1">
                <a:ea typeface="新細明體" charset="-120"/>
              </a:rPr>
              <a:t>sizeof</a:t>
            </a:r>
            <a:r>
              <a:rPr kumimoji="1" lang="en-US" altLang="zh-TW" dirty="0">
                <a:ea typeface="新細明體" charset="-120"/>
              </a:rPr>
              <a:t>(</a:t>
            </a:r>
            <a:r>
              <a:rPr kumimoji="1" lang="en-US" altLang="zh-TW" dirty="0" err="1">
                <a:ea typeface="新細明體" charset="-120"/>
              </a:rPr>
              <a:t>int</a:t>
            </a:r>
            <a:r>
              <a:rPr kumimoji="1" lang="en-US" altLang="zh-TW" dirty="0">
                <a:ea typeface="新細明體" charset="-120"/>
              </a:rPr>
              <a:t>) bytes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CB62DD-4A4A-7F84-5D33-CDD743271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11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nimBg="1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3600"/>
            <a:ext cx="7772400" cy="1144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>
                <a:ea typeface="新細明體" charset="-120"/>
              </a:rPr>
              <a:t>Arrays and pointers</a:t>
            </a:r>
          </a:p>
        </p:txBody>
      </p:sp>
      <p:graphicFrame>
        <p:nvGraphicFramePr>
          <p:cNvPr id="442371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927940925"/>
              </p:ext>
            </p:extLst>
          </p:nvPr>
        </p:nvGraphicFramePr>
        <p:xfrm>
          <a:off x="914400" y="1600200"/>
          <a:ext cx="7772400" cy="4114802"/>
        </p:xfrm>
        <a:graphic>
          <a:graphicData uri="http://schemas.openxmlformats.org/drawingml/2006/table">
            <a:tbl>
              <a:tblPr/>
              <a:tblGrid>
                <a:gridCol w="1423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41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新細明體" pitchFamily="18" charset="-120"/>
                        </a:rPr>
                        <a:t>Equivalent representation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新細明體" pitchFamily="18" charset="-120"/>
                        </a:rPr>
                        <a:t>Remark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&amp;num[0]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num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 is the address of the 0th element of the array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num+i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&amp;(num[i])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Address of the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ith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 element of the array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*num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num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The value of the 0th element of the array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*(num+i)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num[i]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The value of the ith element of the array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23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(*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num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)+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i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num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[0]+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i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The value of the 0th element of the array plus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itchFamily="18" charset="-120"/>
                        </a:rPr>
                        <a:t>i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C72460-91D4-CE9F-B63F-E0C87249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682E9A-2793-454F-80FD-07C044104038}" type="slidenum">
              <a:rPr lang="zh-TW" altLang="en-US" smtClean="0"/>
              <a:pPr>
                <a:defRPr/>
              </a:pPr>
              <a:t>12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7137A-95FC-8775-A13A-C61C7D0D8011}"/>
              </a:ext>
            </a:extLst>
          </p:cNvPr>
          <p:cNvSpPr txBox="1"/>
          <p:nvPr/>
        </p:nvSpPr>
        <p:spPr>
          <a:xfrm>
            <a:off x="691052" y="6395088"/>
            <a:ext cx="18469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lec08-03-array.cpp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3600"/>
            <a:ext cx="7772400" cy="1144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>
                <a:ea typeface="新細明體" charset="-120"/>
              </a:rPr>
              <a:t>Example 2: summing an array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524000"/>
            <a:ext cx="5181600" cy="335280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nb-NO" altLang="zh-TW" sz="1800" dirty="0">
                <a:latin typeface="Courier New" pitchFamily="49" charset="0"/>
                <a:ea typeface="新細明體" charset="-120"/>
              </a:rPr>
              <a:t>#define N 10</a:t>
            </a:r>
          </a:p>
          <a:p>
            <a:pPr eaLnBrk="1" hangingPunct="1">
              <a:buFont typeface="Wingdings" pitchFamily="2" charset="2"/>
              <a:buNone/>
            </a:pPr>
            <a:r>
              <a:rPr lang="nb-NO" altLang="zh-TW" sz="1800" dirty="0">
                <a:latin typeface="Courier New" pitchFamily="49" charset="0"/>
                <a:ea typeface="新細明體" charset="-120"/>
              </a:rPr>
              <a:t>void main()</a:t>
            </a:r>
          </a:p>
          <a:p>
            <a:pPr eaLnBrk="1" hangingPunct="1">
              <a:buFont typeface="Wingdings" pitchFamily="2" charset="2"/>
              <a:buNone/>
            </a:pPr>
            <a:r>
              <a:rPr lang="nb-NO" altLang="zh-TW" sz="1800" dirty="0">
                <a:latin typeface="Courier New" pitchFamily="49" charset="0"/>
                <a:ea typeface="新細明體" charset="-120"/>
              </a:rPr>
              <a:t>{</a:t>
            </a:r>
            <a:br>
              <a:rPr lang="nb-NO" altLang="zh-TW" sz="1800" dirty="0">
                <a:latin typeface="Courier New" pitchFamily="49" charset="0"/>
                <a:ea typeface="新細明體" charset="-120"/>
              </a:rPr>
            </a:br>
            <a:endParaRPr lang="nb-NO" altLang="zh-TW" sz="1800" dirty="0">
              <a:latin typeface="Courier New" pitchFamily="49" charset="0"/>
              <a:ea typeface="新細明體" charset="-120"/>
            </a:endParaRPr>
          </a:p>
          <a:p>
            <a:pPr eaLnBrk="1" hangingPunct="1">
              <a:buFont typeface="Wingdings" pitchFamily="2" charset="2"/>
              <a:buNone/>
            </a:pPr>
            <a:endParaRPr lang="nb-NO" altLang="zh-TW" sz="1800" b="1" dirty="0">
              <a:solidFill>
                <a:srgbClr val="00B050"/>
              </a:solidFill>
              <a:latin typeface="Courier New" pitchFamily="49" charset="0"/>
              <a:ea typeface="新細明體" charset="-120"/>
            </a:endParaRPr>
          </a:p>
          <a:p>
            <a:pPr eaLnBrk="1" hangingPunct="1">
              <a:buFont typeface="Wingdings" pitchFamily="2" charset="2"/>
              <a:buNone/>
            </a:pPr>
            <a:endParaRPr lang="nb-NO" altLang="zh-TW" sz="1800" b="1" dirty="0">
              <a:solidFill>
                <a:srgbClr val="00B050"/>
              </a:solidFill>
              <a:latin typeface="Courier New" pitchFamily="49" charset="0"/>
              <a:ea typeface="新細明體" charset="-120"/>
            </a:endParaRPr>
          </a:p>
          <a:p>
            <a:pPr eaLnBrk="1" hangingPunct="1">
              <a:buFont typeface="Wingdings" pitchFamily="2" charset="2"/>
              <a:buNone/>
            </a:pPr>
            <a:endParaRPr lang="nb-NO" altLang="zh-TW" sz="1800" b="1" dirty="0">
              <a:solidFill>
                <a:srgbClr val="00B050"/>
              </a:solidFill>
              <a:latin typeface="Courier New" pitchFamily="49" charset="0"/>
              <a:ea typeface="新細明體" charset="-120"/>
            </a:endParaRPr>
          </a:p>
          <a:p>
            <a:pPr eaLnBrk="1" hangingPunct="1">
              <a:buFont typeface="Wingdings" pitchFamily="2" charset="2"/>
              <a:buNone/>
            </a:pPr>
            <a:endParaRPr lang="nb-NO" altLang="zh-TW" sz="1800" b="1" dirty="0">
              <a:solidFill>
                <a:srgbClr val="00B050"/>
              </a:solidFill>
              <a:latin typeface="Courier New" pitchFamily="49" charset="0"/>
              <a:ea typeface="新細明體" charset="-120"/>
            </a:endParaRPr>
          </a:p>
          <a:p>
            <a:pPr eaLnBrk="1" hangingPunct="1">
              <a:buFont typeface="Wingdings" pitchFamily="2" charset="2"/>
              <a:buNone/>
            </a:pPr>
            <a:endParaRPr lang="nb-NO" altLang="zh-TW" sz="1800" b="1" dirty="0">
              <a:solidFill>
                <a:srgbClr val="00B050"/>
              </a:solidFill>
              <a:latin typeface="Courier New" pitchFamily="49" charset="0"/>
              <a:ea typeface="新細明體" charset="-12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nb-NO" altLang="zh-TW" sz="1800" dirty="0">
                <a:latin typeface="Courier New" pitchFamily="49" charset="0"/>
                <a:ea typeface="新細明體" charset="-12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500" dirty="0">
              <a:latin typeface="Courier New" pitchFamily="49" charset="0"/>
              <a:ea typeface="新細明體" charset="-120"/>
            </a:endParaRPr>
          </a:p>
          <a:p>
            <a:pPr eaLnBrk="1" hangingPunct="1"/>
            <a:endParaRPr lang="zh-TW" altLang="en-US" sz="1300" dirty="0">
              <a:latin typeface="Courier New" pitchFamily="49" charset="0"/>
              <a:ea typeface="新細明體" charset="-120"/>
            </a:endParaRPr>
          </a:p>
        </p:txBody>
      </p:sp>
      <p:graphicFrame>
        <p:nvGraphicFramePr>
          <p:cNvPr id="13318" name="Object 21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70654333"/>
              </p:ext>
            </p:extLst>
          </p:nvPr>
        </p:nvGraphicFramePr>
        <p:xfrm>
          <a:off x="5257800" y="1752600"/>
          <a:ext cx="3479800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915097" imgH="6026615" progId="Visio.Drawing.11">
                  <p:embed/>
                </p:oleObj>
              </mc:Choice>
              <mc:Fallback>
                <p:oleObj name="Visio" r:id="rId3" imgW="4915097" imgH="6026615" progId="Visio.Drawing.11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752600"/>
                        <a:ext cx="3479800" cy="426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17"/>
          <p:cNvSpPr>
            <a:spLocks noChangeArrowheads="1"/>
          </p:cNvSpPr>
          <p:nvPr/>
        </p:nvSpPr>
        <p:spPr bwMode="auto">
          <a:xfrm>
            <a:off x="1524000" y="4572000"/>
            <a:ext cx="3101975" cy="1739900"/>
          </a:xfrm>
          <a:prstGeom prst="rect">
            <a:avLst/>
          </a:prstGeom>
          <a:noFill/>
          <a:ln w="9525">
            <a:solidFill>
              <a:schemeClr val="accent1">
                <a:lumMod val="40000"/>
                <a:lumOff val="6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nb-NO" altLang="zh-TW" dirty="0">
                <a:solidFill>
                  <a:schemeClr val="accent2"/>
                </a:solidFill>
                <a:latin typeface="Courier New" pitchFamily="49" charset="0"/>
                <a:ea typeface="新細明體" charset="-120"/>
              </a:rPr>
              <a:t>a+0</a:t>
            </a:r>
            <a:r>
              <a:rPr kumimoji="1" lang="nb-NO" altLang="zh-TW" dirty="0">
                <a:latin typeface="Comic Sans MS" pitchFamily="66" charset="0"/>
                <a:ea typeface="新細明體" charset="-120"/>
              </a:rPr>
              <a:t> is the address of </a:t>
            </a:r>
            <a:r>
              <a:rPr kumimoji="1" lang="nb-NO" altLang="zh-TW" dirty="0">
                <a:solidFill>
                  <a:schemeClr val="accent2"/>
                </a:solidFill>
                <a:latin typeface="Courier New" pitchFamily="49" charset="0"/>
                <a:ea typeface="新細明體" charset="-120"/>
              </a:rPr>
              <a:t>a[0]</a:t>
            </a:r>
          </a:p>
          <a:p>
            <a:pPr eaLnBrk="1" hangingPunct="1"/>
            <a:r>
              <a:rPr kumimoji="1" lang="nb-NO" altLang="zh-TW" dirty="0">
                <a:solidFill>
                  <a:schemeClr val="accent2"/>
                </a:solidFill>
                <a:latin typeface="Courier New" pitchFamily="49" charset="0"/>
                <a:ea typeface="新細明體" charset="-120"/>
              </a:rPr>
              <a:t>a+1</a:t>
            </a:r>
            <a:r>
              <a:rPr kumimoji="1" lang="nb-NO" altLang="zh-TW" dirty="0">
                <a:latin typeface="Comic Sans MS" pitchFamily="66" charset="0"/>
                <a:ea typeface="新細明體" charset="-120"/>
              </a:rPr>
              <a:t> is the address of </a:t>
            </a:r>
            <a:r>
              <a:rPr kumimoji="1" lang="nb-NO" altLang="zh-TW" dirty="0">
                <a:solidFill>
                  <a:schemeClr val="accent2"/>
                </a:solidFill>
                <a:latin typeface="Courier New" pitchFamily="49" charset="0"/>
                <a:ea typeface="新細明體" charset="-120"/>
              </a:rPr>
              <a:t>a[1]</a:t>
            </a:r>
          </a:p>
          <a:p>
            <a:pPr eaLnBrk="1" hangingPunct="1"/>
            <a:r>
              <a:rPr kumimoji="1" lang="nb-NO" altLang="zh-TW" dirty="0">
                <a:latin typeface="Courier New" pitchFamily="49" charset="0"/>
                <a:ea typeface="新細明體" charset="-120"/>
              </a:rPr>
              <a:t>...</a:t>
            </a:r>
          </a:p>
          <a:p>
            <a:pPr eaLnBrk="1" hangingPunct="1"/>
            <a:r>
              <a:rPr kumimoji="1" lang="nb-NO" altLang="zh-TW" dirty="0">
                <a:solidFill>
                  <a:schemeClr val="accent2"/>
                </a:solidFill>
                <a:latin typeface="Courier New" pitchFamily="49" charset="0"/>
                <a:ea typeface="新細明體" charset="-120"/>
              </a:rPr>
              <a:t>a+i</a:t>
            </a:r>
            <a:r>
              <a:rPr kumimoji="1" lang="nb-NO" altLang="zh-TW" dirty="0">
                <a:latin typeface="Comic Sans MS" pitchFamily="66" charset="0"/>
                <a:ea typeface="新細明體" charset="-120"/>
              </a:rPr>
              <a:t> is the address of </a:t>
            </a:r>
            <a:r>
              <a:rPr kumimoji="1" lang="nb-NO" altLang="zh-TW" dirty="0">
                <a:solidFill>
                  <a:schemeClr val="accent2"/>
                </a:solidFill>
                <a:latin typeface="Courier New" pitchFamily="49" charset="0"/>
                <a:ea typeface="新細明體" charset="-120"/>
              </a:rPr>
              <a:t>a[i]</a:t>
            </a:r>
          </a:p>
          <a:p>
            <a:pPr eaLnBrk="1" hangingPunct="1"/>
            <a:endParaRPr kumimoji="1" lang="nb-NO" altLang="zh-TW" dirty="0">
              <a:solidFill>
                <a:schemeClr val="accent2"/>
              </a:solidFill>
              <a:latin typeface="Courier New" pitchFamily="49" charset="0"/>
              <a:ea typeface="新細明體" charset="-120"/>
            </a:endParaRPr>
          </a:p>
          <a:p>
            <a:pPr eaLnBrk="1" hangingPunct="1"/>
            <a:r>
              <a:rPr kumimoji="1" lang="nb-NO" altLang="zh-TW" dirty="0">
                <a:latin typeface="Comic Sans MS" pitchFamily="66" charset="0"/>
                <a:ea typeface="新細明體" charset="-120"/>
              </a:rPr>
              <a:t>So, </a:t>
            </a:r>
            <a:r>
              <a:rPr kumimoji="1" lang="nb-NO" altLang="zh-TW" dirty="0">
                <a:solidFill>
                  <a:schemeClr val="accent2"/>
                </a:solidFill>
                <a:latin typeface="Courier New" pitchFamily="49" charset="0"/>
                <a:ea typeface="新細明體" charset="-120"/>
              </a:rPr>
              <a:t>*(a+i)</a:t>
            </a:r>
            <a:r>
              <a:rPr kumimoji="1" lang="nb-NO" altLang="zh-TW" dirty="0">
                <a:latin typeface="Comic Sans MS" pitchFamily="66" charset="0"/>
                <a:ea typeface="新細明體" charset="-120"/>
              </a:rPr>
              <a:t> means </a:t>
            </a:r>
            <a:r>
              <a:rPr kumimoji="1" lang="nb-NO" altLang="zh-TW" dirty="0">
                <a:solidFill>
                  <a:schemeClr val="accent2"/>
                </a:solidFill>
                <a:latin typeface="Courier New" pitchFamily="49" charset="0"/>
                <a:ea typeface="新細明體" charset="-120"/>
              </a:rPr>
              <a:t>a[i]</a:t>
            </a:r>
            <a:endParaRPr kumimoji="1" lang="en-US" altLang="zh-TW" dirty="0">
              <a:solidFill>
                <a:schemeClr val="accent2"/>
              </a:solidFill>
              <a:latin typeface="Courier New" pitchFamily="49" charset="0"/>
              <a:ea typeface="新細明體" charset="-12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06500" y="2743200"/>
            <a:ext cx="51943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b-NO" altLang="zh-TW" dirty="0">
                <a:latin typeface="Courier New" pitchFamily="49" charset="0"/>
                <a:ea typeface="新細明體" charset="-120"/>
              </a:rPr>
              <a:t>int a[N]={1,2,3,4,5,6,7,8,9,10};</a:t>
            </a:r>
          </a:p>
          <a:p>
            <a:r>
              <a:rPr lang="nb-NO" altLang="zh-TW" dirty="0">
                <a:latin typeface="Courier New" pitchFamily="49" charset="0"/>
                <a:ea typeface="新細明體" charset="-120"/>
              </a:rPr>
              <a:t>int sum = 0;</a:t>
            </a:r>
          </a:p>
          <a:p>
            <a:r>
              <a:rPr lang="nb-NO" altLang="zh-TW" dirty="0">
                <a:latin typeface="Courier New" pitchFamily="49" charset="0"/>
                <a:ea typeface="新細明體" charset="-120"/>
              </a:rPr>
              <a:t>for(int i = 0; i &lt; N; ++i)</a:t>
            </a:r>
          </a:p>
          <a:p>
            <a:r>
              <a:rPr lang="nb-NO" altLang="zh-TW" dirty="0">
                <a:latin typeface="Courier New" pitchFamily="49" charset="0"/>
                <a:ea typeface="新細明體" charset="-120"/>
              </a:rPr>
              <a:t>	sum+=</a:t>
            </a:r>
            <a:r>
              <a:rPr lang="nb-NO" altLang="zh-TW" dirty="0">
                <a:solidFill>
                  <a:srgbClr val="FF3300"/>
                </a:solidFill>
                <a:latin typeface="Courier New" pitchFamily="49" charset="0"/>
                <a:ea typeface="新細明體" charset="-120"/>
              </a:rPr>
              <a:t>*(a+i);</a:t>
            </a:r>
            <a:r>
              <a:rPr lang="nb-NO" altLang="zh-TW" b="1" dirty="0">
                <a:solidFill>
                  <a:srgbClr val="00B050"/>
                </a:solidFill>
                <a:latin typeface="Courier New" pitchFamily="49" charset="0"/>
                <a:ea typeface="新細明體" charset="-120"/>
              </a:rPr>
              <a:t>//sum+=a[i];</a:t>
            </a:r>
            <a:r>
              <a:rPr lang="nb-NO" altLang="zh-TW" dirty="0">
                <a:latin typeface="Courier New" pitchFamily="49" charset="0"/>
                <a:ea typeface="新細明體" charset="-120"/>
              </a:rPr>
              <a:t> </a:t>
            </a:r>
          </a:p>
          <a:p>
            <a:r>
              <a:rPr lang="nb-NO" altLang="zh-TW" dirty="0">
                <a:latin typeface="Courier New" pitchFamily="49" charset="0"/>
                <a:ea typeface="新細明體" charset="-120"/>
              </a:rPr>
              <a:t>cout &lt;&lt; sum;</a:t>
            </a:r>
            <a:r>
              <a:rPr lang="nb-NO" altLang="zh-TW" b="1" dirty="0">
                <a:solidFill>
                  <a:srgbClr val="00B050"/>
                </a:solidFill>
                <a:latin typeface="Courier New" pitchFamily="49" charset="0"/>
                <a:ea typeface="新細明體" charset="-120"/>
              </a:rPr>
              <a:t>/*55 is printed*/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0F7B71-BCB4-3700-80CC-4D60888EB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5E69E-0F67-4EF9-9BD9-4C150AC24529}" type="slidenum">
              <a:rPr lang="zh-TW" altLang="en-US" smtClean="0"/>
              <a:pPr>
                <a:defRPr/>
              </a:pPr>
              <a:t>13</a:t>
            </a:fld>
            <a:endParaRPr lang="en-US" altLang="zh-TW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C8B15-06C8-E455-EDD9-1BB79E8BA9D5}"/>
              </a:ext>
            </a:extLst>
          </p:cNvPr>
          <p:cNvSpPr txBox="1"/>
          <p:nvPr/>
        </p:nvSpPr>
        <p:spPr>
          <a:xfrm>
            <a:off x="691052" y="6395088"/>
            <a:ext cx="18469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lec08-04-sum.cpp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3600"/>
            <a:ext cx="7772400" cy="11448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US" altLang="zh-TW" sz="3400">
                <a:ea typeface="新細明體" charset="-120"/>
              </a:rPr>
              <a:t>Passing arrays to functions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676400"/>
            <a:ext cx="7772400" cy="46482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pPr eaLnBrk="1" hangingPunct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r>
              <a:rPr lang="en-US" altLang="zh-TW" sz="2400" dirty="0">
                <a:ea typeface="新細明體" charset="-120"/>
              </a:rPr>
              <a:t>When an array is being passed, its </a:t>
            </a:r>
            <a:r>
              <a:rPr lang="en-US" altLang="zh-TW" sz="2400" dirty="0">
                <a:solidFill>
                  <a:srgbClr val="FF0000"/>
                </a:solidFill>
                <a:ea typeface="新細明體" charset="-120"/>
              </a:rPr>
              <a:t>base address </a:t>
            </a:r>
            <a:r>
              <a:rPr lang="en-US" altLang="zh-TW" sz="2400" dirty="0">
                <a:ea typeface="新細明體" charset="-120"/>
              </a:rPr>
              <a:t>is passed; </a:t>
            </a:r>
            <a:r>
              <a:rPr lang="en-US" altLang="zh-TW" sz="2400" b="1" dirty="0">
                <a:ea typeface="新細明體" charset="-120"/>
              </a:rPr>
              <a:t>the array elements themselves are not copied</a:t>
            </a:r>
            <a:r>
              <a:rPr lang="en-US" altLang="zh-TW" sz="2400" dirty="0">
                <a:ea typeface="新細明體" charset="-120"/>
              </a:rPr>
              <a:t> </a:t>
            </a:r>
            <a:r>
              <a:rPr lang="en-US" altLang="zh-TW" sz="2400" dirty="0">
                <a:ea typeface="新細明體" charset="-120"/>
                <a:sym typeface="Wingdings"/>
              </a:rPr>
              <a:t> This is </a:t>
            </a:r>
            <a:r>
              <a:rPr lang="en-US" altLang="zh-TW" sz="2400" dirty="0">
                <a:solidFill>
                  <a:srgbClr val="C00000"/>
                </a:solidFill>
                <a:ea typeface="新細明體" charset="-120"/>
                <a:sym typeface="Wingdings"/>
              </a:rPr>
              <a:t>call-by-pointer</a:t>
            </a:r>
            <a:endParaRPr lang="en-US" altLang="zh-TW" sz="2400" dirty="0">
              <a:solidFill>
                <a:srgbClr val="C00000"/>
              </a:solidFill>
              <a:ea typeface="新細明體" charset="-120"/>
            </a:endParaRPr>
          </a:p>
          <a:p>
            <a:pPr eaLnBrk="1" hangingPunct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endParaRPr lang="en-US" altLang="zh-TW" sz="1800" dirty="0">
              <a:ea typeface="新細明體" charset="-120"/>
            </a:endParaRPr>
          </a:p>
          <a:p>
            <a:pPr eaLnBrk="1" hangingPunct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r>
              <a:rPr lang="en-US" altLang="zh-TW" sz="2400" dirty="0">
                <a:ea typeface="新細明體" charset="-120"/>
              </a:rPr>
              <a:t>As a notational convenience, the compiler allows </a:t>
            </a:r>
            <a:r>
              <a:rPr lang="en-US" altLang="zh-TW" sz="2400" dirty="0">
                <a:solidFill>
                  <a:srgbClr val="00B050"/>
                </a:solidFill>
                <a:ea typeface="新細明體" charset="-120"/>
              </a:rPr>
              <a:t>array bracket notation</a:t>
            </a:r>
            <a:r>
              <a:rPr lang="en-US" altLang="zh-TW" sz="2400" dirty="0">
                <a:ea typeface="新細明體" charset="-120"/>
              </a:rPr>
              <a:t> to be used in declaring </a:t>
            </a:r>
            <a:r>
              <a:rPr lang="en-US" altLang="zh-TW" sz="2400" dirty="0">
                <a:solidFill>
                  <a:srgbClr val="7030A0"/>
                </a:solidFill>
                <a:ea typeface="新細明體" charset="-120"/>
              </a:rPr>
              <a:t>pointers</a:t>
            </a:r>
            <a:r>
              <a:rPr lang="en-US" altLang="zh-TW" sz="2400" dirty="0">
                <a:ea typeface="新細明體" charset="-120"/>
              </a:rPr>
              <a:t> as parameters, e.g.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dirty="0">
                <a:ea typeface="新細明體" charset="-120"/>
              </a:rPr>
              <a:t>		</a:t>
            </a:r>
            <a:r>
              <a:rPr lang="en-US" altLang="zh-TW" sz="1800" b="1" dirty="0">
                <a:solidFill>
                  <a:schemeClr val="accent2"/>
                </a:solidFill>
                <a:latin typeface="Courier New" pitchFamily="49" charset="0"/>
                <a:ea typeface="新細明體" charset="-120"/>
              </a:rPr>
              <a:t>double sum(</a:t>
            </a:r>
            <a:r>
              <a:rPr lang="en-US" altLang="zh-TW" sz="1800" b="1" dirty="0" err="1">
                <a:solidFill>
                  <a:schemeClr val="accent2"/>
                </a:solidFill>
                <a:latin typeface="Courier New" pitchFamily="49" charset="0"/>
                <a:ea typeface="新細明體" charset="-120"/>
              </a:rPr>
              <a:t>int</a:t>
            </a:r>
            <a:r>
              <a:rPr lang="en-US" altLang="zh-TW" sz="1800" b="1" dirty="0">
                <a:solidFill>
                  <a:schemeClr val="accent2"/>
                </a:solidFill>
                <a:latin typeface="Courier New" pitchFamily="49" charset="0"/>
                <a:ea typeface="新細明體" charset="-120"/>
              </a:rPr>
              <a:t> *a);</a:t>
            </a:r>
            <a:r>
              <a:rPr lang="en-US" altLang="zh-TW" sz="1800" b="1" dirty="0">
                <a:solidFill>
                  <a:srgbClr val="A50021"/>
                </a:solidFill>
                <a:latin typeface="Courier New" pitchFamily="49" charset="0"/>
                <a:ea typeface="新細明體" charset="-120"/>
              </a:rPr>
              <a:t>  </a:t>
            </a:r>
            <a:r>
              <a:rPr lang="en-US" altLang="zh-TW" sz="1800" b="1" dirty="0">
                <a:solidFill>
                  <a:srgbClr val="00B0F0"/>
                </a:solidFill>
                <a:ea typeface="新細明體" charset="-120"/>
              </a:rPr>
              <a:t>is the same as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800" b="1" dirty="0">
                <a:solidFill>
                  <a:srgbClr val="A50021"/>
                </a:solidFill>
                <a:latin typeface="Courier New" pitchFamily="49" charset="0"/>
                <a:ea typeface="新細明體" charset="-120"/>
              </a:rPr>
              <a:t>		</a:t>
            </a:r>
            <a:r>
              <a:rPr lang="en-US" altLang="zh-TW" sz="1800" b="1" dirty="0">
                <a:solidFill>
                  <a:schemeClr val="accent2"/>
                </a:solidFill>
                <a:latin typeface="Courier New" pitchFamily="49" charset="0"/>
                <a:ea typeface="新細明體" charset="-120"/>
              </a:rPr>
              <a:t>double sum(</a:t>
            </a:r>
            <a:r>
              <a:rPr lang="en-US" altLang="zh-TW" sz="1800" b="1" dirty="0" err="1">
                <a:solidFill>
                  <a:schemeClr val="accent2"/>
                </a:solidFill>
                <a:latin typeface="Courier New" pitchFamily="49" charset="0"/>
                <a:ea typeface="新細明體" charset="-120"/>
              </a:rPr>
              <a:t>int</a:t>
            </a:r>
            <a:r>
              <a:rPr lang="en-US" altLang="zh-TW" sz="1800" b="1" dirty="0">
                <a:solidFill>
                  <a:schemeClr val="accent2"/>
                </a:solidFill>
                <a:latin typeface="Courier New" pitchFamily="49" charset="0"/>
                <a:ea typeface="新細明體" charset="-120"/>
              </a:rPr>
              <a:t> b[]);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800" b="1" dirty="0">
              <a:solidFill>
                <a:schemeClr val="accent2"/>
              </a:solidFill>
              <a:latin typeface="Courier New" pitchFamily="49" charset="0"/>
              <a:ea typeface="新細明體" charset="-120"/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altLang="zh-TW" sz="1600" b="1" dirty="0">
              <a:solidFill>
                <a:schemeClr val="accent2"/>
              </a:solidFill>
              <a:latin typeface="Courier New" pitchFamily="49" charset="0"/>
              <a:ea typeface="新細明體" charset="-12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82D739-6D07-5B61-9026-E5954C924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14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5181600" y="1600200"/>
            <a:ext cx="3505200" cy="297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69900" indent="-4699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double </a:t>
            </a:r>
            <a:r>
              <a:rPr lang="en-US" altLang="zh-TW" sz="1600" b="1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sum(</a:t>
            </a:r>
            <a:r>
              <a:rPr lang="en-US" altLang="zh-TW" sz="1600" b="1" dirty="0" err="1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int</a:t>
            </a:r>
            <a:r>
              <a:rPr lang="en-US" altLang="zh-TW" sz="1600" b="1" dirty="0">
                <a:latin typeface="Courier New" pitchFamily="49" charset="0"/>
                <a:ea typeface="新細明體" charset="-120"/>
              </a:rPr>
              <a:t> </a:t>
            </a:r>
            <a:r>
              <a:rPr lang="en-US" altLang="zh-TW" sz="1600" b="1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*</a:t>
            </a:r>
            <a:r>
              <a:rPr lang="en-US" altLang="zh-TW" sz="1600" b="1" dirty="0">
                <a:solidFill>
                  <a:srgbClr val="0070C0"/>
                </a:solidFill>
                <a:latin typeface="Courier New" pitchFamily="49" charset="0"/>
                <a:ea typeface="新細明體" charset="-120"/>
              </a:rPr>
              <a:t>b</a:t>
            </a:r>
            <a:r>
              <a:rPr lang="en-US" altLang="zh-TW" sz="1600" b="1" dirty="0">
                <a:latin typeface="Courier New" pitchFamily="49" charset="0"/>
                <a:ea typeface="新細明體" charset="-120"/>
              </a:rPr>
              <a:t>)</a:t>
            </a:r>
          </a:p>
          <a:p>
            <a:pPr marL="469900" indent="-4699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{  </a:t>
            </a:r>
          </a:p>
          <a:p>
            <a:pPr marL="469900" indent="-4699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int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i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;</a:t>
            </a:r>
          </a:p>
          <a:p>
            <a:pPr marL="469900" indent="-4699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double total = 0.0;</a:t>
            </a:r>
          </a:p>
          <a:p>
            <a:pPr marL="469900" indent="-4699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endParaRPr lang="en-US" altLang="zh-TW" sz="1600" dirty="0">
              <a:latin typeface="Courier New" pitchFamily="49" charset="0"/>
              <a:ea typeface="新細明體" charset="-120"/>
            </a:endParaRPr>
          </a:p>
          <a:p>
            <a:pPr marL="469900" indent="-4699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  	for (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i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=0; 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i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&lt;N; 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i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++)</a:t>
            </a:r>
          </a:p>
          <a:p>
            <a:pPr marL="469900" indent="-4699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    </a:t>
            </a:r>
            <a:r>
              <a:rPr lang="en-US" altLang="zh-TW" sz="1600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total += </a:t>
            </a:r>
            <a:r>
              <a:rPr lang="en-US" altLang="zh-TW" sz="1600" b="1" dirty="0">
                <a:solidFill>
                  <a:srgbClr val="0070C0"/>
                </a:solidFill>
                <a:latin typeface="Courier New" pitchFamily="49" charset="0"/>
                <a:ea typeface="新細明體" charset="-120"/>
              </a:rPr>
              <a:t>b</a:t>
            </a:r>
            <a:r>
              <a:rPr lang="en-US" altLang="zh-TW" sz="1600" b="1" dirty="0">
                <a:solidFill>
                  <a:srgbClr val="00B0F0"/>
                </a:solidFill>
                <a:latin typeface="Courier New" pitchFamily="49" charset="0"/>
                <a:ea typeface="新細明體" charset="-120"/>
              </a:rPr>
              <a:t>[</a:t>
            </a:r>
            <a:r>
              <a:rPr lang="en-US" altLang="zh-TW" sz="1600" b="1" dirty="0" err="1">
                <a:solidFill>
                  <a:srgbClr val="00B0F0"/>
                </a:solidFill>
                <a:latin typeface="Courier New" pitchFamily="49" charset="0"/>
                <a:ea typeface="新細明體" charset="-120"/>
              </a:rPr>
              <a:t>i</a:t>
            </a:r>
            <a:r>
              <a:rPr lang="en-US" altLang="zh-TW" sz="1600" b="1" dirty="0">
                <a:solidFill>
                  <a:srgbClr val="00B0F0"/>
                </a:solidFill>
                <a:latin typeface="Courier New" pitchFamily="49" charset="0"/>
                <a:ea typeface="新細明體" charset="-120"/>
              </a:rPr>
              <a:t>]</a:t>
            </a:r>
            <a:r>
              <a:rPr lang="en-US" altLang="zh-TW" sz="1600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;</a:t>
            </a:r>
          </a:p>
          <a:p>
            <a:pPr marL="469900" indent="-4699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   </a:t>
            </a:r>
          </a:p>
          <a:p>
            <a:pPr marL="469900" indent="-4699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return total;</a:t>
            </a:r>
          </a:p>
          <a:p>
            <a:pPr marL="469900" indent="-469900" eaLnBrk="1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}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3600"/>
            <a:ext cx="7772400" cy="1144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sz="3400" dirty="0">
                <a:ea typeface="新細明體" charset="-120"/>
              </a:rPr>
              <a:t>Example 3: Parameter Passing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00200"/>
            <a:ext cx="4114800" cy="2971800"/>
          </a:xfrm>
          <a:solidFill>
            <a:schemeClr val="bg1"/>
          </a:solidFill>
          <a:ln cap="flat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>
            <a:no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#define  N  5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double sum(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int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*b);</a:t>
            </a:r>
          </a:p>
          <a:p>
            <a:pPr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void main()</a:t>
            </a:r>
            <a:r>
              <a:rPr lang="en-US" altLang="zh-TW" sz="1200" b="1" dirty="0">
                <a:solidFill>
                  <a:srgbClr val="00B050"/>
                </a:solidFill>
                <a:latin typeface="Courier New" pitchFamily="49" charset="0"/>
                <a:ea typeface="新細明體" charset="-120"/>
              </a:rPr>
              <a:t>//Compute the mean value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{  </a:t>
            </a:r>
          </a:p>
          <a:p>
            <a:pPr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  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int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</a:t>
            </a:r>
            <a:r>
              <a:rPr lang="en-US" altLang="zh-TW" sz="1600" b="1" dirty="0">
                <a:solidFill>
                  <a:srgbClr val="00B0F0"/>
                </a:solidFill>
                <a:latin typeface="Courier New" pitchFamily="49" charset="0"/>
                <a:ea typeface="新細明體" charset="-120"/>
              </a:rPr>
              <a:t>a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[N] = {8,6,2,7,1};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  double mean;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  mean = </a:t>
            </a:r>
            <a:r>
              <a:rPr lang="en-US" altLang="zh-TW" sz="1600" b="1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sum(</a:t>
            </a:r>
            <a:r>
              <a:rPr lang="en-US" altLang="zh-TW" sz="1600" b="1" dirty="0">
                <a:solidFill>
                  <a:srgbClr val="00B0F0"/>
                </a:solidFill>
                <a:latin typeface="Courier New" pitchFamily="49" charset="0"/>
                <a:ea typeface="新細明體" charset="-120"/>
              </a:rPr>
              <a:t>a</a:t>
            </a:r>
            <a:r>
              <a:rPr lang="en-US" altLang="zh-TW" sz="1600" b="1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)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/N;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  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&lt;&lt; "mean = “ &lt;&lt; mean;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}</a:t>
            </a:r>
          </a:p>
        </p:txBody>
      </p:sp>
      <p:graphicFrame>
        <p:nvGraphicFramePr>
          <p:cNvPr id="15367" name="Object 18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29196577"/>
              </p:ext>
            </p:extLst>
          </p:nvPr>
        </p:nvGraphicFramePr>
        <p:xfrm>
          <a:off x="4889500" y="4752082"/>
          <a:ext cx="3924300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06230" imgH="2247867" progId="Visio.Drawing.11">
                  <p:embed/>
                </p:oleObj>
              </mc:Choice>
              <mc:Fallback>
                <p:oleObj name="Visio" r:id="rId3" imgW="5706230" imgH="2247867" progId="Visio.Drawing.11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0" y="4752082"/>
                        <a:ext cx="3924300" cy="154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Text Box 13"/>
          <p:cNvSpPr txBox="1">
            <a:spLocks noChangeArrowheads="1"/>
          </p:cNvSpPr>
          <p:nvPr/>
        </p:nvSpPr>
        <p:spPr bwMode="auto">
          <a:xfrm>
            <a:off x="914399" y="4876800"/>
            <a:ext cx="403860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kumimoji="1" lang="en-US" altLang="zh-TW" dirty="0">
                <a:latin typeface="+mn-lt"/>
                <a:ea typeface="新細明體" charset="-120"/>
              </a:rPr>
              <a:t>When </a:t>
            </a:r>
            <a:r>
              <a:rPr lang="en-US" altLang="zh-TW" b="1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sum(</a:t>
            </a:r>
            <a:r>
              <a:rPr lang="en-US" altLang="zh-TW" b="1" dirty="0">
                <a:solidFill>
                  <a:srgbClr val="00B0F0"/>
                </a:solidFill>
                <a:latin typeface="Courier New" pitchFamily="49" charset="0"/>
                <a:ea typeface="新細明體" charset="-120"/>
              </a:rPr>
              <a:t>a</a:t>
            </a:r>
            <a:r>
              <a:rPr lang="en-US" altLang="zh-TW" b="1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)</a:t>
            </a:r>
            <a:r>
              <a:rPr kumimoji="1" lang="en-US" altLang="zh-TW" dirty="0">
                <a:latin typeface="+mn-lt"/>
                <a:ea typeface="新細明體" charset="-120"/>
              </a:rPr>
              <a:t> is called, the content of a (</a:t>
            </a:r>
            <a:r>
              <a:rPr kumimoji="1" lang="en-US" altLang="zh-TW" b="1" dirty="0">
                <a:latin typeface="+mn-lt"/>
                <a:ea typeface="新細明體" charset="-120"/>
              </a:rPr>
              <a:t>address of a[0]</a:t>
            </a:r>
            <a:r>
              <a:rPr kumimoji="1" lang="en-US" altLang="zh-TW" dirty="0">
                <a:latin typeface="+mn-lt"/>
                <a:ea typeface="新細明體" charset="-120"/>
              </a:rPr>
              <a:t>) is copied to the pointer variable </a:t>
            </a:r>
            <a:r>
              <a:rPr kumimoji="1" lang="en-US" altLang="zh-TW" b="1" dirty="0">
                <a:solidFill>
                  <a:srgbClr val="0070C0"/>
                </a:solidFill>
                <a:latin typeface="+mn-lt"/>
                <a:ea typeface="新細明體" charset="-120"/>
              </a:rPr>
              <a:t>b</a:t>
            </a:r>
            <a:r>
              <a:rPr kumimoji="1" lang="en-US" altLang="zh-TW" dirty="0">
                <a:latin typeface="+mn-lt"/>
                <a:ea typeface="新細明體" charset="-120"/>
              </a:rPr>
              <a:t>.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endParaRPr kumimoji="1" lang="en-US" altLang="zh-TW" dirty="0">
              <a:latin typeface="+mn-lt"/>
              <a:ea typeface="新細明體" charset="-120"/>
            </a:endParaRP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kumimoji="1" lang="en-US" altLang="zh-TW" dirty="0">
                <a:latin typeface="+mn-lt"/>
                <a:ea typeface="新細明體" charset="-120"/>
              </a:rPr>
              <a:t>Therefore the pointer </a:t>
            </a:r>
            <a:r>
              <a:rPr kumimoji="1" lang="en-US" altLang="zh-TW" b="1" dirty="0">
                <a:solidFill>
                  <a:srgbClr val="0070C0"/>
                </a:solidFill>
                <a:latin typeface="+mj-lt"/>
                <a:ea typeface="新細明體" charset="-120"/>
              </a:rPr>
              <a:t>b</a:t>
            </a:r>
            <a:r>
              <a:rPr kumimoji="1" lang="en-US" altLang="zh-TW" b="1" dirty="0">
                <a:solidFill>
                  <a:srgbClr val="0070C0"/>
                </a:solidFill>
                <a:ea typeface="新細明體" charset="-120"/>
              </a:rPr>
              <a:t> </a:t>
            </a:r>
            <a:r>
              <a:rPr kumimoji="1" lang="en-US" altLang="zh-TW" dirty="0">
                <a:latin typeface="+mn-lt"/>
                <a:ea typeface="新細明體" charset="-120"/>
              </a:rPr>
              <a:t>points to a[0]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876798" y="5144750"/>
            <a:ext cx="474926" cy="1179850"/>
            <a:chOff x="4876798" y="4736068"/>
            <a:chExt cx="474926" cy="1179850"/>
          </a:xfrm>
        </p:grpSpPr>
        <p:sp>
          <p:nvSpPr>
            <p:cNvPr id="8" name="Rectangle 7"/>
            <p:cNvSpPr/>
            <p:nvPr/>
          </p:nvSpPr>
          <p:spPr>
            <a:xfrm>
              <a:off x="4876798" y="4876800"/>
              <a:ext cx="449794" cy="10391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/>
            <p:cNvSpPr/>
            <p:nvPr/>
          </p:nvSpPr>
          <p:spPr>
            <a:xfrm>
              <a:off x="5029200" y="4736068"/>
              <a:ext cx="3225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b="1" dirty="0">
                  <a:solidFill>
                    <a:srgbClr val="00B0F0"/>
                  </a:solidFill>
                  <a:latin typeface="Courier New" pitchFamily="49" charset="0"/>
                  <a:ea typeface="新細明體" charset="-120"/>
                </a:rPr>
                <a:t>a</a:t>
              </a:r>
              <a:endParaRPr lang="en-US" dirty="0"/>
            </a:p>
          </p:txBody>
        </p:sp>
        <p:sp>
          <p:nvSpPr>
            <p:cNvPr id="3" name="Rectangle 2"/>
            <p:cNvSpPr/>
            <p:nvPr/>
          </p:nvSpPr>
          <p:spPr>
            <a:xfrm>
              <a:off x="5029200" y="5257800"/>
              <a:ext cx="3225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b="1" dirty="0">
                  <a:solidFill>
                    <a:srgbClr val="0070C0"/>
                  </a:solidFill>
                  <a:latin typeface="Courier New" pitchFamily="49" charset="0"/>
                  <a:ea typeface="新細明體" charset="-120"/>
                </a:rPr>
                <a:t>b</a:t>
              </a:r>
              <a:endParaRPr lang="en-US" dirty="0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C1853-E149-25D1-A60A-9C95ACE6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5E69E-0F67-4EF9-9BD9-4C150AC24529}" type="slidenum">
              <a:rPr lang="zh-TW" altLang="en-US" smtClean="0"/>
              <a:pPr>
                <a:defRPr/>
              </a:pPr>
              <a:t>15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nimBg="1"/>
      <p:bldP spid="1536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38797-2E9D-4EC1-A3FB-66877ED59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Access elements in 2D array with pointers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83B2B1-2DD0-4A10-B7B9-DFEA9310A88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We can use a pointer to access a 2D array</a:t>
            </a:r>
          </a:p>
          <a:p>
            <a:endParaRPr lang="en-US" altLang="zh-CN" dirty="0"/>
          </a:p>
          <a:p>
            <a:r>
              <a:rPr lang="en-US" altLang="zh-CN" dirty="0"/>
              <a:t>For a 2D array </a:t>
            </a:r>
            <a:r>
              <a:rPr lang="en-US" altLang="zh-CN" sz="2200" dirty="0">
                <a:latin typeface="Courier New" pitchFamily="49" charset="0"/>
                <a:ea typeface="新細明體" charset="-120"/>
              </a:rPr>
              <a:t>int a[4][3]</a:t>
            </a:r>
            <a:r>
              <a:rPr lang="en-US" altLang="zh-CN" dirty="0"/>
              <a:t>, a[</a:t>
            </a:r>
            <a:r>
              <a:rPr lang="en-US" altLang="zh-CN" dirty="0" err="1"/>
              <a:t>i</a:t>
            </a:r>
            <a:r>
              <a:rPr lang="en-US" altLang="zh-CN" dirty="0"/>
              <a:t>] (</a:t>
            </a:r>
            <a:r>
              <a:rPr lang="en-US" altLang="zh-CN" dirty="0" err="1"/>
              <a:t>i</a:t>
            </a:r>
            <a:r>
              <a:rPr lang="en-US" altLang="zh-CN" dirty="0"/>
              <a:t>=0,1,2,3) is the address of the </a:t>
            </a:r>
            <a:r>
              <a:rPr lang="en-US" altLang="zh-CN" dirty="0">
                <a:solidFill>
                  <a:srgbClr val="C00000"/>
                </a:solidFill>
              </a:rPr>
              <a:t>first element</a:t>
            </a:r>
            <a:r>
              <a:rPr lang="en-US" altLang="zh-CN" dirty="0"/>
              <a:t> in the </a:t>
            </a:r>
            <a:r>
              <a:rPr lang="en-US" altLang="zh-CN" i="1" dirty="0" err="1"/>
              <a:t>i</a:t>
            </a:r>
            <a:r>
              <a:rPr lang="en-US" altLang="zh-CN" dirty="0" err="1"/>
              <a:t>-th</a:t>
            </a:r>
            <a:r>
              <a:rPr lang="en-US" altLang="zh-CN" dirty="0"/>
              <a:t>. row</a:t>
            </a:r>
          </a:p>
          <a:p>
            <a:endParaRPr lang="en-US" altLang="zh-CN" dirty="0"/>
          </a:p>
          <a:p>
            <a:r>
              <a:rPr lang="en-US" altLang="zh-CN" dirty="0"/>
              <a:t>For </a:t>
            </a:r>
            <a:r>
              <a:rPr lang="en-US" altLang="zh-CN" dirty="0">
                <a:solidFill>
                  <a:srgbClr val="7030A0"/>
                </a:solidFill>
              </a:rPr>
              <a:t>each row</a:t>
            </a:r>
            <a:r>
              <a:rPr lang="en-US" altLang="zh-CN" dirty="0"/>
              <a:t>, it is equivalent to </a:t>
            </a:r>
            <a:r>
              <a:rPr lang="en-US" altLang="zh-CN" dirty="0">
                <a:solidFill>
                  <a:srgbClr val="0070C0"/>
                </a:solidFill>
              </a:rPr>
              <a:t>one 1D array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dirty="0"/>
              <a:t>We can declare a pointer </a:t>
            </a:r>
            <a:r>
              <a:rPr lang="en-US" altLang="zh-CN" sz="2200" dirty="0">
                <a:latin typeface="Courier New" pitchFamily="49" charset="0"/>
                <a:ea typeface="新細明體" charset="-120"/>
              </a:rPr>
              <a:t>int *p = a[</a:t>
            </a:r>
            <a:r>
              <a:rPr lang="en-US" altLang="zh-CN" sz="2200" dirty="0" err="1">
                <a:latin typeface="Courier New" pitchFamily="49" charset="0"/>
                <a:ea typeface="新細明體" charset="-120"/>
              </a:rPr>
              <a:t>i</a:t>
            </a:r>
            <a:r>
              <a:rPr lang="en-US" altLang="zh-CN" sz="2200" dirty="0">
                <a:latin typeface="Courier New" pitchFamily="49" charset="0"/>
                <a:ea typeface="新細明體" charset="-120"/>
              </a:rPr>
              <a:t>]</a:t>
            </a:r>
            <a:r>
              <a:rPr lang="en-US" altLang="zh-CN" dirty="0"/>
              <a:t> to access every element on the </a:t>
            </a:r>
            <a:r>
              <a:rPr lang="en-US" altLang="zh-CN" i="1" dirty="0" err="1"/>
              <a:t>i</a:t>
            </a:r>
            <a:r>
              <a:rPr lang="en-US" altLang="zh-CN" dirty="0" err="1"/>
              <a:t>-th</a:t>
            </a:r>
            <a:r>
              <a:rPr lang="en-US" altLang="zh-CN" dirty="0"/>
              <a:t>. row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5B51D-A56D-A5D7-C3B6-F70EB54B3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4177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5448F4-126D-4A9E-9671-C10D2E47D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Access elements in 2D array with pointers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B1F50D-27B1-428B-BA9D-817BC8A5E1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Like the 1D array, we use the ‘*’ sign to access the elements in one 2D array</a:t>
            </a:r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80444-369D-A896-3814-0D6AC52E8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17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4071CA-B39D-BF86-3A36-AE84ECF30EDC}"/>
              </a:ext>
            </a:extLst>
          </p:cNvPr>
          <p:cNvSpPr txBox="1"/>
          <p:nvPr/>
        </p:nvSpPr>
        <p:spPr>
          <a:xfrm>
            <a:off x="691052" y="6395088"/>
            <a:ext cx="20393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lec08-05-2DArray.cpp</a:t>
            </a: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186EC217-97BF-693C-9329-DAC29DE4FC49}"/>
              </a:ext>
            </a:extLst>
          </p:cNvPr>
          <p:cNvSpPr txBox="1"/>
          <p:nvPr/>
        </p:nvSpPr>
        <p:spPr>
          <a:xfrm>
            <a:off x="914400" y="2468940"/>
            <a:ext cx="731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</a:rPr>
              <a:t>int a[4][3] = {1,2,3,4,5,6,7,8,9,10,11,12};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int *p = a[0];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for(int </a:t>
            </a:r>
            <a:r>
              <a:rPr lang="en-US" altLang="zh-CN" sz="1600" dirty="0" err="1">
                <a:latin typeface="Courier New" pitchFamily="49" charset="0"/>
              </a:rPr>
              <a:t>i</a:t>
            </a:r>
            <a:r>
              <a:rPr lang="en-US" altLang="zh-CN" sz="1600" dirty="0">
                <a:latin typeface="Courier New" pitchFamily="49" charset="0"/>
              </a:rPr>
              <a:t> = 0; </a:t>
            </a:r>
            <a:r>
              <a:rPr lang="en-US" altLang="zh-CN" sz="1600" dirty="0" err="1">
                <a:latin typeface="Courier New" pitchFamily="49" charset="0"/>
              </a:rPr>
              <a:t>i</a:t>
            </a:r>
            <a:r>
              <a:rPr lang="en-US" altLang="zh-CN" sz="1600" dirty="0">
                <a:latin typeface="Courier New" pitchFamily="49" charset="0"/>
              </a:rPr>
              <a:t>&lt;12; </a:t>
            </a:r>
            <a:r>
              <a:rPr lang="en-US" altLang="zh-CN" sz="1600" dirty="0" err="1">
                <a:latin typeface="Courier New" pitchFamily="49" charset="0"/>
              </a:rPr>
              <a:t>i</a:t>
            </a:r>
            <a:r>
              <a:rPr lang="en-US" altLang="zh-CN" sz="1600" dirty="0">
                <a:latin typeface="Courier New" pitchFamily="49" charset="0"/>
              </a:rPr>
              <a:t>++){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  </a:t>
            </a:r>
            <a:r>
              <a:rPr lang="en-US" altLang="zh-CN" sz="1600" dirty="0" err="1">
                <a:latin typeface="Courier New" pitchFamily="49" charset="0"/>
              </a:rPr>
              <a:t>cout</a:t>
            </a:r>
            <a:r>
              <a:rPr lang="en-US" altLang="zh-CN" sz="1600" dirty="0">
                <a:latin typeface="Courier New" pitchFamily="49" charset="0"/>
              </a:rPr>
              <a:t> &lt;&lt; *(p++) &lt;&lt; </a:t>
            </a:r>
            <a:r>
              <a:rPr lang="en-US" altLang="zh-CN" sz="1600" dirty="0" err="1">
                <a:latin typeface="Courier New" pitchFamily="49" charset="0"/>
              </a:rPr>
              <a:t>endl</a:t>
            </a:r>
            <a:r>
              <a:rPr lang="en-US" altLang="zh-CN" sz="16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600" dirty="0">
              <a:latin typeface="Courier New" pitchFamily="49" charset="0"/>
            </a:endParaRPr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DA2C4AC8-D3AC-2BB2-F037-09BA932B90EC}"/>
              </a:ext>
            </a:extLst>
          </p:cNvPr>
          <p:cNvSpPr txBox="1"/>
          <p:nvPr/>
        </p:nvSpPr>
        <p:spPr>
          <a:xfrm>
            <a:off x="914400" y="3992940"/>
            <a:ext cx="3124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</a:rPr>
              <a:t>char b[2][6];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 err="1">
                <a:latin typeface="Courier New" pitchFamily="49" charset="0"/>
              </a:rPr>
              <a:t>cin</a:t>
            </a:r>
            <a:r>
              <a:rPr lang="en-US" altLang="zh-TW" sz="1600" dirty="0">
                <a:latin typeface="Courier New" pitchFamily="49" charset="0"/>
              </a:rPr>
              <a:t> &gt;&gt; b[0] &gt;&gt; b[1];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6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</a:rPr>
              <a:t>f1(b);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 err="1">
                <a:latin typeface="Courier New" pitchFamily="49" charset="0"/>
              </a:rPr>
              <a:t>cout</a:t>
            </a:r>
            <a:r>
              <a:rPr lang="en-US" altLang="zh-TW" sz="1600" dirty="0">
                <a:latin typeface="Courier New" pitchFamily="49" charset="0"/>
              </a:rPr>
              <a:t> &lt;&lt; </a:t>
            </a:r>
            <a:r>
              <a:rPr lang="en-US" altLang="zh-TW" sz="1600" dirty="0" err="1">
                <a:latin typeface="Courier New" pitchFamily="49" charset="0"/>
              </a:rPr>
              <a:t>endl</a:t>
            </a:r>
            <a:r>
              <a:rPr lang="en-US" altLang="zh-TW" sz="16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</a:rPr>
              <a:t>f2(b);</a:t>
            </a:r>
          </a:p>
        </p:txBody>
      </p:sp>
      <p:sp>
        <p:nvSpPr>
          <p:cNvPr id="9" name="文本框 4">
            <a:extLst>
              <a:ext uri="{FF2B5EF4-FFF2-40B4-BE49-F238E27FC236}">
                <a16:creationId xmlns:a16="http://schemas.microsoft.com/office/drawing/2014/main" id="{AE78BF51-B5D3-1265-0954-D1F259833BD4}"/>
              </a:ext>
            </a:extLst>
          </p:cNvPr>
          <p:cNvSpPr txBox="1"/>
          <p:nvPr/>
        </p:nvSpPr>
        <p:spPr>
          <a:xfrm>
            <a:off x="3902561" y="3933616"/>
            <a:ext cx="502209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</a:rPr>
              <a:t>void f1(char b[][6])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</a:rPr>
              <a:t>	for (int </a:t>
            </a:r>
            <a:r>
              <a:rPr lang="en-US" altLang="zh-TW" sz="1600" dirty="0" err="1">
                <a:latin typeface="Courier New" pitchFamily="49" charset="0"/>
              </a:rPr>
              <a:t>i</a:t>
            </a:r>
            <a:r>
              <a:rPr lang="en-US" altLang="zh-TW" sz="1600" dirty="0">
                <a:latin typeface="Courier New" pitchFamily="49" charset="0"/>
              </a:rPr>
              <a:t>=0; </a:t>
            </a:r>
            <a:r>
              <a:rPr lang="en-US" altLang="zh-TW" sz="1600" dirty="0" err="1">
                <a:latin typeface="Courier New" pitchFamily="49" charset="0"/>
              </a:rPr>
              <a:t>i</a:t>
            </a:r>
            <a:r>
              <a:rPr lang="en-US" altLang="zh-TW" sz="1600" dirty="0">
                <a:latin typeface="Courier New" pitchFamily="49" charset="0"/>
              </a:rPr>
              <a:t>&lt;2; </a:t>
            </a:r>
            <a:r>
              <a:rPr lang="en-US" altLang="zh-TW" sz="1600" dirty="0" err="1">
                <a:latin typeface="Courier New" pitchFamily="49" charset="0"/>
              </a:rPr>
              <a:t>i</a:t>
            </a:r>
            <a:r>
              <a:rPr lang="en-US" altLang="zh-TW" sz="1600" dirty="0">
                <a:latin typeface="Courier New" pitchFamily="49" charset="0"/>
              </a:rPr>
              <a:t>++)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</a:rPr>
              <a:t>		</a:t>
            </a:r>
            <a:r>
              <a:rPr lang="en-US" altLang="zh-TW" sz="1600" dirty="0" err="1">
                <a:latin typeface="Courier New" pitchFamily="49" charset="0"/>
              </a:rPr>
              <a:t>cout</a:t>
            </a:r>
            <a:r>
              <a:rPr lang="en-US" altLang="zh-TW" sz="1600" dirty="0">
                <a:latin typeface="Courier New" pitchFamily="49" charset="0"/>
              </a:rPr>
              <a:t> &lt;&lt; b[</a:t>
            </a:r>
            <a:r>
              <a:rPr lang="en-US" altLang="zh-TW" sz="1600" dirty="0" err="1">
                <a:latin typeface="Courier New" pitchFamily="49" charset="0"/>
              </a:rPr>
              <a:t>i</a:t>
            </a:r>
            <a:r>
              <a:rPr lang="en-US" altLang="zh-TW" sz="1600" dirty="0">
                <a:latin typeface="Courier New" pitchFamily="49" charset="0"/>
              </a:rPr>
              <a:t>] &lt;&lt; </a:t>
            </a:r>
            <a:r>
              <a:rPr lang="en-US" altLang="zh-TW" sz="1600" dirty="0" err="1">
                <a:latin typeface="Courier New" pitchFamily="49" charset="0"/>
              </a:rPr>
              <a:t>endl</a:t>
            </a:r>
            <a:r>
              <a:rPr lang="en-US" altLang="zh-TW" sz="16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6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</a:rPr>
              <a:t>void f2(char (*p)[6])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</a:rPr>
              <a:t>	for (int </a:t>
            </a:r>
            <a:r>
              <a:rPr lang="en-US" altLang="zh-TW" sz="1600" dirty="0" err="1">
                <a:latin typeface="Courier New" pitchFamily="49" charset="0"/>
              </a:rPr>
              <a:t>i</a:t>
            </a:r>
            <a:r>
              <a:rPr lang="en-US" altLang="zh-TW" sz="1600" dirty="0">
                <a:latin typeface="Courier New" pitchFamily="49" charset="0"/>
              </a:rPr>
              <a:t>=0; </a:t>
            </a:r>
            <a:r>
              <a:rPr lang="en-US" altLang="zh-TW" sz="1600" dirty="0" err="1">
                <a:latin typeface="Courier New" pitchFamily="49" charset="0"/>
              </a:rPr>
              <a:t>i</a:t>
            </a:r>
            <a:r>
              <a:rPr lang="en-US" altLang="zh-TW" sz="1600" dirty="0">
                <a:latin typeface="Courier New" pitchFamily="49" charset="0"/>
              </a:rPr>
              <a:t>&lt;2; </a:t>
            </a:r>
            <a:r>
              <a:rPr lang="en-US" altLang="zh-TW" sz="1600" dirty="0" err="1">
                <a:latin typeface="Courier New" pitchFamily="49" charset="0"/>
              </a:rPr>
              <a:t>i</a:t>
            </a:r>
            <a:r>
              <a:rPr lang="en-US" altLang="zh-TW" sz="1600" dirty="0">
                <a:latin typeface="Courier New" pitchFamily="49" charset="0"/>
              </a:rPr>
              <a:t>++)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</a:rPr>
              <a:t>		</a:t>
            </a:r>
            <a:r>
              <a:rPr lang="en-US" altLang="zh-TW" sz="1600" dirty="0" err="1">
                <a:latin typeface="Courier New" pitchFamily="49" charset="0"/>
              </a:rPr>
              <a:t>cout</a:t>
            </a:r>
            <a:r>
              <a:rPr lang="en-US" altLang="zh-TW" sz="1600" dirty="0">
                <a:latin typeface="Courier New" pitchFamily="49" charset="0"/>
              </a:rPr>
              <a:t> &lt;&lt; *(p++) &lt;&lt; </a:t>
            </a:r>
            <a:r>
              <a:rPr lang="en-US" altLang="zh-TW" sz="1600" dirty="0" err="1">
                <a:latin typeface="Courier New" pitchFamily="49" charset="0"/>
              </a:rPr>
              <a:t>endl</a:t>
            </a:r>
            <a:r>
              <a:rPr lang="en-US" altLang="zh-TW" sz="16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6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2294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3600"/>
            <a:ext cx="7772400" cy="1144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>
                <a:ea typeface="新細明體" charset="-120"/>
              </a:rPr>
              <a:t>Arrays, pointers and </a:t>
            </a:r>
            <a:r>
              <a:rPr lang="en-US" altLang="zh-TW" b="1" dirty="0">
                <a:solidFill>
                  <a:srgbClr val="0070C0"/>
                </a:solidFill>
                <a:ea typeface="新細明體" charset="-120"/>
              </a:rPr>
              <a:t>strings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752600"/>
            <a:ext cx="7772400" cy="4267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900" dirty="0">
                <a:latin typeface="Courier New" pitchFamily="49" charset="0"/>
                <a:ea typeface="新細明體" charset="-120"/>
              </a:rPr>
              <a:t>char s[]="</a:t>
            </a:r>
            <a:r>
              <a:rPr lang="en-US" altLang="zh-TW" sz="1900" dirty="0" err="1">
                <a:latin typeface="Courier New" pitchFamily="49" charset="0"/>
                <a:ea typeface="新細明體" charset="-120"/>
              </a:rPr>
              <a:t>abc</a:t>
            </a:r>
            <a:r>
              <a:rPr lang="en-US" altLang="zh-TW" sz="1900" dirty="0">
                <a:latin typeface="Courier New" pitchFamily="49" charset="0"/>
                <a:ea typeface="新細明體" charset="-120"/>
              </a:rPr>
              <a:t>";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900" dirty="0">
                <a:latin typeface="Courier New" pitchFamily="49" charset="0"/>
                <a:ea typeface="新細明體" charset="-120"/>
              </a:rPr>
              <a:t>s="</a:t>
            </a:r>
            <a:r>
              <a:rPr lang="en-US" altLang="zh-TW" sz="1900" dirty="0" err="1">
                <a:latin typeface="Courier New" pitchFamily="49" charset="0"/>
                <a:ea typeface="新細明體" charset="-120"/>
              </a:rPr>
              <a:t>abcd</a:t>
            </a:r>
            <a:r>
              <a:rPr lang="en-US" altLang="zh-TW" sz="1900" dirty="0">
                <a:latin typeface="Courier New" pitchFamily="49" charset="0"/>
                <a:ea typeface="新細明體" charset="-120"/>
              </a:rPr>
              <a:t>";</a:t>
            </a:r>
            <a:r>
              <a:rPr lang="en-US" altLang="zh-TW" sz="1900" dirty="0">
                <a:solidFill>
                  <a:srgbClr val="006600"/>
                </a:solidFill>
                <a:latin typeface="Courier New" pitchFamily="49" charset="0"/>
                <a:ea typeface="新細明體" charset="-12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900" dirty="0">
              <a:ea typeface="新細明體" charset="-12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900" dirty="0">
                <a:ea typeface="新細明體" charset="-120"/>
              </a:rPr>
              <a:t>Illegal as </a:t>
            </a:r>
            <a:r>
              <a:rPr lang="en-US" altLang="zh-TW" sz="1900" dirty="0">
                <a:solidFill>
                  <a:schemeClr val="accent2"/>
                </a:solidFill>
                <a:latin typeface="Courier New" pitchFamily="49" charset="0"/>
                <a:ea typeface="新細明體" charset="-120"/>
              </a:rPr>
              <a:t>s</a:t>
            </a:r>
            <a:r>
              <a:rPr lang="en-US" altLang="zh-TW" sz="1900" dirty="0">
                <a:ea typeface="新細明體" charset="-120"/>
              </a:rPr>
              <a:t> is a </a:t>
            </a:r>
            <a:r>
              <a:rPr lang="en-US" altLang="zh-TW" sz="1900" dirty="0">
                <a:solidFill>
                  <a:schemeClr val="accent2"/>
                </a:solidFill>
                <a:ea typeface="新細明體" charset="-120"/>
              </a:rPr>
              <a:t>constant</a:t>
            </a:r>
            <a:r>
              <a:rPr lang="en-US" altLang="zh-TW" sz="1900" dirty="0">
                <a:ea typeface="新細明體" charset="-120"/>
              </a:rPr>
              <a:t> </a:t>
            </a:r>
            <a:r>
              <a:rPr lang="en-US" altLang="zh-TW" sz="1900" dirty="0">
                <a:solidFill>
                  <a:schemeClr val="accent2"/>
                </a:solidFill>
                <a:ea typeface="新細明體" charset="-120"/>
              </a:rPr>
              <a:t>pointer</a:t>
            </a:r>
            <a:r>
              <a:rPr lang="en-US" altLang="zh-TW" sz="1900" dirty="0">
                <a:ea typeface="新細明體" charset="-120"/>
              </a:rPr>
              <a:t> and cannot be modified</a:t>
            </a:r>
            <a:endParaRPr lang="en-US" altLang="zh-TW" sz="1900" dirty="0">
              <a:latin typeface="Courier New" pitchFamily="49" charset="0"/>
              <a:ea typeface="新細明體" charset="-12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TW" sz="1900" dirty="0">
              <a:ea typeface="新細明體" charset="-120"/>
            </a:endParaRPr>
          </a:p>
          <a:p>
            <a:pPr eaLnBrk="1" hangingPunct="1">
              <a:buFont typeface="Wingdings" pitchFamily="2" charset="2"/>
              <a:buNone/>
            </a:pPr>
            <a:endParaRPr lang="zh-TW" altLang="en-US" sz="1900" dirty="0">
              <a:solidFill>
                <a:schemeClr val="accent2"/>
              </a:solidFill>
              <a:ea typeface="新細明體" charset="-120"/>
            </a:endParaRPr>
          </a:p>
        </p:txBody>
      </p:sp>
      <p:graphicFrame>
        <p:nvGraphicFramePr>
          <p:cNvPr id="16389" name="Object 20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59878836"/>
              </p:ext>
            </p:extLst>
          </p:nvPr>
        </p:nvGraphicFramePr>
        <p:xfrm>
          <a:off x="1066800" y="3505200"/>
          <a:ext cx="689610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367128" imgH="1859198" progId="Visio.Drawing.11">
                  <p:embed/>
                </p:oleObj>
              </mc:Choice>
              <mc:Fallback>
                <p:oleObj name="Visio" r:id="rId3" imgW="7367128" imgH="1859198" progId="Visio.Drawing.11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505200"/>
                        <a:ext cx="6896100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80DA47-CFF0-AE6E-00EA-185EDDD11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5E69E-0F67-4EF9-9BD9-4C150AC24529}" type="slidenum">
              <a:rPr lang="zh-TW" altLang="en-US" smtClean="0"/>
              <a:pPr>
                <a:defRPr/>
              </a:pPr>
              <a:t>18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3600"/>
            <a:ext cx="7772400" cy="1144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dirty="0">
                <a:latin typeface="Courier New" pitchFamily="49" charset="0"/>
                <a:ea typeface="新細明體" charset="-120"/>
              </a:rPr>
              <a:t> &gt;&gt; </a:t>
            </a:r>
            <a:r>
              <a:rPr lang="en-US" altLang="zh-TW" dirty="0">
                <a:ea typeface="新細明體" charset="-120"/>
              </a:rPr>
              <a:t>a string (I)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752600"/>
            <a:ext cx="39243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100" dirty="0">
                <a:latin typeface="Courier New" pitchFamily="49" charset="0"/>
                <a:ea typeface="新細明體" charset="-120"/>
              </a:rPr>
              <a:t>char s[]="</a:t>
            </a:r>
            <a:r>
              <a:rPr lang="en-US" altLang="zh-TW" sz="2100" dirty="0" err="1">
                <a:latin typeface="Courier New" pitchFamily="49" charset="0"/>
                <a:ea typeface="新細明體" charset="-120"/>
              </a:rPr>
              <a:t>abc</a:t>
            </a:r>
            <a:r>
              <a:rPr lang="en-US" altLang="zh-TW" sz="2100" dirty="0">
                <a:latin typeface="Courier New" pitchFamily="49" charset="0"/>
                <a:ea typeface="新細明體" charset="-120"/>
              </a:rPr>
              <a:t>";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1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2100" dirty="0">
                <a:latin typeface="Courier New" pitchFamily="49" charset="0"/>
                <a:ea typeface="新細明體" charset="-120"/>
              </a:rPr>
              <a:t> &gt;&gt; s;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100" dirty="0">
              <a:latin typeface="Courier New" pitchFamily="49" charset="0"/>
              <a:ea typeface="新細明體" charset="-120"/>
            </a:endParaRPr>
          </a:p>
        </p:txBody>
      </p:sp>
      <p:graphicFrame>
        <p:nvGraphicFramePr>
          <p:cNvPr id="17414" name="Object 1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73958766"/>
              </p:ext>
            </p:extLst>
          </p:nvPr>
        </p:nvGraphicFramePr>
        <p:xfrm>
          <a:off x="2346325" y="3886200"/>
          <a:ext cx="5365750" cy="162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926987" imgH="1793340" progId="Visio.Drawing.11">
                  <p:embed/>
                </p:oleObj>
              </mc:Choice>
              <mc:Fallback>
                <p:oleObj name="Visio" r:id="rId3" imgW="5926987" imgH="1793340" progId="Visio.Drawing.11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325" y="3886200"/>
                        <a:ext cx="5365750" cy="162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Rectangle 13"/>
          <p:cNvSpPr>
            <a:spLocks noChangeArrowheads="1"/>
          </p:cNvSpPr>
          <p:nvPr/>
        </p:nvSpPr>
        <p:spPr bwMode="auto">
          <a:xfrm>
            <a:off x="5181600" y="1865312"/>
            <a:ext cx="3039615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TW" sz="2400" dirty="0">
                <a:latin typeface="Comic Sans MS" pitchFamily="66" charset="0"/>
                <a:ea typeface="新細明體" charset="-120"/>
              </a:rPr>
              <a:t>input: “Hello World”</a:t>
            </a:r>
            <a:endParaRPr kumimoji="1" lang="en-US" altLang="zh-TW" sz="2400" dirty="0">
              <a:latin typeface="Courier New" pitchFamily="49" charset="0"/>
              <a:ea typeface="新細明體" charset="-12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FAC259-AF34-E014-F9DC-8B8CEB9FF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5E69E-0F67-4EF9-9BD9-4C150AC24529}" type="slidenum">
              <a:rPr lang="zh-TW" altLang="en-US" smtClean="0"/>
              <a:pPr>
                <a:defRPr/>
              </a:pPr>
              <a:t>19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dirty="0">
                <a:latin typeface="Courier New" pitchFamily="49" charset="0"/>
                <a:ea typeface="新細明體" charset="-120"/>
              </a:rPr>
              <a:t> &gt;&gt; </a:t>
            </a:r>
            <a:r>
              <a:rPr lang="en-US" altLang="zh-TW" dirty="0">
                <a:ea typeface="新細明體" charset="-120"/>
              </a:rPr>
              <a:t>a string (I)</a:t>
            </a:r>
          </a:p>
        </p:txBody>
      </p:sp>
      <p:graphicFrame>
        <p:nvGraphicFramePr>
          <p:cNvPr id="18436" name="Object 4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578728140"/>
              </p:ext>
            </p:extLst>
          </p:nvPr>
        </p:nvGraphicFramePr>
        <p:xfrm>
          <a:off x="914400" y="1600200"/>
          <a:ext cx="5551487" cy="289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367066" imgH="3839130" progId="Visio.Drawing.11">
                  <p:embed/>
                </p:oleObj>
              </mc:Choice>
              <mc:Fallback>
                <p:oleObj name="Visio" r:id="rId3" imgW="7367066" imgH="383913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600200"/>
                        <a:ext cx="5551487" cy="289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Text Box 7"/>
          <p:cNvSpPr txBox="1">
            <a:spLocks noChangeArrowheads="1"/>
          </p:cNvSpPr>
          <p:nvPr/>
        </p:nvSpPr>
        <p:spPr bwMode="auto">
          <a:xfrm>
            <a:off x="914400" y="4697413"/>
            <a:ext cx="7772400" cy="14773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kumimoji="1" lang="en-US" altLang="zh-TW" dirty="0">
                <a:latin typeface="Comic Sans MS" pitchFamily="66" charset="0"/>
                <a:ea typeface="新細明體" charset="-120"/>
              </a:rPr>
              <a:t>Size of 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s</a:t>
            </a:r>
            <a:r>
              <a:rPr kumimoji="1" lang="en-US" altLang="zh-TW" dirty="0">
                <a:latin typeface="Comic Sans MS" pitchFamily="66" charset="0"/>
                <a:ea typeface="新細明體" charset="-120"/>
              </a:rPr>
              <a:t> is </a:t>
            </a:r>
            <a:r>
              <a:rPr kumimoji="1" lang="en-US" altLang="zh-TW" b="1" dirty="0">
                <a:solidFill>
                  <a:srgbClr val="0070C0"/>
                </a:solidFill>
                <a:latin typeface="Courier New" pitchFamily="49" charset="0"/>
                <a:ea typeface="新細明體" charset="-120"/>
              </a:rPr>
              <a:t>4</a:t>
            </a:r>
            <a:r>
              <a:rPr kumimoji="1" lang="en-US" altLang="zh-TW" dirty="0">
                <a:latin typeface="Comic Sans MS" pitchFamily="66" charset="0"/>
                <a:ea typeface="新細明體" charset="-120"/>
              </a:rPr>
              <a:t>. Array out-of-bound!  </a:t>
            </a:r>
            <a:r>
              <a:rPr kumimoji="1" lang="en-US" altLang="zh-TW" dirty="0" err="1">
                <a:latin typeface="Courier New" pitchFamily="49" charset="0"/>
                <a:ea typeface="新細明體" charset="-120"/>
              </a:rPr>
              <a:t>cin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 &gt;&gt; </a:t>
            </a:r>
            <a:r>
              <a:rPr kumimoji="1" lang="en-US" altLang="zh-TW" dirty="0">
                <a:latin typeface="Comic Sans MS" pitchFamily="66" charset="0"/>
                <a:ea typeface="新細明體" charset="-120"/>
              </a:rPr>
              <a:t>does not perform bound-checking</a:t>
            </a:r>
          </a:p>
          <a:p>
            <a:pPr eaLnBrk="1" hangingPunct="1"/>
            <a:r>
              <a:rPr kumimoji="1" lang="en-US" altLang="zh-TW" dirty="0">
                <a:latin typeface="Comic Sans MS" pitchFamily="66" charset="0"/>
                <a:ea typeface="新細明體" charset="-120"/>
              </a:rPr>
              <a:t>Better to use:</a:t>
            </a:r>
          </a:p>
          <a:p>
            <a:pPr eaLnBrk="1" hangingPunct="1"/>
            <a:r>
              <a:rPr kumimoji="1" lang="en-US" altLang="zh-TW" dirty="0">
                <a:latin typeface="Courier New" pitchFamily="49" charset="0"/>
                <a:ea typeface="新細明體" charset="-120"/>
              </a:rPr>
              <a:t>  </a:t>
            </a:r>
            <a:r>
              <a:rPr kumimoji="1" lang="en-US" altLang="zh-TW" dirty="0" err="1">
                <a:latin typeface="Courier New" pitchFamily="49" charset="0"/>
                <a:ea typeface="新細明體" charset="-120"/>
              </a:rPr>
              <a:t>cin.getline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(s,</a:t>
            </a:r>
            <a:r>
              <a:rPr kumimoji="1" lang="en-US" altLang="zh-TW" b="1" dirty="0">
                <a:solidFill>
                  <a:srgbClr val="0070C0"/>
                </a:solidFill>
                <a:latin typeface="Courier New" pitchFamily="49" charset="0"/>
                <a:ea typeface="新細明體" charset="-120"/>
              </a:rPr>
              <a:t>4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); /*read at most </a:t>
            </a:r>
            <a:r>
              <a:rPr kumimoji="1" lang="en-US" altLang="zh-TW" b="1" dirty="0">
                <a:solidFill>
                  <a:srgbClr val="0070C0"/>
                </a:solidFill>
                <a:latin typeface="Courier New" pitchFamily="49" charset="0"/>
                <a:ea typeface="新細明體" charset="-120"/>
              </a:rPr>
              <a:t>3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 characters*/</a:t>
            </a:r>
          </a:p>
          <a:p>
            <a:pPr eaLnBrk="1" hangingPunct="1"/>
            <a:r>
              <a:rPr kumimoji="1" lang="en-US" altLang="zh-TW" dirty="0">
                <a:latin typeface="Comic Sans MS" pitchFamily="66" charset="0"/>
                <a:ea typeface="新細明體" charset="-120"/>
              </a:rPr>
              <a:t>Leaving space for the final</a:t>
            </a:r>
            <a:r>
              <a:rPr kumimoji="1" lang="en-US" altLang="zh-TW" dirty="0">
                <a:latin typeface="Courier New" pitchFamily="49" charset="0"/>
                <a:ea typeface="新細明體" charset="-120"/>
              </a:rPr>
              <a:t> '\0'</a:t>
            </a:r>
            <a:r>
              <a:rPr kumimoji="1" lang="en-US" altLang="zh-TW" dirty="0">
                <a:latin typeface="Comic Sans MS" pitchFamily="66" charset="0"/>
                <a:ea typeface="新細明體" charset="-120"/>
              </a:rPr>
              <a:t> character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5FD8E7-2309-1559-E6F7-E9874D171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20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CB05D-A1E4-1026-B986-01443E2A7090}"/>
              </a:ext>
            </a:extLst>
          </p:cNvPr>
          <p:cNvSpPr txBox="1"/>
          <p:nvPr/>
        </p:nvSpPr>
        <p:spPr>
          <a:xfrm>
            <a:off x="691052" y="6395088"/>
            <a:ext cx="1693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lec08-06-cin.cpp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3600"/>
            <a:ext cx="7772400" cy="1144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dirty="0">
                <a:latin typeface="Courier New" pitchFamily="49" charset="0"/>
                <a:ea typeface="新細明體" charset="-120"/>
              </a:rPr>
              <a:t> &gt;&gt; </a:t>
            </a:r>
            <a:r>
              <a:rPr lang="en-US" altLang="zh-TW" dirty="0">
                <a:ea typeface="新細明體" charset="-120"/>
              </a:rPr>
              <a:t>a string (II)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701800"/>
            <a:ext cx="39243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900" dirty="0">
                <a:latin typeface="Courier New" pitchFamily="49" charset="0"/>
                <a:ea typeface="新細明體" charset="-120"/>
              </a:rPr>
              <a:t>#include &lt;</a:t>
            </a:r>
            <a:r>
              <a:rPr lang="en-US" altLang="zh-TW" sz="1900" dirty="0" err="1">
                <a:latin typeface="Courier New" pitchFamily="49" charset="0"/>
                <a:ea typeface="新細明體" charset="-120"/>
              </a:rPr>
              <a:t>iostream</a:t>
            </a:r>
            <a:r>
              <a:rPr lang="en-US" altLang="zh-TW" sz="1900" dirty="0">
                <a:latin typeface="Courier New" pitchFamily="49" charset="0"/>
                <a:ea typeface="新細明體" charset="-120"/>
              </a:rPr>
              <a:t>&gt;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900" dirty="0">
                <a:latin typeface="Courier New" pitchFamily="49" charset="0"/>
                <a:ea typeface="新細明體" charset="-120"/>
              </a:rPr>
              <a:t>using namespace </a:t>
            </a:r>
            <a:r>
              <a:rPr lang="en-US" altLang="zh-TW" sz="1900" dirty="0" err="1">
                <a:latin typeface="Courier New" pitchFamily="49" charset="0"/>
                <a:ea typeface="新細明體" charset="-120"/>
              </a:rPr>
              <a:t>std</a:t>
            </a:r>
            <a:r>
              <a:rPr lang="en-US" altLang="zh-TW" sz="1900" dirty="0">
                <a:latin typeface="Courier New" pitchFamily="49" charset="0"/>
                <a:ea typeface="新細明體" charset="-12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900" dirty="0">
                <a:latin typeface="Courier New" pitchFamily="49" charset="0"/>
                <a:ea typeface="新細明體" charset="-120"/>
              </a:rPr>
              <a:t>void main ()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900" dirty="0">
                <a:latin typeface="Courier New" pitchFamily="49" charset="0"/>
                <a:ea typeface="新細明體" charset="-120"/>
              </a:rPr>
              <a:t>	char *s1;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9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9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1900" dirty="0">
                <a:latin typeface="Courier New" pitchFamily="49" charset="0"/>
                <a:ea typeface="新細明體" charset="-120"/>
              </a:rPr>
              <a:t> &gt;&gt; s1;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9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9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900" dirty="0">
                <a:latin typeface="Courier New" pitchFamily="49" charset="0"/>
                <a:ea typeface="新細明體" charset="-120"/>
              </a:rPr>
              <a:t> &lt;&lt; s1 &lt;&lt;</a:t>
            </a:r>
            <a:r>
              <a:rPr lang="en-US" altLang="zh-TW" sz="1900" dirty="0" err="1">
                <a:latin typeface="Courier New" pitchFamily="49" charset="0"/>
                <a:ea typeface="新細明體" charset="-120"/>
              </a:rPr>
              <a:t>endl</a:t>
            </a:r>
            <a:r>
              <a:rPr lang="en-US" altLang="zh-TW" sz="1900" dirty="0">
                <a:latin typeface="Courier New" pitchFamily="49" charset="0"/>
                <a:ea typeface="新細明體" charset="-12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900" dirty="0">
                <a:latin typeface="Courier New" pitchFamily="49" charset="0"/>
                <a:ea typeface="新細明體" charset="-120"/>
              </a:rPr>
              <a:t>}</a:t>
            </a:r>
          </a:p>
        </p:txBody>
      </p:sp>
      <p:graphicFrame>
        <p:nvGraphicFramePr>
          <p:cNvPr id="19462" name="Object 9"/>
          <p:cNvGraphicFramePr>
            <a:graphicFrameLocks noGrp="1" noChangeAspect="1"/>
          </p:cNvGraphicFramePr>
          <p:nvPr>
            <p:ph sz="half" idx="2"/>
          </p:nvPr>
        </p:nvGraphicFramePr>
        <p:xfrm>
          <a:off x="4953000" y="2514600"/>
          <a:ext cx="1985963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985421" imgH="595937" progId="Visio.Drawing.11">
                  <p:embed/>
                </p:oleObj>
              </mc:Choice>
              <mc:Fallback>
                <p:oleObj name="Visio" r:id="rId3" imgW="1985421" imgH="595937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514600"/>
                        <a:ext cx="1985963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914400" y="4343400"/>
            <a:ext cx="7162800" cy="19389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kumimoji="1" lang="en-US" altLang="zh-TW" sz="2000" b="1" dirty="0">
                <a:solidFill>
                  <a:srgbClr val="FF0000"/>
                </a:solidFill>
                <a:latin typeface="Courier New" pitchFamily="49" charset="0"/>
                <a:ea typeface="新細明體" charset="-120"/>
                <a:cs typeface="Courier New" pitchFamily="49" charset="0"/>
              </a:rPr>
              <a:t>Problem</a:t>
            </a:r>
            <a:r>
              <a:rPr kumimoji="1" lang="en-US" altLang="zh-TW" sz="2000" dirty="0">
                <a:latin typeface="Courier New" pitchFamily="49" charset="0"/>
                <a:ea typeface="新細明體" charset="-120"/>
                <a:cs typeface="Courier New" pitchFamily="49" charset="0"/>
              </a:rPr>
              <a:t>: when we declare the pointer </a:t>
            </a:r>
            <a:r>
              <a:rPr kumimoji="1" lang="en-US" altLang="zh-TW" sz="2000" dirty="0">
                <a:solidFill>
                  <a:schemeClr val="accent2"/>
                </a:solidFill>
                <a:latin typeface="Courier New" pitchFamily="49" charset="0"/>
                <a:ea typeface="新細明體" charset="-120"/>
                <a:cs typeface="Courier New" pitchFamily="49" charset="0"/>
              </a:rPr>
              <a:t>s1</a:t>
            </a:r>
            <a:r>
              <a:rPr kumimoji="1" lang="en-US" altLang="zh-TW" sz="2000" dirty="0">
                <a:latin typeface="Courier New" pitchFamily="49" charset="0"/>
                <a:ea typeface="新細明體" charset="-120"/>
                <a:cs typeface="Courier New" pitchFamily="49" charset="0"/>
              </a:rPr>
              <a:t>, we do not know where </a:t>
            </a:r>
            <a:r>
              <a:rPr kumimoji="1" lang="en-US" altLang="zh-TW" sz="2000" dirty="0">
                <a:solidFill>
                  <a:schemeClr val="accent2"/>
                </a:solidFill>
                <a:latin typeface="Courier New" pitchFamily="49" charset="0"/>
                <a:ea typeface="新細明體" charset="-120"/>
                <a:cs typeface="Courier New" pitchFamily="49" charset="0"/>
              </a:rPr>
              <a:t>s1</a:t>
            </a:r>
            <a:r>
              <a:rPr kumimoji="1" lang="en-US" altLang="zh-TW" sz="2000" dirty="0">
                <a:latin typeface="Courier New" pitchFamily="49" charset="0"/>
                <a:ea typeface="新細明體" charset="-120"/>
                <a:cs typeface="Courier New" pitchFamily="49" charset="0"/>
              </a:rPr>
              <a:t> points to. </a:t>
            </a:r>
          </a:p>
          <a:p>
            <a:pPr eaLnBrk="1" hangingPunct="1"/>
            <a:r>
              <a:rPr kumimoji="1" lang="en-US" altLang="zh-TW" sz="2000" dirty="0">
                <a:latin typeface="Courier New" pitchFamily="49" charset="0"/>
                <a:ea typeface="新細明體" charset="-120"/>
                <a:cs typeface="Courier New" pitchFamily="49" charset="0"/>
              </a:rPr>
              <a:t>In this example, we try to read a string and store it in the location pointed by </a:t>
            </a:r>
            <a:r>
              <a:rPr kumimoji="1" lang="en-US" altLang="zh-TW" sz="2000" dirty="0">
                <a:solidFill>
                  <a:schemeClr val="accent2"/>
                </a:solidFill>
                <a:latin typeface="Courier New" pitchFamily="49" charset="0"/>
                <a:ea typeface="新細明體" charset="-120"/>
                <a:cs typeface="Courier New" pitchFamily="49" charset="0"/>
              </a:rPr>
              <a:t>s1</a:t>
            </a:r>
            <a:r>
              <a:rPr kumimoji="1" lang="en-US" altLang="zh-TW" sz="2000" dirty="0">
                <a:latin typeface="Courier New" pitchFamily="49" charset="0"/>
                <a:ea typeface="新細明體" charset="-120"/>
                <a:cs typeface="Courier New" pitchFamily="49" charset="0"/>
              </a:rPr>
              <a:t>. </a:t>
            </a:r>
          </a:p>
          <a:p>
            <a:pPr eaLnBrk="1" hangingPunct="1"/>
            <a:r>
              <a:rPr kumimoji="1" lang="en-US" altLang="zh-TW" sz="2000" dirty="0">
                <a:latin typeface="Courier New" pitchFamily="49" charset="0"/>
                <a:ea typeface="新細明體" charset="-120"/>
                <a:cs typeface="Courier New" pitchFamily="49" charset="0"/>
              </a:rPr>
              <a:t>This may generate errors as we may overwrite some important locations in 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11CF79-D6B0-0E4E-5817-BA386B78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5E69E-0F67-4EF9-9BD9-4C150AC24529}" type="slidenum">
              <a:rPr lang="zh-TW" altLang="en-US" smtClean="0"/>
              <a:pPr>
                <a:defRPr/>
              </a:pPr>
              <a:t>21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3600"/>
            <a:ext cx="7772400" cy="1144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sz="3200" dirty="0">
                <a:ea typeface="新細明體" charset="-120"/>
              </a:rPr>
              <a:t>Dynamic memory allocation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676400"/>
            <a:ext cx="7772400" cy="46482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pPr eaLnBrk="1" hangingPunct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r>
              <a:rPr lang="en-US" altLang="zh-TW" sz="2400" dirty="0">
                <a:ea typeface="新細明體" charset="-120"/>
              </a:rPr>
              <a:t>Keywords: </a:t>
            </a:r>
            <a:r>
              <a:rPr lang="en-US" altLang="zh-TW" sz="2400" b="1" dirty="0">
                <a:ea typeface="新細明體" charset="-120"/>
              </a:rPr>
              <a:t>new</a:t>
            </a:r>
            <a:r>
              <a:rPr lang="en-US" altLang="zh-TW" sz="2400" dirty="0">
                <a:ea typeface="新細明體" charset="-120"/>
              </a:rPr>
              <a:t> &amp; </a:t>
            </a:r>
            <a:r>
              <a:rPr lang="en-US" altLang="zh-TW" sz="2400" b="1" dirty="0">
                <a:ea typeface="新細明體" charset="-120"/>
              </a:rPr>
              <a:t>delete</a:t>
            </a:r>
          </a:p>
          <a:p>
            <a:pPr lvl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r>
              <a:rPr lang="en-US" altLang="zh-TW" sz="1600" b="1" dirty="0" err="1">
                <a:solidFill>
                  <a:srgbClr val="0070C0"/>
                </a:solidFill>
                <a:latin typeface="Courier New" pitchFamily="49" charset="0"/>
                <a:ea typeface="新細明體" charset="-120"/>
              </a:rPr>
              <a:t>int</a:t>
            </a:r>
            <a:r>
              <a:rPr lang="en-US" altLang="zh-TW" sz="1600" b="1" dirty="0">
                <a:latin typeface="Courier New" pitchFamily="49" charset="0"/>
                <a:ea typeface="新細明體" charset="-120"/>
              </a:rPr>
              <a:t> *p = </a:t>
            </a:r>
            <a:r>
              <a:rPr lang="en-US" altLang="zh-TW" sz="1600" b="1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new</a:t>
            </a:r>
            <a:r>
              <a:rPr lang="en-US" altLang="zh-TW" sz="1600" b="1" dirty="0">
                <a:latin typeface="Courier New" pitchFamily="49" charset="0"/>
                <a:ea typeface="新細明體" charset="-120"/>
              </a:rPr>
              <a:t> </a:t>
            </a:r>
            <a:r>
              <a:rPr lang="en-US" altLang="zh-TW" sz="1600" b="1" dirty="0" err="1">
                <a:solidFill>
                  <a:srgbClr val="0070C0"/>
                </a:solidFill>
                <a:latin typeface="Courier New" pitchFamily="49" charset="0"/>
                <a:ea typeface="新細明體" charset="-120"/>
              </a:rPr>
              <a:t>int</a:t>
            </a:r>
            <a:r>
              <a:rPr lang="en-US" altLang="zh-TW" sz="1600" b="1" dirty="0">
                <a:latin typeface="Courier New" pitchFamily="49" charset="0"/>
                <a:ea typeface="新細明體" charset="-120"/>
              </a:rPr>
              <a:t>;</a:t>
            </a:r>
          </a:p>
          <a:p>
            <a:pPr lvl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endParaRPr lang="en-US" altLang="zh-TW" sz="1600" b="1" dirty="0">
              <a:solidFill>
                <a:schemeClr val="accent2"/>
              </a:solidFill>
              <a:latin typeface="Courier New" pitchFamily="49" charset="0"/>
            </a:endParaRPr>
          </a:p>
          <a:p>
            <a:pPr lvl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r>
              <a:rPr lang="en-US" altLang="zh-TW" sz="1600" b="1" dirty="0" err="1">
                <a:solidFill>
                  <a:srgbClr val="0070C0"/>
                </a:solidFill>
                <a:latin typeface="Courier New" pitchFamily="49" charset="0"/>
              </a:rPr>
              <a:t>int</a:t>
            </a:r>
            <a:r>
              <a:rPr lang="en-US" altLang="zh-TW" sz="1600" b="1" dirty="0">
                <a:latin typeface="Courier New" pitchFamily="49" charset="0"/>
              </a:rPr>
              <a:t> *p = </a:t>
            </a:r>
            <a:r>
              <a:rPr lang="en-US" altLang="zh-TW" sz="1600" b="1" dirty="0">
                <a:solidFill>
                  <a:srgbClr val="FF0000"/>
                </a:solidFill>
                <a:latin typeface="Courier New" pitchFamily="49" charset="0"/>
              </a:rPr>
              <a:t>new</a:t>
            </a:r>
            <a:r>
              <a:rPr lang="en-US" altLang="zh-TW" sz="1600" b="1" dirty="0">
                <a:latin typeface="Courier New" pitchFamily="49" charset="0"/>
              </a:rPr>
              <a:t> </a:t>
            </a:r>
            <a:r>
              <a:rPr lang="en-US" altLang="zh-TW" sz="1600" b="1" dirty="0" err="1">
                <a:solidFill>
                  <a:srgbClr val="0070C0"/>
                </a:solidFill>
                <a:latin typeface="Courier New" pitchFamily="49" charset="0"/>
              </a:rPr>
              <a:t>int</a:t>
            </a:r>
            <a:r>
              <a:rPr lang="en-US" altLang="zh-TW" sz="1600" b="1" dirty="0">
                <a:solidFill>
                  <a:srgbClr val="7030A0"/>
                </a:solidFill>
                <a:latin typeface="Courier New" pitchFamily="49" charset="0"/>
              </a:rPr>
              <a:t>(10)</a:t>
            </a:r>
            <a:r>
              <a:rPr lang="en-US" altLang="zh-TW" sz="1600" b="1" dirty="0">
                <a:latin typeface="Courier New" pitchFamily="49" charset="0"/>
              </a:rPr>
              <a:t>;</a:t>
            </a:r>
          </a:p>
          <a:p>
            <a:pPr lvl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r>
              <a:rPr lang="en-US" altLang="zh-TW" sz="1600" b="1" dirty="0">
                <a:solidFill>
                  <a:srgbClr val="0070C0"/>
                </a:solidFill>
                <a:latin typeface="Courier New" pitchFamily="49" charset="0"/>
              </a:rPr>
              <a:t>char</a:t>
            </a:r>
            <a:r>
              <a:rPr lang="en-US" altLang="zh-TW" sz="1600" b="1" dirty="0">
                <a:latin typeface="Courier New" pitchFamily="49" charset="0"/>
              </a:rPr>
              <a:t> *p = </a:t>
            </a:r>
            <a:r>
              <a:rPr lang="en-US" altLang="zh-TW" sz="1600" b="1" dirty="0">
                <a:solidFill>
                  <a:srgbClr val="FF0000"/>
                </a:solidFill>
                <a:latin typeface="Courier New" pitchFamily="49" charset="0"/>
              </a:rPr>
              <a:t>new</a:t>
            </a:r>
            <a:r>
              <a:rPr lang="en-US" altLang="zh-TW" sz="1600" b="1" dirty="0">
                <a:latin typeface="Courier New" pitchFamily="49" charset="0"/>
              </a:rPr>
              <a:t> </a:t>
            </a:r>
            <a:r>
              <a:rPr lang="en-US" altLang="zh-TW" sz="1600" b="1" dirty="0">
                <a:solidFill>
                  <a:srgbClr val="0070C0"/>
                </a:solidFill>
                <a:latin typeface="Courier New" pitchFamily="49" charset="0"/>
              </a:rPr>
              <a:t>char</a:t>
            </a:r>
            <a:r>
              <a:rPr lang="en-US" altLang="zh-TW" sz="1600" b="1" dirty="0">
                <a:solidFill>
                  <a:srgbClr val="7030A0"/>
                </a:solidFill>
                <a:latin typeface="Courier New" pitchFamily="49" charset="0"/>
              </a:rPr>
              <a:t>(‘a’)</a:t>
            </a:r>
            <a:r>
              <a:rPr lang="en-US" altLang="zh-TW" sz="1600" b="1" dirty="0">
                <a:latin typeface="Courier New" pitchFamily="49" charset="0"/>
              </a:rPr>
              <a:t>;</a:t>
            </a:r>
            <a:endParaRPr lang="en-US" altLang="zh-TW" sz="1600" b="1" dirty="0">
              <a:solidFill>
                <a:schemeClr val="accent2"/>
              </a:solidFill>
              <a:latin typeface="Courier New" pitchFamily="49" charset="0"/>
            </a:endParaRPr>
          </a:p>
          <a:p>
            <a:pPr lvl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endParaRPr lang="en-US" altLang="zh-TW" sz="1600" b="1" dirty="0">
              <a:solidFill>
                <a:schemeClr val="accent2"/>
              </a:solidFill>
              <a:latin typeface="Courier New" pitchFamily="49" charset="0"/>
              <a:ea typeface="新細明體" charset="-120"/>
            </a:endParaRPr>
          </a:p>
          <a:p>
            <a:pPr lvl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endParaRPr lang="en-US" altLang="zh-TW" sz="1600" b="1" dirty="0">
              <a:solidFill>
                <a:schemeClr val="accent2"/>
              </a:solidFill>
              <a:latin typeface="Courier New" pitchFamily="49" charset="0"/>
              <a:ea typeface="新細明體" charset="-120"/>
            </a:endParaRPr>
          </a:p>
          <a:p>
            <a:pPr lvl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r>
              <a:rPr lang="en-US" altLang="zh-TW" sz="1600" b="1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delete</a:t>
            </a:r>
            <a:r>
              <a:rPr lang="en-US" altLang="zh-TW" sz="1600" b="1" dirty="0">
                <a:latin typeface="Courier New" pitchFamily="49" charset="0"/>
                <a:ea typeface="新細明體" charset="-120"/>
              </a:rPr>
              <a:t> p;</a:t>
            </a:r>
          </a:p>
          <a:p>
            <a:pPr lvl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r>
              <a:rPr lang="en-US" altLang="zh-TW" sz="1600" b="1" dirty="0">
                <a:latin typeface="Courier New" pitchFamily="49" charset="0"/>
                <a:ea typeface="新細明體" charset="-120"/>
              </a:rPr>
              <a:t>*p = 10; // illegal</a:t>
            </a:r>
          </a:p>
          <a:p>
            <a:pPr lvl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endParaRPr lang="en-US" altLang="zh-TW" sz="1600" b="1" dirty="0">
              <a:latin typeface="Courier New" pitchFamily="49" charset="0"/>
              <a:ea typeface="新細明體" charset="-120"/>
            </a:endParaRPr>
          </a:p>
          <a:p>
            <a:pPr>
              <a:buClr>
                <a:schemeClr val="tx1"/>
              </a:buClr>
              <a:buSzPct val="50000"/>
              <a:buFont typeface="Wingdings" pitchFamily="2" charset="2"/>
              <a:buChar char="l"/>
            </a:pPr>
            <a:r>
              <a:rPr lang="en-US" altLang="zh-TW" sz="1800" b="1" dirty="0">
                <a:latin typeface="Courier New" pitchFamily="49" charset="0"/>
                <a:ea typeface="新細明體" charset="-120"/>
              </a:rPr>
              <a:t>Keywords: new [] &amp; delete []</a:t>
            </a:r>
          </a:p>
          <a:p>
            <a:pPr lvl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r>
              <a:rPr lang="en-US" altLang="zh-TW" sz="1600" b="1" dirty="0" err="1">
                <a:solidFill>
                  <a:srgbClr val="0070C0"/>
                </a:solidFill>
                <a:latin typeface="Courier New" pitchFamily="49" charset="0"/>
              </a:rPr>
              <a:t>int</a:t>
            </a:r>
            <a:r>
              <a:rPr lang="en-US" altLang="zh-TW" sz="1600" b="1" dirty="0">
                <a:latin typeface="Courier New" pitchFamily="49" charset="0"/>
              </a:rPr>
              <a:t> *p = </a:t>
            </a:r>
            <a:r>
              <a:rPr lang="en-US" altLang="zh-TW" sz="1600" b="1" dirty="0">
                <a:solidFill>
                  <a:srgbClr val="FF0000"/>
                </a:solidFill>
                <a:latin typeface="Courier New" pitchFamily="49" charset="0"/>
              </a:rPr>
              <a:t>new</a:t>
            </a:r>
            <a:r>
              <a:rPr lang="en-US" altLang="zh-TW" sz="1600" b="1" dirty="0">
                <a:latin typeface="Courier New" pitchFamily="49" charset="0"/>
              </a:rPr>
              <a:t> </a:t>
            </a:r>
            <a:r>
              <a:rPr lang="en-US" altLang="zh-TW" sz="1600" b="1" dirty="0" err="1">
                <a:solidFill>
                  <a:srgbClr val="0070C0"/>
                </a:solidFill>
                <a:latin typeface="Courier New" pitchFamily="49" charset="0"/>
              </a:rPr>
              <a:t>int</a:t>
            </a:r>
            <a:r>
              <a:rPr lang="en-US" altLang="zh-TW" sz="1600" b="1" dirty="0">
                <a:solidFill>
                  <a:srgbClr val="C00000"/>
                </a:solidFill>
                <a:latin typeface="Courier New" pitchFamily="49" charset="0"/>
              </a:rPr>
              <a:t>[20]</a:t>
            </a:r>
            <a:r>
              <a:rPr lang="en-US" altLang="zh-TW" sz="1600" b="1" dirty="0">
                <a:latin typeface="Courier New" pitchFamily="49" charset="0"/>
              </a:rPr>
              <a:t>;</a:t>
            </a:r>
          </a:p>
          <a:p>
            <a:pPr lvl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r>
              <a:rPr lang="en-US" altLang="zh-TW" sz="1600" b="1" dirty="0">
                <a:solidFill>
                  <a:srgbClr val="0070C0"/>
                </a:solidFill>
                <a:latin typeface="Courier New" pitchFamily="49" charset="0"/>
              </a:rPr>
              <a:t>char</a:t>
            </a:r>
            <a:r>
              <a:rPr lang="en-US" altLang="zh-TW" sz="1600" b="1" dirty="0">
                <a:latin typeface="Courier New" pitchFamily="49" charset="0"/>
              </a:rPr>
              <a:t> *p = </a:t>
            </a:r>
            <a:r>
              <a:rPr lang="en-US" altLang="zh-TW" sz="1600" b="1" dirty="0">
                <a:solidFill>
                  <a:srgbClr val="FF0000"/>
                </a:solidFill>
                <a:latin typeface="Courier New" pitchFamily="49" charset="0"/>
              </a:rPr>
              <a:t>new</a:t>
            </a:r>
            <a:r>
              <a:rPr lang="en-US" altLang="zh-TW" sz="1600" b="1" dirty="0">
                <a:latin typeface="Courier New" pitchFamily="49" charset="0"/>
              </a:rPr>
              <a:t> </a:t>
            </a:r>
            <a:r>
              <a:rPr lang="en-US" altLang="zh-TW" sz="1600" b="1" dirty="0">
                <a:solidFill>
                  <a:srgbClr val="0070C0"/>
                </a:solidFill>
                <a:latin typeface="Courier New" pitchFamily="49" charset="0"/>
              </a:rPr>
              <a:t>char</a:t>
            </a:r>
            <a:r>
              <a:rPr lang="en-US" altLang="zh-TW" sz="1600" b="1" dirty="0">
                <a:solidFill>
                  <a:srgbClr val="C00000"/>
                </a:solidFill>
                <a:latin typeface="Courier New" pitchFamily="49" charset="0"/>
              </a:rPr>
              <a:t>[20]</a:t>
            </a:r>
            <a:r>
              <a:rPr lang="en-US" altLang="zh-TW" sz="1600" b="1" dirty="0">
                <a:latin typeface="Courier New" pitchFamily="49" charset="0"/>
              </a:rPr>
              <a:t>;</a:t>
            </a:r>
          </a:p>
          <a:p>
            <a:pPr lvl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endParaRPr lang="en-US" altLang="zh-TW" sz="1600" b="1" dirty="0">
              <a:latin typeface="Courier New" pitchFamily="49" charset="0"/>
              <a:ea typeface="新細明體" charset="-120"/>
            </a:endParaRPr>
          </a:p>
          <a:p>
            <a:pPr lvl="1">
              <a:buClr>
                <a:schemeClr val="tx1"/>
              </a:buClr>
              <a:buSzPct val="50000"/>
              <a:buFont typeface="Wingdings" pitchFamily="2" charset="2"/>
              <a:buChar char="l"/>
            </a:pPr>
            <a:r>
              <a:rPr lang="en-US" altLang="zh-TW" sz="1600" b="1" dirty="0">
                <a:solidFill>
                  <a:srgbClr val="FF0000"/>
                </a:solidFill>
                <a:latin typeface="Courier New" pitchFamily="49" charset="0"/>
              </a:rPr>
              <a:t>delete []</a:t>
            </a:r>
            <a:r>
              <a:rPr lang="en-US" altLang="zh-TW" sz="1600" b="1" dirty="0">
                <a:latin typeface="Courier New" pitchFamily="49" charset="0"/>
              </a:rPr>
              <a:t> p;</a:t>
            </a:r>
            <a:endParaRPr lang="en-US" altLang="zh-TW" sz="1600" b="1" dirty="0">
              <a:latin typeface="Courier New" pitchFamily="49" charset="0"/>
              <a:ea typeface="新細明體" charset="-120"/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altLang="zh-TW" sz="1600" b="1" dirty="0">
              <a:solidFill>
                <a:schemeClr val="accent2"/>
              </a:solidFill>
              <a:latin typeface="Courier New" pitchFamily="49" charset="0"/>
              <a:ea typeface="新細明體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24600" y="1944469"/>
            <a:ext cx="1622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a;</a:t>
            </a:r>
          </a:p>
          <a:p>
            <a:r>
              <a:rPr lang="en-US" dirty="0" err="1"/>
              <a:t>int</a:t>
            </a:r>
            <a:r>
              <a:rPr lang="en-US" dirty="0"/>
              <a:t> *p = &amp;a;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5029200"/>
            <a:ext cx="1454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</a:t>
            </a:r>
            <a:r>
              <a:rPr lang="en-US" dirty="0"/>
              <a:t> a[20];</a:t>
            </a:r>
          </a:p>
          <a:p>
            <a:r>
              <a:rPr lang="en-US" dirty="0" err="1"/>
              <a:t>int</a:t>
            </a:r>
            <a:r>
              <a:rPr lang="en-US" dirty="0"/>
              <a:t> *p = a;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1E5A24-44E6-377D-93FD-A80F01392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5E69E-0F67-4EF9-9BD9-4C150AC24529}" type="slidenum">
              <a:rPr lang="zh-TW" altLang="en-US" smtClean="0"/>
              <a:pPr>
                <a:defRPr/>
              </a:pPr>
              <a:t>22</a:t>
            </a:fld>
            <a:endParaRPr lang="en-US" altLang="zh-TW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9857F6-E4D4-3C08-17D8-6DA39EB1E750}"/>
              </a:ext>
            </a:extLst>
          </p:cNvPr>
          <p:cNvSpPr txBox="1"/>
          <p:nvPr/>
        </p:nvSpPr>
        <p:spPr>
          <a:xfrm>
            <a:off x="691052" y="6395088"/>
            <a:ext cx="20505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lec08-07-dynamic.cpp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3600"/>
            <a:ext cx="7772400" cy="1144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sz="3200" dirty="0">
                <a:ea typeface="新細明體" charset="-120"/>
              </a:rPr>
              <a:t>Dynamic memory allocation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4648200" cy="4267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#include &lt;</a:t>
            </a:r>
            <a:r>
              <a:rPr lang="en-US" altLang="zh-TW" sz="1500" dirty="0" err="1">
                <a:latin typeface="Courier New" pitchFamily="49" charset="0"/>
                <a:ea typeface="新細明體" charset="-120"/>
              </a:rPr>
              <a:t>iostream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&gt;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void main () {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500" b="1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b="1" dirty="0">
                <a:solidFill>
                  <a:srgbClr val="A50021"/>
                </a:solidFill>
                <a:latin typeface="Courier New" pitchFamily="49" charset="0"/>
                <a:ea typeface="新細明體" charset="-120"/>
              </a:rPr>
              <a:t>char *s1=NULL;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solidFill>
                  <a:srgbClr val="A50021"/>
                </a:solidFill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s1=new char[4];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 &gt;&gt; s1; /*input "</a:t>
            </a:r>
            <a:r>
              <a:rPr lang="en-US" altLang="zh-TW" sz="1500" dirty="0" err="1">
                <a:latin typeface="Courier New" pitchFamily="49" charset="0"/>
                <a:ea typeface="新細明體" charset="-120"/>
              </a:rPr>
              <a:t>abc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"*/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 &lt;&lt; s1;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delete [] s1;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s1=new char[6];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 &gt;&gt; s1;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 &lt;&lt; s1;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delete [] s1;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dirty="0">
                <a:solidFill>
                  <a:srgbClr val="0000FF"/>
                </a:solidFill>
                <a:latin typeface="Courier New" pitchFamily="49" charset="0"/>
                <a:ea typeface="新細明體" charset="-120"/>
              </a:rPr>
              <a:t>s1=NULL;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}</a:t>
            </a:r>
          </a:p>
        </p:txBody>
      </p:sp>
      <p:sp>
        <p:nvSpPr>
          <p:cNvPr id="20485" name="Line 11"/>
          <p:cNvSpPr>
            <a:spLocks noChangeShapeType="1"/>
          </p:cNvSpPr>
          <p:nvPr/>
        </p:nvSpPr>
        <p:spPr bwMode="auto">
          <a:xfrm>
            <a:off x="609600" y="2438400"/>
            <a:ext cx="381000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279E06-17EA-B132-34E1-4C95EEE43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5E69E-0F67-4EF9-9BD9-4C150AC24529}" type="slidenum">
              <a:rPr lang="zh-TW" altLang="en-US" smtClean="0"/>
              <a:pPr>
                <a:defRPr/>
              </a:pPr>
              <a:t>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16419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3600"/>
            <a:ext cx="7772400" cy="1144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sz="3200" dirty="0">
                <a:ea typeface="新細明體" charset="-120"/>
              </a:rPr>
              <a:t>Dynamic memory allocation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4648200" cy="4267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#include &lt;</a:t>
            </a:r>
            <a:r>
              <a:rPr lang="en-US" altLang="zh-TW" sz="1500" dirty="0" err="1">
                <a:latin typeface="Courier New" pitchFamily="49" charset="0"/>
                <a:ea typeface="新細明體" charset="-120"/>
              </a:rPr>
              <a:t>iostream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&gt;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void main () 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char *s1=NULL;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solidFill>
                  <a:srgbClr val="A50021"/>
                </a:solidFill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b="1" dirty="0">
                <a:solidFill>
                  <a:srgbClr val="A50021"/>
                </a:solidFill>
                <a:latin typeface="Courier New" pitchFamily="49" charset="0"/>
                <a:ea typeface="新細明體" charset="-120"/>
              </a:rPr>
              <a:t>s1=new char[4];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 &gt;&gt; s1; /*input "</a:t>
            </a:r>
            <a:r>
              <a:rPr lang="en-US" altLang="zh-TW" sz="1500" dirty="0" err="1">
                <a:latin typeface="Courier New" pitchFamily="49" charset="0"/>
                <a:ea typeface="新細明體" charset="-120"/>
              </a:rPr>
              <a:t>abc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"*/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 &lt;&lt; s1;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delete []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s1=new </a:t>
            </a:r>
            <a:r>
              <a:rPr lang="en-US" altLang="zh-TW" sz="1500" dirty="0">
                <a:latin typeface="Courier New" pitchFamily="49" charset="0"/>
              </a:rPr>
              <a:t>char[6];  </a:t>
            </a:r>
            <a:endParaRPr lang="en-US" altLang="zh-TW" sz="1500" dirty="0">
              <a:latin typeface="Courier New" pitchFamily="49" charset="0"/>
              <a:ea typeface="新細明體" charset="-12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 &gt;&gt; s1;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 &lt;&lt; s1;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delete [] s1;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dirty="0">
                <a:solidFill>
                  <a:srgbClr val="0000FF"/>
                </a:solidFill>
                <a:latin typeface="Courier New" pitchFamily="49" charset="0"/>
                <a:ea typeface="新細明體" charset="-120"/>
              </a:rPr>
              <a:t>s1=NULL;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}</a:t>
            </a:r>
          </a:p>
        </p:txBody>
      </p:sp>
      <p:graphicFrame>
        <p:nvGraphicFramePr>
          <p:cNvPr id="20487" name="Object 16"/>
          <p:cNvGraphicFramePr>
            <a:graphicFrameLocks noGrp="1" noChangeAspect="1"/>
          </p:cNvGraphicFramePr>
          <p:nvPr>
            <p:ph sz="half" idx="2"/>
          </p:nvPr>
        </p:nvGraphicFramePr>
        <p:xfrm>
          <a:off x="5715000" y="1828800"/>
          <a:ext cx="2692400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692061" imgH="2216139" progId="Visio.Drawing.11">
                  <p:embed/>
                </p:oleObj>
              </mc:Choice>
              <mc:Fallback>
                <p:oleObj name="Visio" r:id="rId3" imgW="2692061" imgH="221613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828800"/>
                        <a:ext cx="2692400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Line 11"/>
          <p:cNvSpPr>
            <a:spLocks noChangeShapeType="1"/>
          </p:cNvSpPr>
          <p:nvPr/>
        </p:nvSpPr>
        <p:spPr bwMode="auto">
          <a:xfrm>
            <a:off x="609600" y="2667000"/>
            <a:ext cx="381000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" name="Rounded Rectangular Callout 1"/>
          <p:cNvSpPr/>
          <p:nvPr/>
        </p:nvSpPr>
        <p:spPr>
          <a:xfrm>
            <a:off x="5410200" y="4572000"/>
            <a:ext cx="3276600" cy="1752600"/>
          </a:xfrm>
          <a:prstGeom prst="wedgeRoundRectCallout">
            <a:avLst>
              <a:gd name="adj1" fmla="val -82349"/>
              <a:gd name="adj2" fmla="val -1586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rgbClr val="FFFF00"/>
                </a:solidFill>
                <a:ea typeface="新細明體" charset="-120"/>
              </a:rPr>
              <a:t>new</a:t>
            </a:r>
            <a:r>
              <a:rPr kumimoji="1" lang="en-US" altLang="zh-TW" dirty="0">
                <a:ea typeface="新細明體" charset="-120"/>
              </a:rPr>
              <a:t> dynamically allocates </a:t>
            </a:r>
            <a:r>
              <a:rPr kumimoji="1" lang="en-US" altLang="zh-TW" dirty="0">
                <a:solidFill>
                  <a:srgbClr val="FFFF00"/>
                </a:solidFill>
                <a:ea typeface="新細明體" charset="-120"/>
              </a:rPr>
              <a:t>4 </a:t>
            </a:r>
            <a:r>
              <a:rPr kumimoji="1" lang="en-US" altLang="zh-TW" dirty="0">
                <a:ea typeface="新細明體" charset="-120"/>
              </a:rPr>
              <a:t>bytes of memory. </a:t>
            </a:r>
            <a:r>
              <a:rPr kumimoji="1" lang="en-US" altLang="zh-TW" dirty="0">
                <a:solidFill>
                  <a:srgbClr val="FFFF00"/>
                </a:solidFill>
                <a:ea typeface="新細明體" charset="-120"/>
              </a:rPr>
              <a:t>new </a:t>
            </a:r>
            <a:r>
              <a:rPr kumimoji="1" lang="en-US" altLang="zh-TW" dirty="0">
                <a:ea typeface="新細明體" charset="-120"/>
              </a:rPr>
              <a:t>returns a pointer to the 1st byte of the chunk of memory, which is assigned to </a:t>
            </a:r>
            <a:r>
              <a:rPr kumimoji="1" lang="en-US" altLang="zh-TW" dirty="0">
                <a:solidFill>
                  <a:srgbClr val="FFFF00"/>
                </a:solidFill>
                <a:ea typeface="新細明體" charset="-120"/>
              </a:rPr>
              <a:t>s1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C17D1-0906-29C7-C417-E0A378BC8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5E69E-0F67-4EF9-9BD9-4C150AC24529}" type="slidenum">
              <a:rPr lang="zh-TW" altLang="en-US" smtClean="0"/>
              <a:pPr>
                <a:defRPr/>
              </a:pPr>
              <a:t>24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41520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14"/>
          <p:cNvSpPr>
            <a:spLocks noGrp="1" noChangeArrowheads="1"/>
          </p:cNvSpPr>
          <p:nvPr>
            <p:ph type="title"/>
          </p:nvPr>
        </p:nvSpPr>
        <p:spPr>
          <a:xfrm>
            <a:off x="914400" y="273600"/>
            <a:ext cx="7772400" cy="11448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eaLnBrk="1" hangingPunct="1"/>
            <a:r>
              <a:rPr lang="en-US" altLang="zh-TW" sz="3200" dirty="0">
                <a:ea typeface="新細明體" charset="-120"/>
              </a:rPr>
              <a:t>Example 4: Dynamic memory allocation</a:t>
            </a:r>
            <a:endParaRPr lang="zh-TW" altLang="en-US" sz="3200" dirty="0">
              <a:ea typeface="新細明體" charset="-120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752600"/>
            <a:ext cx="4538662" cy="426720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#include &lt;</a:t>
            </a:r>
            <a:r>
              <a:rPr lang="en-US" altLang="zh-TW" sz="1500" dirty="0" err="1">
                <a:latin typeface="Courier New" pitchFamily="49" charset="0"/>
                <a:ea typeface="新細明體" charset="-120"/>
              </a:rPr>
              <a:t>iostream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&gt;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void main () {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char *s1=NULL;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500" dirty="0">
                <a:solidFill>
                  <a:srgbClr val="A50021"/>
                </a:solidFill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s1=new char[4];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b="1" dirty="0" err="1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1500" b="1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 &gt;&gt; s1; /*input "</a:t>
            </a:r>
            <a:r>
              <a:rPr lang="en-US" altLang="zh-TW" sz="1500" b="1" dirty="0" err="1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abc</a:t>
            </a:r>
            <a:r>
              <a:rPr lang="en-US" altLang="zh-TW" sz="1500" b="1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"*/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 &lt;&lt;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delete []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s1=new </a:t>
            </a:r>
            <a:r>
              <a:rPr lang="en-US" altLang="zh-TW" sz="1500" dirty="0">
                <a:latin typeface="Courier New" pitchFamily="49" charset="0"/>
              </a:rPr>
              <a:t>char[6];</a:t>
            </a:r>
            <a:endParaRPr lang="en-US" altLang="zh-TW" sz="1500" dirty="0">
              <a:latin typeface="Courier New" pitchFamily="49" charset="0"/>
              <a:ea typeface="新細明體" charset="-12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 &gt;&gt;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500" dirty="0">
                <a:latin typeface="Courier New" pitchFamily="49" charset="0"/>
                <a:ea typeface="新細明體" charset="-120"/>
              </a:rPr>
              <a:t> &lt;&lt;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delete []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500" dirty="0">
                <a:solidFill>
                  <a:srgbClr val="0000FF"/>
                </a:solidFill>
                <a:latin typeface="Courier New" pitchFamily="49" charset="0"/>
                <a:ea typeface="新細明體" charset="-120"/>
              </a:rPr>
              <a:t>s1=NULL;</a:t>
            </a:r>
          </a:p>
          <a:p>
            <a:pPr>
              <a:lnSpc>
                <a:spcPct val="90000"/>
              </a:lnSpc>
              <a:buNone/>
            </a:pPr>
            <a:endParaRPr lang="en-US" altLang="zh-TW" sz="1500" dirty="0">
              <a:latin typeface="Courier New" pitchFamily="49" charset="0"/>
              <a:ea typeface="新細明體" charset="-12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1500" dirty="0">
                <a:latin typeface="Courier New" pitchFamily="49" charset="0"/>
                <a:ea typeface="新細明體" charset="-120"/>
              </a:rPr>
              <a:t>}</a:t>
            </a:r>
          </a:p>
        </p:txBody>
      </p:sp>
      <p:graphicFrame>
        <p:nvGraphicFramePr>
          <p:cNvPr id="21511" name="Object 13"/>
          <p:cNvGraphicFramePr>
            <a:graphicFrameLocks noGrp="1" noChangeAspect="1"/>
          </p:cNvGraphicFramePr>
          <p:nvPr>
            <p:ph sz="half" idx="2"/>
          </p:nvPr>
        </p:nvGraphicFramePr>
        <p:xfrm>
          <a:off x="5562600" y="1676400"/>
          <a:ext cx="2979738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980028" imgH="2216139" progId="Visio.Drawing.11">
                  <p:embed/>
                </p:oleObj>
              </mc:Choice>
              <mc:Fallback>
                <p:oleObj name="Visio" r:id="rId3" imgW="2980028" imgH="2216139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676400"/>
                        <a:ext cx="2979738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Line 11"/>
          <p:cNvSpPr>
            <a:spLocks noChangeShapeType="1"/>
          </p:cNvSpPr>
          <p:nvPr/>
        </p:nvSpPr>
        <p:spPr bwMode="auto">
          <a:xfrm>
            <a:off x="381000" y="3048000"/>
            <a:ext cx="381000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B4AB9C-E12C-D3D5-3D6C-90D17D7F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5E69E-0F67-4EF9-9BD9-4C150AC24529}" type="slidenum">
              <a:rPr lang="zh-TW" altLang="en-US" smtClean="0"/>
              <a:pPr>
                <a:defRPr/>
              </a:pPr>
              <a:t>25</a:t>
            </a:fld>
            <a:endParaRPr lang="en-US" altLang="zh-TW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200">
                <a:ea typeface="新細明體" charset="-120"/>
              </a:rPr>
              <a:t>Example 4: Dynamic memory allocation</a:t>
            </a:r>
            <a:endParaRPr lang="zh-TW" altLang="en-US" sz="3200">
              <a:ea typeface="新細明體" charset="-120"/>
            </a:endParaRPr>
          </a:p>
        </p:txBody>
      </p:sp>
      <p:sp>
        <p:nvSpPr>
          <p:cNvPr id="2253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752600"/>
            <a:ext cx="4691062" cy="4267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#include &lt;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iostream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&gt;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void main () {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char *s1=NULL;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solidFill>
                  <a:srgbClr val="A50021"/>
                </a:solidFill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s1=new char[4];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&gt;&gt; s1; /*input "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abc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"*/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&lt;&lt;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b="1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delete []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s1=new </a:t>
            </a:r>
            <a:r>
              <a:rPr lang="en-US" altLang="zh-TW" sz="1600" dirty="0">
                <a:latin typeface="Courier New" pitchFamily="49" charset="0"/>
              </a:rPr>
              <a:t>char[6];</a:t>
            </a:r>
            <a:endParaRPr lang="en-US" altLang="zh-TW" sz="1600" dirty="0">
              <a:latin typeface="Courier New" pitchFamily="49" charset="0"/>
              <a:ea typeface="新細明體" charset="-12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&gt;&gt;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&lt;&lt;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delete []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>
                <a:solidFill>
                  <a:srgbClr val="0000FF"/>
                </a:solidFill>
                <a:latin typeface="Courier New" pitchFamily="49" charset="0"/>
                <a:ea typeface="新細明體" charset="-120"/>
              </a:rPr>
              <a:t>s1=NULL;</a:t>
            </a:r>
          </a:p>
          <a:p>
            <a:pPr>
              <a:lnSpc>
                <a:spcPct val="90000"/>
              </a:lnSpc>
              <a:buNone/>
            </a:pPr>
            <a:endParaRPr lang="en-US" altLang="zh-TW" sz="1600" dirty="0">
              <a:latin typeface="Courier New" pitchFamily="49" charset="0"/>
              <a:ea typeface="新細明體" charset="-12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endParaRPr lang="zh-TW" altLang="en-US" sz="2100" dirty="0">
              <a:ea typeface="新細明體" charset="-120"/>
            </a:endParaRPr>
          </a:p>
        </p:txBody>
      </p:sp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4678362" y="5410200"/>
            <a:ext cx="2835275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kumimoji="1" lang="en-US" altLang="zh-TW" dirty="0">
                <a:solidFill>
                  <a:srgbClr val="FF0000"/>
                </a:solidFill>
                <a:latin typeface="Comic Sans MS" pitchFamily="66" charset="0"/>
                <a:ea typeface="新細明體" charset="-120"/>
              </a:rPr>
              <a:t>Memory is free and can be used to store other data</a:t>
            </a:r>
          </a:p>
        </p:txBody>
      </p:sp>
      <p:graphicFrame>
        <p:nvGraphicFramePr>
          <p:cNvPr id="22534" name="Object 5"/>
          <p:cNvGraphicFramePr>
            <a:graphicFrameLocks noChangeAspect="1"/>
          </p:cNvGraphicFramePr>
          <p:nvPr/>
        </p:nvGraphicFramePr>
        <p:xfrm>
          <a:off x="5562600" y="2362200"/>
          <a:ext cx="2979738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980028" imgH="2216139" progId="Visio.Drawing.11">
                  <p:embed/>
                </p:oleObj>
              </mc:Choice>
              <mc:Fallback>
                <p:oleObj name="Visio" r:id="rId2" imgW="2980028" imgH="2216139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362200"/>
                        <a:ext cx="2979738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A96273-A6D4-1021-5C38-6DAFA0E31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26</a:t>
            </a:fld>
            <a:endParaRPr lang="en-US" altLang="zh-TW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>
              <a:ea typeface="新細明體" charset="-120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4767262" cy="426720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TW" sz="1400" dirty="0">
                <a:latin typeface="Courier New" pitchFamily="49" charset="0"/>
                <a:ea typeface="新細明體" charset="-120"/>
              </a:rPr>
              <a:t>#include &lt;</a:t>
            </a:r>
            <a:r>
              <a:rPr lang="en-US" altLang="zh-TW" sz="1400" dirty="0" err="1">
                <a:latin typeface="Courier New" pitchFamily="49" charset="0"/>
                <a:ea typeface="新細明體" charset="-120"/>
              </a:rPr>
              <a:t>iostream</a:t>
            </a:r>
            <a:r>
              <a:rPr lang="en-US" altLang="zh-TW" sz="1400" dirty="0">
                <a:latin typeface="Courier New" pitchFamily="49" charset="0"/>
                <a:ea typeface="新細明體" charset="-120"/>
              </a:rPr>
              <a:t>&gt;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400" dirty="0">
                <a:latin typeface="Courier New" pitchFamily="49" charset="0"/>
                <a:ea typeface="新細明體" charset="-120"/>
              </a:rPr>
              <a:t>void main () {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400" dirty="0">
                <a:latin typeface="Courier New" pitchFamily="49" charset="0"/>
                <a:ea typeface="新細明體" charset="-120"/>
              </a:rPr>
              <a:t>	char *s1=NULL;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400" dirty="0">
                <a:solidFill>
                  <a:srgbClr val="A50021"/>
                </a:solidFill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400" dirty="0">
                <a:latin typeface="Courier New" pitchFamily="49" charset="0"/>
                <a:ea typeface="新細明體" charset="-120"/>
              </a:rPr>
              <a:t>s1=new char[4];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4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4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1400" dirty="0">
                <a:latin typeface="Courier New" pitchFamily="49" charset="0"/>
                <a:ea typeface="新細明體" charset="-120"/>
              </a:rPr>
              <a:t> &gt;&gt; s1; /*input "</a:t>
            </a:r>
            <a:r>
              <a:rPr lang="en-US" altLang="zh-TW" sz="1400" dirty="0" err="1">
                <a:latin typeface="Courier New" pitchFamily="49" charset="0"/>
                <a:ea typeface="新細明體" charset="-120"/>
              </a:rPr>
              <a:t>abc</a:t>
            </a:r>
            <a:r>
              <a:rPr lang="en-US" altLang="zh-TW" sz="1400" dirty="0">
                <a:latin typeface="Courier New" pitchFamily="49" charset="0"/>
                <a:ea typeface="新細明體" charset="-120"/>
              </a:rPr>
              <a:t>"*/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4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4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400" dirty="0">
                <a:latin typeface="Courier New" pitchFamily="49" charset="0"/>
                <a:ea typeface="新細明體" charset="-120"/>
              </a:rPr>
              <a:t> &lt;&lt;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400" dirty="0">
                <a:latin typeface="Courier New" pitchFamily="49" charset="0"/>
                <a:ea typeface="新細明體" charset="-120"/>
              </a:rPr>
              <a:t>	delete []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4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400" b="1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s1=new char[6];</a:t>
            </a:r>
            <a:endParaRPr lang="en-US" altLang="zh-TW" sz="1400" b="1" dirty="0">
              <a:solidFill>
                <a:srgbClr val="00B050"/>
              </a:solidFill>
              <a:latin typeface="Courier New" pitchFamily="49" charset="0"/>
              <a:ea typeface="新細明體" charset="-12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TW" sz="14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4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1400" dirty="0">
                <a:latin typeface="Courier New" pitchFamily="49" charset="0"/>
                <a:ea typeface="新細明體" charset="-120"/>
              </a:rPr>
              <a:t> &gt;&gt;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4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4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400" dirty="0">
                <a:latin typeface="Courier New" pitchFamily="49" charset="0"/>
                <a:ea typeface="新細明體" charset="-120"/>
              </a:rPr>
              <a:t> &lt;&lt;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400" dirty="0">
                <a:latin typeface="Courier New" pitchFamily="49" charset="0"/>
                <a:ea typeface="新細明體" charset="-120"/>
              </a:rPr>
              <a:t>	delete []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4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400" dirty="0">
                <a:solidFill>
                  <a:srgbClr val="0000FF"/>
                </a:solidFill>
                <a:latin typeface="Courier New" pitchFamily="49" charset="0"/>
                <a:ea typeface="新細明體" charset="-120"/>
              </a:rPr>
              <a:t>s1=NULL;</a:t>
            </a:r>
          </a:p>
          <a:p>
            <a:pPr>
              <a:lnSpc>
                <a:spcPct val="90000"/>
              </a:lnSpc>
              <a:buNone/>
            </a:pPr>
            <a:endParaRPr lang="en-US" altLang="zh-TW" sz="1400" dirty="0">
              <a:latin typeface="Courier New" pitchFamily="49" charset="0"/>
              <a:ea typeface="新細明體" charset="-12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TW" sz="1400" dirty="0">
                <a:latin typeface="Courier New" pitchFamily="49" charset="0"/>
                <a:ea typeface="新細明體" charset="-120"/>
              </a:rPr>
              <a:t>}</a:t>
            </a:r>
          </a:p>
        </p:txBody>
      </p:sp>
      <p:graphicFrame>
        <p:nvGraphicFramePr>
          <p:cNvPr id="23558" name="Object 19"/>
          <p:cNvGraphicFramePr>
            <a:graphicFrameLocks noGrp="1" noChangeAspect="1"/>
          </p:cNvGraphicFramePr>
          <p:nvPr>
            <p:ph sz="half" idx="2"/>
          </p:nvPr>
        </p:nvGraphicFramePr>
        <p:xfrm>
          <a:off x="5499100" y="1752600"/>
          <a:ext cx="2212975" cy="426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980028" imgH="5744166" progId="Visio.Drawing.11">
                  <p:embed/>
                </p:oleObj>
              </mc:Choice>
              <mc:Fallback>
                <p:oleObj name="Visio" r:id="rId3" imgW="2980028" imgH="5744166" progId="Visio.Drawing.11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100" y="1752600"/>
                        <a:ext cx="2212975" cy="426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Line 11"/>
          <p:cNvSpPr>
            <a:spLocks noChangeShapeType="1"/>
          </p:cNvSpPr>
          <p:nvPr/>
        </p:nvSpPr>
        <p:spPr bwMode="auto">
          <a:xfrm>
            <a:off x="342900" y="3810000"/>
            <a:ext cx="381000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" name="Rounded Rectangular Callout 1"/>
          <p:cNvSpPr/>
          <p:nvPr/>
        </p:nvSpPr>
        <p:spPr>
          <a:xfrm>
            <a:off x="3581400" y="4495800"/>
            <a:ext cx="2895600" cy="2133600"/>
          </a:xfrm>
          <a:prstGeom prst="wedgeRoundRectCallout">
            <a:avLst>
              <a:gd name="adj1" fmla="val -92861"/>
              <a:gd name="adj2" fmla="val -7838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dirty="0">
                <a:solidFill>
                  <a:srgbClr val="FFFF00"/>
                </a:solidFill>
                <a:ea typeface="新細明體" charset="-120"/>
              </a:rPr>
              <a:t>new </a:t>
            </a:r>
            <a:r>
              <a:rPr kumimoji="1" lang="en-US" altLang="zh-TW" dirty="0">
                <a:ea typeface="新細明體" charset="-120"/>
              </a:rPr>
              <a:t>dynamically allocates </a:t>
            </a:r>
            <a:r>
              <a:rPr kumimoji="1" lang="en-US" altLang="zh-TW" dirty="0">
                <a:solidFill>
                  <a:srgbClr val="FFFF00"/>
                </a:solidFill>
                <a:ea typeface="新細明體" charset="-120"/>
              </a:rPr>
              <a:t>6</a:t>
            </a:r>
            <a:r>
              <a:rPr kumimoji="1" lang="en-US" altLang="zh-TW" dirty="0">
                <a:solidFill>
                  <a:schemeClr val="accent2"/>
                </a:solidFill>
                <a:ea typeface="新細明體" charset="-120"/>
              </a:rPr>
              <a:t> </a:t>
            </a:r>
            <a:r>
              <a:rPr kumimoji="1" lang="en-US" altLang="zh-TW" dirty="0">
                <a:ea typeface="新細明體" charset="-120"/>
              </a:rPr>
              <a:t>bytes of memory. </a:t>
            </a:r>
            <a:r>
              <a:rPr kumimoji="1" lang="en-US" altLang="zh-TW" dirty="0">
                <a:solidFill>
                  <a:srgbClr val="FFFF00"/>
                </a:solidFill>
                <a:ea typeface="新細明體" charset="-120"/>
              </a:rPr>
              <a:t>new </a:t>
            </a:r>
            <a:r>
              <a:rPr kumimoji="1" lang="en-US" altLang="zh-TW" dirty="0">
                <a:ea typeface="新細明體" charset="-120"/>
              </a:rPr>
              <a:t>returns a pointer to the 1st byte of the chunk of memory, which is assigned to </a:t>
            </a:r>
            <a:r>
              <a:rPr kumimoji="1" lang="en-US" altLang="zh-TW" dirty="0">
                <a:solidFill>
                  <a:srgbClr val="FFFF00"/>
                </a:solidFill>
                <a:ea typeface="新細明體" charset="-120"/>
              </a:rPr>
              <a:t>s1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5A5932-084E-7DF0-947C-65029D69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5E69E-0F67-4EF9-9BD9-4C150AC24529}" type="slidenum">
              <a:rPr lang="zh-TW" altLang="en-US" smtClean="0"/>
              <a:pPr>
                <a:defRPr/>
              </a:pPr>
              <a:t>27</a:t>
            </a:fld>
            <a:endParaRPr lang="en-US" altLang="zh-TW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>
              <a:ea typeface="新細明體" charset="-12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5072062" cy="426720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#include &lt;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iostream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&gt;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void main () {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char *s1=NULL;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solidFill>
                  <a:srgbClr val="A50021"/>
                </a:solidFill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s1=new char[4];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&gt;&gt; s1; /*input "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abc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"*/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&lt;&lt;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delete []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s1=new </a:t>
            </a:r>
            <a:r>
              <a:rPr lang="en-US" altLang="zh-TW" sz="1600" dirty="0">
                <a:latin typeface="Courier New" pitchFamily="49" charset="0"/>
              </a:rPr>
              <a:t>char[6];</a:t>
            </a:r>
            <a:endParaRPr lang="en-US" altLang="zh-TW" sz="1600" dirty="0">
              <a:latin typeface="Courier New" pitchFamily="49" charset="0"/>
              <a:ea typeface="新細明體" charset="-12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b="1" dirty="0" err="1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1600" b="1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 &gt;&gt;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&lt;&lt;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delete []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>
                <a:solidFill>
                  <a:srgbClr val="0000FF"/>
                </a:solidFill>
                <a:latin typeface="Courier New" pitchFamily="49" charset="0"/>
                <a:ea typeface="新細明體" charset="-120"/>
              </a:rPr>
              <a:t>s1=NULL;</a:t>
            </a:r>
          </a:p>
          <a:p>
            <a:pPr>
              <a:lnSpc>
                <a:spcPct val="90000"/>
              </a:lnSpc>
              <a:buNone/>
            </a:pPr>
            <a:endParaRPr lang="en-US" altLang="zh-TW" sz="1600" dirty="0">
              <a:latin typeface="Courier New" pitchFamily="49" charset="0"/>
              <a:ea typeface="新細明體" charset="-12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}</a:t>
            </a:r>
          </a:p>
        </p:txBody>
      </p:sp>
      <p:graphicFrame>
        <p:nvGraphicFramePr>
          <p:cNvPr id="24582" name="Object 19"/>
          <p:cNvGraphicFramePr>
            <a:graphicFrameLocks noGrp="1" noChangeAspect="1"/>
          </p:cNvGraphicFramePr>
          <p:nvPr>
            <p:ph sz="half" idx="2"/>
          </p:nvPr>
        </p:nvGraphicFramePr>
        <p:xfrm>
          <a:off x="6553200" y="1793875"/>
          <a:ext cx="2214563" cy="403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170051" imgH="5771411" progId="Visio.Drawing.11">
                  <p:embed/>
                </p:oleObj>
              </mc:Choice>
              <mc:Fallback>
                <p:oleObj name="Visio" r:id="rId3" imgW="3170051" imgH="577141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793875"/>
                        <a:ext cx="2214563" cy="403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Line 11"/>
          <p:cNvSpPr>
            <a:spLocks noChangeShapeType="1"/>
          </p:cNvSpPr>
          <p:nvPr/>
        </p:nvSpPr>
        <p:spPr bwMode="auto">
          <a:xfrm>
            <a:off x="228600" y="4267200"/>
            <a:ext cx="381000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4AC9C5-1731-CEB4-EEA7-71AABFFE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5E69E-0F67-4EF9-9BD9-4C150AC24529}" type="slidenum">
              <a:rPr lang="zh-TW" altLang="en-US" smtClean="0"/>
              <a:pPr>
                <a:defRPr/>
              </a:pPr>
              <a:t>28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397466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>
              <a:ea typeface="新細明體" charset="-12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5072062" cy="426720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#include &lt;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iostream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&gt;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void main () {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char *s1=NULL;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solidFill>
                  <a:srgbClr val="A50021"/>
                </a:solidFill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s1=new char[4];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&gt;&gt; s1; /*input "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abc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"*/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&lt;&lt;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delete []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s1=new </a:t>
            </a:r>
            <a:r>
              <a:rPr lang="en-US" altLang="zh-TW" sz="1600" dirty="0">
                <a:latin typeface="Courier New" pitchFamily="49" charset="0"/>
              </a:rPr>
              <a:t>char[6];</a:t>
            </a:r>
            <a:endParaRPr lang="en-US" altLang="zh-TW" sz="1600" dirty="0">
              <a:latin typeface="Courier New" pitchFamily="49" charset="0"/>
              <a:ea typeface="新細明體" charset="-12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&gt;&gt;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&lt;&lt;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b="1" dirty="0">
                <a:solidFill>
                  <a:srgbClr val="0070C0"/>
                </a:solidFill>
                <a:latin typeface="Courier New" pitchFamily="49" charset="0"/>
                <a:ea typeface="新細明體" charset="-120"/>
              </a:rPr>
              <a:t>	delete []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b="1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s1=NULL;</a:t>
            </a:r>
          </a:p>
          <a:p>
            <a:pPr>
              <a:lnSpc>
                <a:spcPct val="90000"/>
              </a:lnSpc>
              <a:buNone/>
            </a:pPr>
            <a:endParaRPr lang="en-US" altLang="zh-TW" sz="1600" dirty="0">
              <a:latin typeface="Courier New" pitchFamily="49" charset="0"/>
              <a:ea typeface="新細明體" charset="-12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}</a:t>
            </a:r>
          </a:p>
        </p:txBody>
      </p:sp>
      <p:graphicFrame>
        <p:nvGraphicFramePr>
          <p:cNvPr id="24582" name="Object 19"/>
          <p:cNvGraphicFramePr>
            <a:graphicFrameLocks noGrp="1" noChangeAspect="1"/>
          </p:cNvGraphicFramePr>
          <p:nvPr>
            <p:ph sz="half" idx="2"/>
          </p:nvPr>
        </p:nvGraphicFramePr>
        <p:xfrm>
          <a:off x="6553200" y="1793875"/>
          <a:ext cx="2214563" cy="403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170051" imgH="5771411" progId="Visio.Drawing.11">
                  <p:embed/>
                </p:oleObj>
              </mc:Choice>
              <mc:Fallback>
                <p:oleObj name="Visio" r:id="rId3" imgW="3170051" imgH="5771411" progId="Visio.Drawing.11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793875"/>
                        <a:ext cx="2214563" cy="403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Line 11"/>
          <p:cNvSpPr>
            <a:spLocks noChangeShapeType="1"/>
          </p:cNvSpPr>
          <p:nvPr/>
        </p:nvSpPr>
        <p:spPr bwMode="auto">
          <a:xfrm>
            <a:off x="238125" y="4876800"/>
            <a:ext cx="381000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9C6755-9815-0179-44E5-928816B6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5E69E-0F67-4EF9-9BD9-4C150AC24529}" type="slidenum">
              <a:rPr lang="zh-TW" altLang="en-US" smtClean="0"/>
              <a:pPr>
                <a:defRPr/>
              </a:pPr>
              <a:t>29</a:t>
            </a:fld>
            <a:endParaRPr lang="en-US" altLang="zh-TW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>
              <a:ea typeface="新細明體" charset="-12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5072062" cy="426720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#include &lt;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iostream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&gt;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void main () {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char *s1=</a:t>
            </a:r>
            <a:r>
              <a:rPr lang="en-US" altLang="zh-TW" sz="1600" b="1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NULL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;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solidFill>
                  <a:srgbClr val="A50021"/>
                </a:solidFill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s1=new char[4];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&gt;&gt; s1; /*input "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abc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"*/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&lt;&lt;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delete []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s1=new </a:t>
            </a:r>
            <a:r>
              <a:rPr lang="en-US" altLang="zh-TW" sz="1600" dirty="0">
                <a:latin typeface="Courier New" pitchFamily="49" charset="0"/>
              </a:rPr>
              <a:t>char[6];</a:t>
            </a:r>
            <a:endParaRPr lang="en-US" altLang="zh-TW" sz="1600" dirty="0">
              <a:latin typeface="Courier New" pitchFamily="49" charset="0"/>
              <a:ea typeface="新細明體" charset="-12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&gt;&gt;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dirty="0" err="1">
                <a:latin typeface="Courier New" pitchFamily="49" charset="0"/>
                <a:ea typeface="新細明體" charset="-120"/>
              </a:rPr>
              <a:t>cout</a:t>
            </a:r>
            <a:r>
              <a:rPr lang="en-US" altLang="zh-TW" sz="1600" dirty="0">
                <a:latin typeface="Courier New" pitchFamily="49" charset="0"/>
                <a:ea typeface="新細明體" charset="-120"/>
              </a:rPr>
              <a:t> &lt;&lt;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b="1" dirty="0">
                <a:solidFill>
                  <a:srgbClr val="0070C0"/>
                </a:solidFill>
                <a:latin typeface="Courier New" pitchFamily="49" charset="0"/>
                <a:ea typeface="新細明體" charset="-120"/>
              </a:rPr>
              <a:t>	delete [] s1;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1600" b="1" dirty="0">
                <a:solidFill>
                  <a:srgbClr val="FF0000"/>
                </a:solidFill>
                <a:latin typeface="Courier New" pitchFamily="49" charset="0"/>
                <a:ea typeface="新細明體" charset="-120"/>
              </a:rPr>
              <a:t>s1=NULL;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  </a:t>
            </a:r>
          </a:p>
          <a:p>
            <a:pPr>
              <a:lnSpc>
                <a:spcPct val="80000"/>
              </a:lnSpc>
              <a:buNone/>
            </a:pPr>
            <a:r>
              <a:rPr lang="en-US" altLang="zh-TW" sz="1600" dirty="0">
                <a:latin typeface="Courier New" pitchFamily="49" charset="0"/>
                <a:ea typeface="新細明體" charset="-120"/>
              </a:rPr>
              <a:t>}</a:t>
            </a:r>
          </a:p>
        </p:txBody>
      </p:sp>
      <p:graphicFrame>
        <p:nvGraphicFramePr>
          <p:cNvPr id="24582" name="Object 19"/>
          <p:cNvGraphicFramePr>
            <a:graphicFrameLocks noGrp="1" noChangeAspect="1"/>
          </p:cNvGraphicFramePr>
          <p:nvPr>
            <p:ph sz="half" idx="2"/>
          </p:nvPr>
        </p:nvGraphicFramePr>
        <p:xfrm>
          <a:off x="6553200" y="1793875"/>
          <a:ext cx="2214563" cy="403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170051" imgH="5771411" progId="Visio.Drawing.11">
                  <p:embed/>
                </p:oleObj>
              </mc:Choice>
              <mc:Fallback>
                <p:oleObj name="Visio" r:id="rId3" imgW="3170051" imgH="577141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793875"/>
                        <a:ext cx="2214563" cy="403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Line 11"/>
          <p:cNvSpPr>
            <a:spLocks noChangeShapeType="1"/>
          </p:cNvSpPr>
          <p:nvPr/>
        </p:nvSpPr>
        <p:spPr bwMode="auto">
          <a:xfrm>
            <a:off x="228600" y="5181600"/>
            <a:ext cx="381000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3F779D-482B-6125-017F-DCFB8FF2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5E69E-0F67-4EF9-9BD9-4C150AC24529}" type="slidenum">
              <a:rPr lang="zh-TW" altLang="en-US" smtClean="0"/>
              <a:pPr>
                <a:defRPr/>
              </a:pPr>
              <a:t>30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829080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3600"/>
            <a:ext cx="7772400" cy="11448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eaLnBrk="1" hangingPunct="1"/>
            <a:r>
              <a:rPr lang="en-US" altLang="zh-TW" dirty="0">
                <a:ea typeface="新細明體" charset="-120"/>
              </a:rPr>
              <a:t>Dynamic memory allocation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1752600"/>
            <a:ext cx="7653338" cy="2971800"/>
          </a:xfrm>
        </p:spPr>
        <p:txBody>
          <a:bodyPr/>
          <a:lstStyle/>
          <a:p>
            <a:r>
              <a:rPr lang="en-US" dirty="0"/>
              <a:t>Define an array</a:t>
            </a:r>
          </a:p>
          <a:p>
            <a:pPr lvl="1"/>
            <a:r>
              <a:rPr lang="en-US" dirty="0" err="1"/>
              <a:t>int</a:t>
            </a:r>
            <a:r>
              <a:rPr lang="en-US" dirty="0"/>
              <a:t> name[20];</a:t>
            </a:r>
          </a:p>
          <a:p>
            <a:pPr lvl="1"/>
            <a:endParaRPr lang="en-US" dirty="0"/>
          </a:p>
          <a:p>
            <a:r>
              <a:rPr lang="en-US" dirty="0"/>
              <a:t>What if:</a:t>
            </a:r>
          </a:p>
          <a:p>
            <a:pPr lvl="1"/>
            <a:r>
              <a:rPr lang="en-US" dirty="0"/>
              <a:t>I don’t know the </a:t>
            </a:r>
            <a:r>
              <a:rPr lang="en-US" dirty="0">
                <a:solidFill>
                  <a:srgbClr val="C00000"/>
                </a:solidFill>
              </a:rPr>
              <a:t>size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in advance</a:t>
            </a:r>
            <a:r>
              <a:rPr lang="en-US" dirty="0"/>
              <a:t>, or</a:t>
            </a:r>
          </a:p>
          <a:p>
            <a:pPr lvl="1"/>
            <a:r>
              <a:rPr lang="en-US" dirty="0"/>
              <a:t>I want to </a:t>
            </a:r>
            <a:r>
              <a:rPr lang="en-US" dirty="0">
                <a:solidFill>
                  <a:srgbClr val="FF0000"/>
                </a:solidFill>
              </a:rPr>
              <a:t>change</a:t>
            </a:r>
            <a:r>
              <a:rPr lang="en-US" dirty="0"/>
              <a:t> the size later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F32F6E-6722-A905-DE87-246817775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5E69E-0F67-4EF9-9BD9-4C150AC24529}" type="slidenum">
              <a:rPr lang="zh-TW" altLang="en-US" smtClean="0"/>
              <a:pPr>
                <a:defRPr/>
              </a:pPr>
              <a:t>31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7300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3600"/>
            <a:ext cx="7772400" cy="11448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eaLnBrk="1" hangingPunct="1"/>
            <a:r>
              <a:rPr lang="en-US" altLang="zh-TW" dirty="0">
                <a:ea typeface="新細明體" charset="-120"/>
              </a:rPr>
              <a:t>Dynamic memory allocation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676400"/>
            <a:ext cx="4648200" cy="42672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urier New" pitchFamily="49" charset="0"/>
                <a:ea typeface="新細明體" charset="-120"/>
              </a:rPr>
              <a:t>void main()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urier New" pitchFamily="49" charset="0"/>
                <a:ea typeface="新細明體" charset="-120"/>
              </a:rPr>
              <a:t>{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2000" b="1" dirty="0">
                <a:solidFill>
                  <a:srgbClr val="006600"/>
                </a:solidFill>
                <a:latin typeface="Courier New" pitchFamily="49" charset="0"/>
                <a:ea typeface="新細明體" charset="-120"/>
              </a:rPr>
              <a:t>//</a:t>
            </a:r>
            <a:r>
              <a:rPr lang="en-US" altLang="zh-TW" sz="2000" b="1" dirty="0" err="1">
                <a:solidFill>
                  <a:srgbClr val="006600"/>
                </a:solidFill>
                <a:latin typeface="Courier New" pitchFamily="49" charset="0"/>
                <a:ea typeface="新細明體" charset="-120"/>
              </a:rPr>
              <a:t>int</a:t>
            </a:r>
            <a:r>
              <a:rPr lang="en-US" altLang="zh-TW" sz="2000" b="1" dirty="0">
                <a:solidFill>
                  <a:srgbClr val="006600"/>
                </a:solidFill>
                <a:latin typeface="Courier New" pitchFamily="49" charset="0"/>
                <a:ea typeface="新細明體" charset="-120"/>
              </a:rPr>
              <a:t> s1[4];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2000" b="1" dirty="0" err="1">
                <a:solidFill>
                  <a:srgbClr val="0000FF"/>
                </a:solidFill>
                <a:latin typeface="Courier New" pitchFamily="49" charset="0"/>
                <a:ea typeface="新細明體" charset="-120"/>
              </a:rPr>
              <a:t>int</a:t>
            </a:r>
            <a:r>
              <a:rPr lang="en-US" altLang="zh-TW" sz="2000" b="1" dirty="0">
                <a:solidFill>
                  <a:srgbClr val="C00000"/>
                </a:solidFill>
                <a:latin typeface="Courier New" pitchFamily="49" charset="0"/>
                <a:ea typeface="新細明體" charset="-120"/>
              </a:rPr>
              <a:t>*s1;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C00000"/>
                </a:solidFill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2000" b="1" dirty="0" err="1">
                <a:solidFill>
                  <a:srgbClr val="0000FF"/>
                </a:solidFill>
                <a:latin typeface="Courier New" pitchFamily="49" charset="0"/>
                <a:ea typeface="新細明體" charset="-120"/>
              </a:rPr>
              <a:t>int</a:t>
            </a:r>
            <a:r>
              <a:rPr lang="en-US" altLang="zh-TW" sz="2000" b="1" dirty="0">
                <a:solidFill>
                  <a:srgbClr val="0000FF"/>
                </a:solidFill>
                <a:latin typeface="Courier New" pitchFamily="49" charset="0"/>
                <a:ea typeface="新細明體" charset="-120"/>
              </a:rPr>
              <a:t> </a:t>
            </a:r>
            <a:r>
              <a:rPr lang="en-US" altLang="zh-TW" sz="2000" b="1" dirty="0">
                <a:solidFill>
                  <a:srgbClr val="00B0F0"/>
                </a:solidFill>
                <a:latin typeface="Courier New" pitchFamily="49" charset="0"/>
                <a:ea typeface="新細明體" charset="-120"/>
              </a:rPr>
              <a:t>length</a:t>
            </a:r>
            <a:r>
              <a:rPr lang="en-US" altLang="zh-TW" sz="2000" b="1" dirty="0">
                <a:solidFill>
                  <a:srgbClr val="C00000"/>
                </a:solidFill>
                <a:latin typeface="Courier New" pitchFamily="49" charset="0"/>
                <a:ea typeface="新細明體" charset="-120"/>
              </a:rPr>
              <a:t> = 4;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A50021"/>
                </a:solidFill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2000" b="1" dirty="0">
                <a:solidFill>
                  <a:srgbClr val="A50021"/>
                </a:solidFill>
                <a:latin typeface="Courier New" pitchFamily="49" charset="0"/>
                <a:ea typeface="新細明體" charset="-120"/>
              </a:rPr>
              <a:t>s1=</a:t>
            </a:r>
            <a:r>
              <a:rPr lang="en-US" altLang="zh-TW" sz="2000" b="1" dirty="0">
                <a:solidFill>
                  <a:srgbClr val="0000FF"/>
                </a:solidFill>
                <a:latin typeface="Courier New" pitchFamily="49" charset="0"/>
                <a:ea typeface="新細明體" charset="-120"/>
              </a:rPr>
              <a:t>new</a:t>
            </a:r>
            <a:r>
              <a:rPr lang="en-US" altLang="zh-TW" sz="2000" b="1" dirty="0">
                <a:solidFill>
                  <a:srgbClr val="A50021"/>
                </a:solidFill>
                <a:latin typeface="Courier New" pitchFamily="49" charset="0"/>
                <a:ea typeface="新細明體" charset="-120"/>
              </a:rPr>
              <a:t> </a:t>
            </a:r>
            <a:r>
              <a:rPr lang="en-US" altLang="zh-TW" sz="2000" b="1" dirty="0" err="1">
                <a:solidFill>
                  <a:srgbClr val="0000FF"/>
                </a:solidFill>
                <a:latin typeface="Courier New" pitchFamily="49" charset="0"/>
                <a:ea typeface="新細明體" charset="-120"/>
              </a:rPr>
              <a:t>int</a:t>
            </a:r>
            <a:r>
              <a:rPr lang="en-US" altLang="zh-TW" sz="2000" b="1" dirty="0">
                <a:solidFill>
                  <a:srgbClr val="A50021"/>
                </a:solidFill>
                <a:latin typeface="Courier New" pitchFamily="49" charset="0"/>
                <a:ea typeface="新細明體" charset="-120"/>
              </a:rPr>
              <a:t>[</a:t>
            </a:r>
            <a:r>
              <a:rPr lang="en-US" altLang="zh-TW" sz="2000" b="1" dirty="0">
                <a:solidFill>
                  <a:srgbClr val="00B0F0"/>
                </a:solidFill>
                <a:latin typeface="Courier New" pitchFamily="49" charset="0"/>
                <a:ea typeface="新細明體" charset="-120"/>
              </a:rPr>
              <a:t>length</a:t>
            </a:r>
            <a:r>
              <a:rPr lang="en-US" altLang="zh-TW" sz="2000" b="1" dirty="0">
                <a:solidFill>
                  <a:srgbClr val="A50021"/>
                </a:solidFill>
                <a:latin typeface="Courier New" pitchFamily="49" charset="0"/>
                <a:ea typeface="新細明體" charset="-120"/>
              </a:rPr>
              <a:t>];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20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2000" dirty="0">
                <a:latin typeface="Courier New" pitchFamily="49" charset="0"/>
                <a:ea typeface="新細明體" charset="-120"/>
              </a:rPr>
              <a:t> &gt;&gt; s1[0];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20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2000" dirty="0">
                <a:latin typeface="Courier New" pitchFamily="49" charset="0"/>
                <a:ea typeface="新細明體" charset="-120"/>
              </a:rPr>
              <a:t> &gt;&gt; s1[1];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20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2000" dirty="0">
                <a:latin typeface="Courier New" pitchFamily="49" charset="0"/>
                <a:ea typeface="新細明體" charset="-120"/>
              </a:rPr>
              <a:t> &gt;&gt; s1[2];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000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2000" dirty="0" err="1">
                <a:latin typeface="Courier New" pitchFamily="49" charset="0"/>
                <a:ea typeface="新細明體" charset="-120"/>
              </a:rPr>
              <a:t>cin</a:t>
            </a:r>
            <a:r>
              <a:rPr lang="en-US" altLang="zh-TW" sz="2000" dirty="0">
                <a:latin typeface="Courier New" pitchFamily="49" charset="0"/>
                <a:ea typeface="新細明體" charset="-120"/>
              </a:rPr>
              <a:t> &gt;&gt; s1[3];</a:t>
            </a:r>
          </a:p>
          <a:p>
            <a:pPr>
              <a:lnSpc>
                <a:spcPct val="90000"/>
              </a:lnSpc>
              <a:buNone/>
            </a:pPr>
            <a:endParaRPr lang="en-US" altLang="zh-TW" sz="2000" dirty="0">
              <a:latin typeface="Courier New" pitchFamily="49" charset="0"/>
              <a:ea typeface="新細明體" charset="-12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b="1" dirty="0">
                <a:latin typeface="Courier New" pitchFamily="49" charset="0"/>
                <a:ea typeface="新細明體" charset="-120"/>
              </a:rPr>
              <a:t>	</a:t>
            </a:r>
            <a:r>
              <a:rPr lang="en-US" altLang="zh-TW" sz="2000" b="1" dirty="0">
                <a:solidFill>
                  <a:srgbClr val="0000FF"/>
                </a:solidFill>
                <a:latin typeface="Courier New" pitchFamily="49" charset="0"/>
                <a:ea typeface="新細明體" charset="-120"/>
              </a:rPr>
              <a:t>delete</a:t>
            </a:r>
            <a:r>
              <a:rPr lang="en-US" altLang="zh-TW" sz="2000" b="1" dirty="0">
                <a:solidFill>
                  <a:srgbClr val="C00000"/>
                </a:solidFill>
                <a:latin typeface="Courier New" pitchFamily="49" charset="0"/>
                <a:ea typeface="新細明體" charset="-120"/>
              </a:rPr>
              <a:t> [] s1;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C00000"/>
                </a:solidFill>
                <a:latin typeface="Courier New" pitchFamily="49" charset="0"/>
                <a:ea typeface="新細明體" charset="-120"/>
              </a:rPr>
              <a:t>	s1=NULL;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urier New" pitchFamily="49" charset="0"/>
                <a:ea typeface="新細明體" charset="-120"/>
              </a:rPr>
              <a:t>}</a:t>
            </a:r>
          </a:p>
        </p:txBody>
      </p:sp>
      <p:graphicFrame>
        <p:nvGraphicFramePr>
          <p:cNvPr id="20487" name="Object 16"/>
          <p:cNvGraphicFramePr>
            <a:graphicFrameLocks noGrp="1" noChangeAspect="1"/>
          </p:cNvGraphicFramePr>
          <p:nvPr>
            <p:ph sz="half" idx="2"/>
          </p:nvPr>
        </p:nvGraphicFramePr>
        <p:xfrm>
          <a:off x="5715000" y="1828800"/>
          <a:ext cx="2692400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692061" imgH="2216139" progId="Visio.Drawing.11">
                  <p:embed/>
                </p:oleObj>
              </mc:Choice>
              <mc:Fallback>
                <p:oleObj name="Visio" r:id="rId3" imgW="2692061" imgH="221613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828800"/>
                        <a:ext cx="2692400" cy="221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Line 11"/>
          <p:cNvSpPr>
            <a:spLocks noChangeShapeType="1"/>
          </p:cNvSpPr>
          <p:nvPr/>
        </p:nvSpPr>
        <p:spPr bwMode="auto">
          <a:xfrm>
            <a:off x="609600" y="2667000"/>
            <a:ext cx="381000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" name="TextBox 1"/>
          <p:cNvSpPr txBox="1"/>
          <p:nvPr/>
        </p:nvSpPr>
        <p:spPr>
          <a:xfrm>
            <a:off x="8407400" y="1905000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25545" y="2423944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0705" y="2983468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3516868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8426" y="3283131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// input: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1899" y="192973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856C5-155E-DA61-DC59-95CC558AE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25E69E-0F67-4EF9-9BD9-4C150AC24529}" type="slidenum">
              <a:rPr lang="zh-TW" altLang="en-US" smtClean="0"/>
              <a:pPr>
                <a:defRPr/>
              </a:pPr>
              <a:t>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9377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0" grpId="0"/>
      <p:bldP spid="11" grpId="0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5E735-4F0A-4538-A716-D3393EFFC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77978F-6F88-4DE0-B2B3-3D0F0762509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The input file </a:t>
            </a:r>
            <a:r>
              <a:rPr lang="en-US" altLang="zh-CN" dirty="0">
                <a:solidFill>
                  <a:srgbClr val="0070C0"/>
                </a:solidFill>
              </a:rPr>
              <a:t>score.txt</a:t>
            </a:r>
            <a:r>
              <a:rPr lang="en-US" altLang="zh-CN" dirty="0"/>
              <a:t> contains the scores of 3 different courses for </a:t>
            </a:r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lang="en-US" altLang="zh-CN" dirty="0"/>
              <a:t> students. </a:t>
            </a:r>
          </a:p>
          <a:p>
            <a:pPr lvl="1"/>
            <a:r>
              <a:rPr lang="en-US" altLang="zh-CN" dirty="0"/>
              <a:t>The </a:t>
            </a:r>
            <a:r>
              <a:rPr lang="en-US" altLang="zh-CN" dirty="0">
                <a:solidFill>
                  <a:srgbClr val="7030A0"/>
                </a:solidFill>
              </a:rPr>
              <a:t>first line</a:t>
            </a:r>
            <a:r>
              <a:rPr lang="en-US" altLang="zh-CN" dirty="0"/>
              <a:t> of score.txt gives the value of n </a:t>
            </a:r>
          </a:p>
          <a:p>
            <a:pPr lvl="1"/>
            <a:r>
              <a:rPr lang="en-US" altLang="zh-CN" dirty="0"/>
              <a:t>Reads all the scores, find all the students who have a failed score (&lt;60) and output their scores for every course </a:t>
            </a:r>
          </a:p>
          <a:p>
            <a:r>
              <a:rPr lang="en-US" altLang="zh-CN" dirty="0"/>
              <a:t>As the number of the students is read from the input, we cannot define a normal 2D array (array size is not a constant). Hence , we can use dynamic allocation to solve the problem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2BD8B-D015-DE9B-C534-9CB99D40E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33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22BF72-724E-5502-0F93-3F626CAB3F94}"/>
              </a:ext>
            </a:extLst>
          </p:cNvPr>
          <p:cNvSpPr txBox="1"/>
          <p:nvPr/>
        </p:nvSpPr>
        <p:spPr>
          <a:xfrm>
            <a:off x="691052" y="6395088"/>
            <a:ext cx="18533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lec08-08-score.cpp</a:t>
            </a:r>
          </a:p>
        </p:txBody>
      </p:sp>
    </p:spTree>
    <p:extLst>
      <p:ext uri="{BB962C8B-B14F-4D97-AF65-F5344CB8AC3E}">
        <p14:creationId xmlns:p14="http://schemas.microsoft.com/office/powerpoint/2010/main" val="156569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3AE2-6245-65CB-6207-AFCBBA567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B13D58-279F-97A4-0D41-974466C2F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34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84313-4C2C-D5F3-4432-779A4F03266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990600"/>
          </a:xfrm>
        </p:spPr>
        <p:txBody>
          <a:bodyPr/>
          <a:lstStyle/>
          <a:p>
            <a:r>
              <a:rPr lang="en-US" dirty="0"/>
              <a:t>We will skip the file I/O part in this lecture</a:t>
            </a:r>
          </a:p>
          <a:p>
            <a:r>
              <a:rPr lang="en-US" dirty="0"/>
              <a:t>Focus: </a:t>
            </a:r>
            <a:r>
              <a:rPr lang="en-US" dirty="0">
                <a:solidFill>
                  <a:srgbClr val="FF0000"/>
                </a:solidFill>
              </a:rPr>
              <a:t>2D dynamic memory allocation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5E356B-D466-9C6F-F573-8C06CDA8B262}"/>
              </a:ext>
            </a:extLst>
          </p:cNvPr>
          <p:cNvSpPr txBox="1"/>
          <p:nvPr/>
        </p:nvSpPr>
        <p:spPr>
          <a:xfrm>
            <a:off x="603504" y="2604486"/>
            <a:ext cx="45018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int n = 4;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int scores[4][3] =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	85, 89, 64,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	93, 82, 94,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	55, 92, 59,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	59, 88, 70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};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2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Courier New" pitchFamily="49" charset="0"/>
              </a:rPr>
              <a:t>int **p = new int*[n];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Courier New" pitchFamily="49" charset="0"/>
              </a:rPr>
              <a:t>for (int </a:t>
            </a:r>
            <a:r>
              <a:rPr lang="en-US" altLang="zh-TW" sz="1200" dirty="0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Courier New" pitchFamily="49" charset="0"/>
              </a:rPr>
              <a:t>=0; </a:t>
            </a:r>
            <a:r>
              <a:rPr lang="en-US" altLang="zh-TW" sz="1200" dirty="0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Courier New" pitchFamily="49" charset="0"/>
              </a:rPr>
              <a:t>&lt;n; </a:t>
            </a:r>
            <a:r>
              <a:rPr lang="en-US" altLang="zh-TW" sz="1200" dirty="0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Courier New" pitchFamily="49" charset="0"/>
              </a:rPr>
              <a:t>++)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Courier New" pitchFamily="49" charset="0"/>
              </a:rPr>
              <a:t>	p[</a:t>
            </a:r>
            <a:r>
              <a:rPr lang="en-US" altLang="zh-TW" sz="1200" dirty="0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Courier New" pitchFamily="49" charset="0"/>
              </a:rPr>
              <a:t>] = new int[3];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2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for (int </a:t>
            </a:r>
            <a:r>
              <a:rPr lang="en-US" altLang="zh-TW" sz="1200" dirty="0" err="1">
                <a:latin typeface="Courier New" pitchFamily="49" charset="0"/>
              </a:rPr>
              <a:t>i</a:t>
            </a:r>
            <a:r>
              <a:rPr lang="en-US" altLang="zh-TW" sz="1200" dirty="0">
                <a:latin typeface="Courier New" pitchFamily="49" charset="0"/>
              </a:rPr>
              <a:t>=0; </a:t>
            </a:r>
            <a:r>
              <a:rPr lang="en-US" altLang="zh-TW" sz="1200" dirty="0" err="1">
                <a:latin typeface="Courier New" pitchFamily="49" charset="0"/>
              </a:rPr>
              <a:t>i</a:t>
            </a:r>
            <a:r>
              <a:rPr lang="en-US" altLang="zh-TW" sz="1200" dirty="0">
                <a:latin typeface="Courier New" pitchFamily="49" charset="0"/>
              </a:rPr>
              <a:t>&lt;n; </a:t>
            </a:r>
            <a:r>
              <a:rPr lang="en-US" altLang="zh-TW" sz="1200" dirty="0" err="1">
                <a:latin typeface="Courier New" pitchFamily="49" charset="0"/>
              </a:rPr>
              <a:t>i</a:t>
            </a:r>
            <a:r>
              <a:rPr lang="en-US" altLang="zh-TW" sz="1200" dirty="0">
                <a:latin typeface="Courier New" pitchFamily="49" charset="0"/>
              </a:rPr>
              <a:t>++)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	for (int j=0; j&lt;3; </a:t>
            </a:r>
            <a:r>
              <a:rPr lang="en-US" altLang="zh-TW" sz="1200" dirty="0" err="1">
                <a:latin typeface="Courier New" pitchFamily="49" charset="0"/>
              </a:rPr>
              <a:t>j++</a:t>
            </a:r>
            <a:r>
              <a:rPr lang="en-US" altLang="zh-TW" sz="1200" dirty="0">
                <a:latin typeface="Courier New" pitchFamily="49" charset="0"/>
              </a:rPr>
              <a:t>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		p[</a:t>
            </a:r>
            <a:r>
              <a:rPr lang="en-US" altLang="zh-TW" sz="1200" dirty="0" err="1">
                <a:latin typeface="Courier New" pitchFamily="49" charset="0"/>
              </a:rPr>
              <a:t>i</a:t>
            </a:r>
            <a:r>
              <a:rPr lang="en-US" altLang="zh-TW" sz="1200" dirty="0">
                <a:latin typeface="Courier New" pitchFamily="49" charset="0"/>
              </a:rPr>
              <a:t>][j] = scores[</a:t>
            </a:r>
            <a:r>
              <a:rPr lang="en-US" altLang="zh-TW" sz="1200" dirty="0" err="1">
                <a:latin typeface="Courier New" pitchFamily="49" charset="0"/>
              </a:rPr>
              <a:t>i</a:t>
            </a:r>
            <a:r>
              <a:rPr lang="en-US" altLang="zh-TW" sz="1200" dirty="0">
                <a:latin typeface="Courier New" pitchFamily="49" charset="0"/>
              </a:rPr>
              <a:t>][j];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}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1EBC3EDC-EA48-36C1-9027-6C99CC1C90CB}"/>
              </a:ext>
            </a:extLst>
          </p:cNvPr>
          <p:cNvSpPr txBox="1"/>
          <p:nvPr/>
        </p:nvSpPr>
        <p:spPr>
          <a:xfrm>
            <a:off x="4953000" y="2755880"/>
            <a:ext cx="4038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for (int </a:t>
            </a:r>
            <a:r>
              <a:rPr lang="en-US" altLang="zh-TW" sz="1200" dirty="0" err="1">
                <a:latin typeface="Courier New" pitchFamily="49" charset="0"/>
              </a:rPr>
              <a:t>i</a:t>
            </a:r>
            <a:r>
              <a:rPr lang="en-US" altLang="zh-TW" sz="1200" dirty="0">
                <a:latin typeface="Courier New" pitchFamily="49" charset="0"/>
              </a:rPr>
              <a:t>=0; </a:t>
            </a:r>
            <a:r>
              <a:rPr lang="en-US" altLang="zh-TW" sz="1200" dirty="0" err="1">
                <a:latin typeface="Courier New" pitchFamily="49" charset="0"/>
              </a:rPr>
              <a:t>i</a:t>
            </a:r>
            <a:r>
              <a:rPr lang="en-US" altLang="zh-TW" sz="1200" dirty="0">
                <a:latin typeface="Courier New" pitchFamily="49" charset="0"/>
              </a:rPr>
              <a:t>&lt;n; </a:t>
            </a:r>
            <a:r>
              <a:rPr lang="en-US" altLang="zh-TW" sz="1200" dirty="0" err="1">
                <a:latin typeface="Courier New" pitchFamily="49" charset="0"/>
              </a:rPr>
              <a:t>i</a:t>
            </a:r>
            <a:r>
              <a:rPr lang="en-US" altLang="zh-TW" sz="1200" dirty="0">
                <a:latin typeface="Courier New" pitchFamily="49" charset="0"/>
              </a:rPr>
              <a:t>++)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    for (int j=0; j&lt;3; </a:t>
            </a:r>
            <a:r>
              <a:rPr lang="en-US" altLang="zh-TW" sz="1200" dirty="0" err="1">
                <a:latin typeface="Courier New" pitchFamily="49" charset="0"/>
              </a:rPr>
              <a:t>j++</a:t>
            </a:r>
            <a:r>
              <a:rPr lang="en-US" altLang="zh-TW" sz="1200" dirty="0">
                <a:latin typeface="Courier New" pitchFamily="49" charset="0"/>
              </a:rPr>
              <a:t>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	if (p[</a:t>
            </a:r>
            <a:r>
              <a:rPr lang="en-US" altLang="zh-TW" sz="1200" dirty="0" err="1">
                <a:latin typeface="Courier New" pitchFamily="49" charset="0"/>
              </a:rPr>
              <a:t>i</a:t>
            </a:r>
            <a:r>
              <a:rPr lang="en-US" altLang="zh-TW" sz="1200" dirty="0">
                <a:latin typeface="Courier New" pitchFamily="49" charset="0"/>
              </a:rPr>
              <a:t>][j] &lt; 60)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	    for (int k=0; k&lt;3; k++)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	        </a:t>
            </a:r>
            <a:r>
              <a:rPr lang="en-US" altLang="zh-TW" sz="1200" dirty="0" err="1">
                <a:latin typeface="Courier New" pitchFamily="49" charset="0"/>
              </a:rPr>
              <a:t>cout</a:t>
            </a:r>
            <a:r>
              <a:rPr lang="en-US" altLang="zh-TW" sz="1200" dirty="0">
                <a:latin typeface="Courier New" pitchFamily="49" charset="0"/>
              </a:rPr>
              <a:t> &lt;&lt; p[</a:t>
            </a:r>
            <a:r>
              <a:rPr lang="en-US" altLang="zh-TW" sz="1200" dirty="0" err="1">
                <a:latin typeface="Courier New" pitchFamily="49" charset="0"/>
              </a:rPr>
              <a:t>i</a:t>
            </a:r>
            <a:r>
              <a:rPr lang="en-US" altLang="zh-TW" sz="1200" dirty="0">
                <a:latin typeface="Courier New" pitchFamily="49" charset="0"/>
              </a:rPr>
              <a:t>][k] &lt;&lt; " ";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	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	    </a:t>
            </a:r>
            <a:r>
              <a:rPr lang="en-US" altLang="zh-TW" sz="1200" dirty="0" err="1">
                <a:latin typeface="Courier New" pitchFamily="49" charset="0"/>
              </a:rPr>
              <a:t>cout</a:t>
            </a:r>
            <a:r>
              <a:rPr lang="en-US" altLang="zh-TW" sz="1200" dirty="0">
                <a:latin typeface="Courier New" pitchFamily="49" charset="0"/>
              </a:rPr>
              <a:t> &lt;&lt; </a:t>
            </a:r>
            <a:r>
              <a:rPr lang="en-US" altLang="zh-TW" sz="1200" dirty="0" err="1">
                <a:latin typeface="Courier New" pitchFamily="49" charset="0"/>
              </a:rPr>
              <a:t>endl</a:t>
            </a:r>
            <a:r>
              <a:rPr lang="en-US" altLang="zh-TW" sz="12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	    break;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2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Courier New" pitchFamily="49" charset="0"/>
              </a:rPr>
              <a:t>for (int </a:t>
            </a:r>
            <a:r>
              <a:rPr lang="en-US" altLang="zh-TW" sz="1200" dirty="0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Courier New" pitchFamily="49" charset="0"/>
              </a:rPr>
              <a:t>=0; </a:t>
            </a:r>
            <a:r>
              <a:rPr lang="en-US" altLang="zh-TW" sz="1200" dirty="0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Courier New" pitchFamily="49" charset="0"/>
              </a:rPr>
              <a:t>&lt;n; </a:t>
            </a:r>
            <a:r>
              <a:rPr lang="en-US" altLang="zh-TW" sz="1200" dirty="0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Courier New" pitchFamily="49" charset="0"/>
              </a:rPr>
              <a:t>++)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Courier New" pitchFamily="49" charset="0"/>
              </a:rPr>
              <a:t>	delete [] p[</a:t>
            </a:r>
            <a:r>
              <a:rPr lang="en-US" altLang="zh-TW" sz="1200" dirty="0" err="1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altLang="zh-TW" sz="1200" dirty="0">
                <a:solidFill>
                  <a:srgbClr val="FF0000"/>
                </a:solidFill>
                <a:latin typeface="Courier New" pitchFamily="49" charset="0"/>
              </a:rPr>
              <a:t>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200" dirty="0">
              <a:solidFill>
                <a:srgbClr val="FF0000"/>
              </a:solidFill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Courier New" pitchFamily="49" charset="0"/>
              </a:rPr>
              <a:t>delete [] p;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Courier New" pitchFamily="49" charset="0"/>
              </a:rPr>
              <a:t>p = NULL;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05082-51FB-C016-9B86-DAB083DD514A}"/>
              </a:ext>
            </a:extLst>
          </p:cNvPr>
          <p:cNvSpPr txBox="1"/>
          <p:nvPr/>
        </p:nvSpPr>
        <p:spPr>
          <a:xfrm>
            <a:off x="691052" y="6395088"/>
            <a:ext cx="18533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lec08-08-score.cpp</a:t>
            </a:r>
          </a:p>
        </p:txBody>
      </p:sp>
    </p:spTree>
    <p:extLst>
      <p:ext uri="{BB962C8B-B14F-4D97-AF65-F5344CB8AC3E}">
        <p14:creationId xmlns:p14="http://schemas.microsoft.com/office/powerpoint/2010/main" val="168523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 charset="-120"/>
              </a:rPr>
              <a:t>Guidelines on using pointers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000" b="1" dirty="0">
                <a:solidFill>
                  <a:srgbClr val="FF0000"/>
                </a:solidFill>
                <a:ea typeface="新細明體" charset="-120"/>
              </a:rPr>
              <a:t>Initialize</a:t>
            </a:r>
            <a:r>
              <a:rPr lang="en-US" altLang="zh-TW" sz="2000" dirty="0">
                <a:solidFill>
                  <a:srgbClr val="FF0000"/>
                </a:solidFill>
                <a:ea typeface="新細明體" charset="-120"/>
              </a:rPr>
              <a:t> </a:t>
            </a:r>
            <a:r>
              <a:rPr lang="en-US" altLang="zh-TW" sz="2000" dirty="0">
                <a:ea typeface="新細明體" charset="-120"/>
              </a:rPr>
              <a:t>a pointer to NULL after declaration</a:t>
            </a:r>
          </a:p>
          <a:p>
            <a:pPr lvl="1" eaLnBrk="1" hangingPunct="1"/>
            <a:r>
              <a:rPr lang="en-US" altLang="zh-TW" sz="1800" dirty="0">
                <a:ea typeface="新細明體" charset="-120"/>
              </a:rPr>
              <a:t>char *</a:t>
            </a:r>
            <a:r>
              <a:rPr lang="en-US" altLang="zh-TW" sz="1800" dirty="0" err="1">
                <a:ea typeface="新細明體" charset="-120"/>
              </a:rPr>
              <a:t>cPtr</a:t>
            </a:r>
            <a:r>
              <a:rPr lang="en-US" altLang="zh-TW" sz="1800" dirty="0">
                <a:ea typeface="新細明體" charset="-120"/>
              </a:rPr>
              <a:t>=</a:t>
            </a:r>
            <a:r>
              <a:rPr lang="en-US" altLang="zh-TW" sz="1800" b="1" dirty="0">
                <a:solidFill>
                  <a:srgbClr val="FF0000"/>
                </a:solidFill>
                <a:ea typeface="新細明體" charset="-120"/>
              </a:rPr>
              <a:t>NULL</a:t>
            </a:r>
            <a:r>
              <a:rPr lang="en-US" altLang="zh-TW" sz="1800" dirty="0">
                <a:ea typeface="新細明體" charset="-120"/>
              </a:rPr>
              <a:t>;</a:t>
            </a:r>
          </a:p>
          <a:p>
            <a:pPr eaLnBrk="1" hangingPunct="1"/>
            <a:r>
              <a:rPr lang="en-US" altLang="zh-TW" sz="2000" dirty="0">
                <a:ea typeface="新細明體" charset="-120"/>
              </a:rPr>
              <a:t>Check its value before use</a:t>
            </a:r>
          </a:p>
          <a:p>
            <a:pPr lvl="1" eaLnBrk="1" hangingPunct="1"/>
            <a:r>
              <a:rPr lang="en-US" altLang="zh-TW" sz="1800" dirty="0">
                <a:ea typeface="新細明體" charset="-120"/>
              </a:rPr>
              <a:t>if (</a:t>
            </a:r>
            <a:r>
              <a:rPr lang="en-US" altLang="zh-TW" sz="1800" b="1" dirty="0" err="1">
                <a:solidFill>
                  <a:srgbClr val="FF0000"/>
                </a:solidFill>
                <a:ea typeface="新細明體" charset="-120"/>
              </a:rPr>
              <a:t>cptr</a:t>
            </a:r>
            <a:r>
              <a:rPr lang="en-US" altLang="zh-TW" sz="1800" b="1" dirty="0">
                <a:solidFill>
                  <a:srgbClr val="FF0000"/>
                </a:solidFill>
                <a:ea typeface="新細明體" charset="-120"/>
              </a:rPr>
              <a:t>!=NULL</a:t>
            </a:r>
            <a:r>
              <a:rPr lang="en-US" altLang="zh-TW" sz="1800" dirty="0">
                <a:ea typeface="新細明體" charset="-120"/>
              </a:rPr>
              <a:t>){</a:t>
            </a:r>
          </a:p>
          <a:p>
            <a:pPr lvl="1" eaLnBrk="1" hangingPunct="1"/>
            <a:r>
              <a:rPr lang="en-US" altLang="zh-TW" sz="1800" dirty="0">
                <a:ea typeface="新細明體" charset="-120"/>
              </a:rPr>
              <a:t>….</a:t>
            </a:r>
          </a:p>
          <a:p>
            <a:pPr lvl="1" eaLnBrk="1" hangingPunct="1"/>
            <a:r>
              <a:rPr lang="en-US" altLang="zh-TW" sz="1800" dirty="0">
                <a:ea typeface="新細明體" charset="-120"/>
              </a:rPr>
              <a:t>}</a:t>
            </a:r>
          </a:p>
          <a:p>
            <a:pPr eaLnBrk="1" hangingPunct="1"/>
            <a:r>
              <a:rPr lang="en-US" altLang="zh-TW" sz="2000" dirty="0">
                <a:ea typeface="新細明體" charset="-120"/>
              </a:rPr>
              <a:t>Free the memory allocated by the “new” operator using delete</a:t>
            </a:r>
          </a:p>
          <a:p>
            <a:pPr lvl="1"/>
            <a:r>
              <a:rPr lang="en-US" altLang="zh-TW" sz="1800" dirty="0" err="1">
                <a:ea typeface="新細明體" charset="-120"/>
              </a:rPr>
              <a:t>cPtr</a:t>
            </a:r>
            <a:r>
              <a:rPr lang="en-US" altLang="zh-TW" sz="1800" dirty="0">
                <a:ea typeface="新細明體" charset="-120"/>
              </a:rPr>
              <a:t> = </a:t>
            </a:r>
            <a:r>
              <a:rPr lang="en-US" altLang="zh-TW" sz="1800" b="1" dirty="0">
                <a:solidFill>
                  <a:srgbClr val="00B0F0"/>
                </a:solidFill>
                <a:ea typeface="新細明體" charset="-120"/>
              </a:rPr>
              <a:t>new</a:t>
            </a:r>
            <a:r>
              <a:rPr lang="en-US" altLang="zh-TW" sz="1800" dirty="0">
                <a:solidFill>
                  <a:srgbClr val="00B0F0"/>
                </a:solidFill>
                <a:ea typeface="新細明體" charset="-120"/>
              </a:rPr>
              <a:t> </a:t>
            </a:r>
            <a:r>
              <a:rPr lang="en-US" altLang="zh-TW" sz="1800" dirty="0">
                <a:ea typeface="新細明體" charset="-120"/>
              </a:rPr>
              <a:t>char[6]; …</a:t>
            </a:r>
          </a:p>
          <a:p>
            <a:pPr lvl="1"/>
            <a:r>
              <a:rPr lang="en-US" altLang="zh-TW" sz="1800" b="1" dirty="0">
                <a:solidFill>
                  <a:srgbClr val="FF0000"/>
                </a:solidFill>
                <a:ea typeface="新細明體" charset="-120"/>
              </a:rPr>
              <a:t>delete</a:t>
            </a:r>
            <a:r>
              <a:rPr lang="en-US" altLang="zh-TW" sz="1800" dirty="0">
                <a:solidFill>
                  <a:srgbClr val="FF0000"/>
                </a:solidFill>
                <a:ea typeface="新細明體" charset="-120"/>
              </a:rPr>
              <a:t> </a:t>
            </a:r>
            <a:r>
              <a:rPr lang="en-US" altLang="zh-TW" sz="1800" dirty="0">
                <a:ea typeface="新細明體" charset="-120"/>
              </a:rPr>
              <a:t>[] </a:t>
            </a:r>
            <a:r>
              <a:rPr lang="en-US" altLang="zh-TW" sz="1800" dirty="0" err="1">
                <a:ea typeface="新細明體" charset="-120"/>
              </a:rPr>
              <a:t>cPtr</a:t>
            </a:r>
            <a:r>
              <a:rPr lang="en-US" altLang="zh-TW" sz="1800" dirty="0">
                <a:ea typeface="新細明體" charset="-120"/>
              </a:rPr>
              <a:t>;</a:t>
            </a:r>
          </a:p>
          <a:p>
            <a:pPr eaLnBrk="1" hangingPunct="1"/>
            <a:r>
              <a:rPr lang="en-US" altLang="zh-TW" sz="2000" dirty="0">
                <a:ea typeface="新細明體" charset="-120"/>
              </a:rPr>
              <a:t>Set it </a:t>
            </a:r>
            <a:r>
              <a:rPr lang="en-US" altLang="zh-TW" sz="2000" b="1" dirty="0">
                <a:solidFill>
                  <a:srgbClr val="FF0000"/>
                </a:solidFill>
                <a:ea typeface="新細明體" charset="-120"/>
              </a:rPr>
              <a:t>NULL</a:t>
            </a:r>
            <a:r>
              <a:rPr lang="en-US" altLang="zh-TW" sz="2000" dirty="0">
                <a:solidFill>
                  <a:srgbClr val="FF0000"/>
                </a:solidFill>
                <a:ea typeface="新細明體" charset="-120"/>
              </a:rPr>
              <a:t> </a:t>
            </a:r>
            <a:r>
              <a:rPr lang="en-US" altLang="zh-TW" sz="2000" dirty="0">
                <a:ea typeface="新細明體" charset="-120"/>
              </a:rPr>
              <a:t>again after free</a:t>
            </a:r>
          </a:p>
          <a:p>
            <a:pPr lvl="1" eaLnBrk="1" hangingPunct="1"/>
            <a:r>
              <a:rPr lang="en-US" altLang="zh-TW" sz="1800" dirty="0">
                <a:ea typeface="新細明體" charset="-120"/>
              </a:rPr>
              <a:t>delete [] </a:t>
            </a:r>
            <a:r>
              <a:rPr lang="en-US" altLang="zh-TW" sz="1800" dirty="0" err="1">
                <a:ea typeface="新細明體" charset="-120"/>
              </a:rPr>
              <a:t>cPtr</a:t>
            </a:r>
            <a:r>
              <a:rPr lang="en-US" altLang="zh-TW" sz="1800" dirty="0">
                <a:ea typeface="新細明體" charset="-120"/>
              </a:rPr>
              <a:t>;</a:t>
            </a:r>
          </a:p>
          <a:p>
            <a:pPr lvl="1" eaLnBrk="1" hangingPunct="1"/>
            <a:r>
              <a:rPr lang="en-US" altLang="zh-TW" sz="1800" dirty="0" err="1">
                <a:ea typeface="新細明體" charset="-120"/>
              </a:rPr>
              <a:t>cPtr</a:t>
            </a:r>
            <a:r>
              <a:rPr lang="en-US" altLang="zh-TW" sz="1800" dirty="0">
                <a:ea typeface="新細明體" charset="-120"/>
              </a:rPr>
              <a:t> = </a:t>
            </a:r>
            <a:r>
              <a:rPr lang="en-US" altLang="zh-TW" sz="1800" b="1" dirty="0">
                <a:solidFill>
                  <a:srgbClr val="FF0000"/>
                </a:solidFill>
                <a:ea typeface="新細明體" charset="-120"/>
              </a:rPr>
              <a:t>NULL</a:t>
            </a:r>
            <a:r>
              <a:rPr lang="en-US" altLang="zh-TW" sz="1800" dirty="0">
                <a:ea typeface="新細明體" charset="-120"/>
              </a:rPr>
              <a:t>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381FA4-74F2-0A17-C01C-A5246305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35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1144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6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6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6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6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385C-02B4-D045-FC41-AA38F602C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1FA27-5BD8-A7BC-3C47-1F13148FC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36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F1B37-41FA-EE43-9057-EEC4B868DC6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More about pointer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Applications of pointer</a:t>
            </a:r>
          </a:p>
          <a:p>
            <a:endParaRPr lang="en-US" dirty="0"/>
          </a:p>
          <a:p>
            <a:r>
              <a:rPr lang="en-US" dirty="0"/>
              <a:t>More about class</a:t>
            </a:r>
          </a:p>
        </p:txBody>
      </p:sp>
    </p:spTree>
    <p:extLst>
      <p:ext uri="{BB962C8B-B14F-4D97-AF65-F5344CB8AC3E}">
        <p14:creationId xmlns:p14="http://schemas.microsoft.com/office/powerpoint/2010/main" val="13422104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FA58-9FBD-468A-B758-5B67EEE30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Constructor</a:t>
            </a:r>
            <a:endParaRPr lang="en-H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5CB21-80FE-47CE-A597-73940AE8045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4876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have learned two types of constructors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Default</a:t>
            </a:r>
            <a:r>
              <a:rPr lang="en-US" dirty="0"/>
              <a:t> constructor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DayOfYear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{}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Parameterized</a:t>
            </a:r>
            <a:r>
              <a:rPr lang="en-US" dirty="0"/>
              <a:t> constructor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DayOfYear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(int m, int d):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m_Month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(m),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m_Day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(d) {}</a:t>
            </a:r>
          </a:p>
          <a:p>
            <a:r>
              <a:rPr lang="en-US" b="1" dirty="0"/>
              <a:t>Copy constructor</a:t>
            </a:r>
          </a:p>
          <a:p>
            <a:pPr lvl="1"/>
            <a:r>
              <a:rPr lang="en-US" dirty="0"/>
              <a:t>Use another object of </a:t>
            </a:r>
            <a:r>
              <a:rPr lang="en-US" dirty="0">
                <a:solidFill>
                  <a:srgbClr val="0070C0"/>
                </a:solidFill>
              </a:rPr>
              <a:t>the same class</a:t>
            </a:r>
            <a:r>
              <a:rPr lang="en-US" dirty="0"/>
              <a:t> to initialize a new object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DayOfYear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(const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DayOfYear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&amp;d) {</a:t>
            </a:r>
          </a:p>
          <a:p>
            <a:pPr marL="868680" lvl="3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 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m_Month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d.m_Month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868680" lvl="3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m_Day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d.m_Day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59436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03C2D-5540-5CB5-0441-E9362DEB5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37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A256A2-C62C-A7D5-ECD5-559DC0E55AD2}"/>
              </a:ext>
            </a:extLst>
          </p:cNvPr>
          <p:cNvSpPr txBox="1"/>
          <p:nvPr/>
        </p:nvSpPr>
        <p:spPr>
          <a:xfrm>
            <a:off x="691052" y="6395088"/>
            <a:ext cx="18533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lec08-09-copy.cpp</a:t>
            </a:r>
          </a:p>
        </p:txBody>
      </p:sp>
    </p:spTree>
    <p:extLst>
      <p:ext uri="{BB962C8B-B14F-4D97-AF65-F5344CB8AC3E}">
        <p14:creationId xmlns:p14="http://schemas.microsoft.com/office/powerpoint/2010/main" val="366603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4A5ED-54BD-4F16-8824-B57DF687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Constructor</a:t>
            </a:r>
            <a:endParaRPr lang="en-H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FFD0E-98BF-42C5-AC10-B6160221D35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When the copy constructor is called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solidFill>
                  <a:srgbClr val="C00000"/>
                </a:solidFill>
              </a:rPr>
              <a:t>an existing object</a:t>
            </a:r>
            <a:r>
              <a:rPr lang="en-US" dirty="0"/>
              <a:t> to initialize </a:t>
            </a:r>
            <a:r>
              <a:rPr lang="en-US" dirty="0">
                <a:solidFill>
                  <a:srgbClr val="7030A0"/>
                </a:solidFill>
              </a:rPr>
              <a:t>a new object of the same class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DayOfYear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d1(1, 1);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DayOfYear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d2(d1); // 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DayOfYear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d2 = d1;</a:t>
            </a:r>
          </a:p>
          <a:p>
            <a:pPr lvl="1"/>
            <a:r>
              <a:rPr lang="en-US" dirty="0"/>
              <a:t>Call-by-value</a:t>
            </a:r>
          </a:p>
          <a:p>
            <a:pPr lvl="2"/>
            <a:endParaRPr lang="en-HK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8A60A6-656D-41B1-885A-8050273E749F}"/>
              </a:ext>
            </a:extLst>
          </p:cNvPr>
          <p:cNvSpPr txBox="1"/>
          <p:nvPr/>
        </p:nvSpPr>
        <p:spPr>
          <a:xfrm>
            <a:off x="1676400" y="3998655"/>
            <a:ext cx="5257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void f(</a:t>
            </a:r>
            <a:r>
              <a:rPr lang="en-US" altLang="zh-CN" sz="2000" dirty="0" err="1">
                <a:latin typeface="Courier New" pitchFamily="49" charset="0"/>
              </a:rPr>
              <a:t>DayOfYear</a:t>
            </a:r>
            <a:r>
              <a:rPr lang="en-US" altLang="zh-CN" sz="2000" dirty="0">
                <a:latin typeface="Courier New" pitchFamily="49" charset="0"/>
              </a:rPr>
              <a:t> d2)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	// …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void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	</a:t>
            </a:r>
            <a:r>
              <a:rPr lang="en-US" altLang="zh-CN" sz="2000" dirty="0" err="1">
                <a:latin typeface="Courier New" pitchFamily="49" charset="0"/>
              </a:rPr>
              <a:t>DayOfYear</a:t>
            </a:r>
            <a:r>
              <a:rPr lang="en-US" altLang="zh-CN" sz="2000" dirty="0">
                <a:latin typeface="Courier New" pitchFamily="49" charset="0"/>
              </a:rPr>
              <a:t> d1;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	f(d1);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3339A-4A62-88B4-4D1E-8AA9324AA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38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127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BA3C-023E-442B-9CA1-3E230C454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Constructor</a:t>
            </a:r>
            <a:endParaRPr lang="en-H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D62D0-DB96-4116-9C07-5E8AFFD5C1B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If we </a:t>
            </a:r>
            <a:r>
              <a:rPr lang="en-US" b="1" dirty="0"/>
              <a:t>do not</a:t>
            </a:r>
            <a:r>
              <a:rPr lang="en-US" dirty="0"/>
              <a:t> provide a </a:t>
            </a:r>
            <a:r>
              <a:rPr lang="en-US" dirty="0">
                <a:solidFill>
                  <a:srgbClr val="C00000"/>
                </a:solidFill>
              </a:rPr>
              <a:t>user-defined</a:t>
            </a:r>
            <a:r>
              <a:rPr lang="en-US" dirty="0"/>
              <a:t> copy constructor, compiler provides a </a:t>
            </a:r>
            <a:r>
              <a:rPr lang="en-US" dirty="0">
                <a:solidFill>
                  <a:srgbClr val="7030A0"/>
                </a:solidFill>
              </a:rPr>
              <a:t>default copy constructor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member-wise copy</a:t>
            </a:r>
          </a:p>
          <a:p>
            <a:r>
              <a:rPr lang="en-US" dirty="0"/>
              <a:t>The default copy constructor may cause errors</a:t>
            </a:r>
            <a:endParaRPr lang="en-H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3076E-CEC2-4C2E-297A-93BF77FFD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39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0314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814FF-C921-4387-AA16-9E638396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Constructor</a:t>
            </a:r>
            <a:endParaRPr lang="en-H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1F0B5-B0BF-4961-AA61-4F39C4A138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8001000" cy="1905000"/>
          </a:xfrm>
        </p:spPr>
        <p:txBody>
          <a:bodyPr>
            <a:normAutofit/>
          </a:bodyPr>
          <a:lstStyle/>
          <a:p>
            <a:r>
              <a:rPr lang="en-US" b="1" dirty="0"/>
              <a:t>Shallow copy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s1.pID</a:t>
            </a:r>
            <a:r>
              <a:rPr lang="en-US" sz="1800" dirty="0"/>
              <a:t> and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s2.pID</a:t>
            </a:r>
            <a:r>
              <a:rPr lang="en-US" sz="1800" dirty="0"/>
              <a:t> point to the </a:t>
            </a:r>
            <a:r>
              <a:rPr lang="en-US" sz="1800" dirty="0">
                <a:solidFill>
                  <a:srgbClr val="C00000"/>
                </a:solidFill>
              </a:rPr>
              <a:t>same</a:t>
            </a:r>
            <a:r>
              <a:rPr lang="en-US" sz="1800" dirty="0"/>
              <a:t> dynamic variable,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800" dirty="0">
                <a:cs typeface="Courier New" panose="02070309020205020404" pitchFamily="49" charset="0"/>
              </a:rPr>
              <a:t>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(id)</a:t>
            </a:r>
          </a:p>
          <a:p>
            <a:pPr lvl="1"/>
            <a:r>
              <a:rPr lang="en-US" sz="1800" dirty="0"/>
              <a:t>After one object is destructed, the </a:t>
            </a:r>
            <a:r>
              <a:rPr lang="en-US" sz="1800" dirty="0">
                <a:solidFill>
                  <a:srgbClr val="7030A0"/>
                </a:solidFill>
              </a:rPr>
              <a:t>destruction</a:t>
            </a:r>
            <a:r>
              <a:rPr lang="en-US" sz="1800" dirty="0"/>
              <a:t> of the other object tries to delete it </a:t>
            </a:r>
            <a:r>
              <a:rPr lang="en-US" sz="1800" dirty="0">
                <a:solidFill>
                  <a:srgbClr val="0070C0"/>
                </a:solidFill>
              </a:rPr>
              <a:t>again</a:t>
            </a:r>
            <a:r>
              <a:rPr lang="en-US" sz="1800" dirty="0"/>
              <a:t>, which causes an error</a:t>
            </a:r>
          </a:p>
          <a:p>
            <a:pPr lvl="1"/>
            <a:endParaRPr lang="en-HK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5CB239-9BD8-4885-A749-CEE93E46F0D7}"/>
              </a:ext>
            </a:extLst>
          </p:cNvPr>
          <p:cNvSpPr txBox="1"/>
          <p:nvPr/>
        </p:nvSpPr>
        <p:spPr>
          <a:xfrm>
            <a:off x="882825" y="2996148"/>
            <a:ext cx="4648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class Student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	Student(int id, int a){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		</a:t>
            </a:r>
            <a:r>
              <a:rPr lang="en-US" altLang="zh-CN" sz="1600" dirty="0" err="1">
                <a:latin typeface="Courier New" pitchFamily="49" charset="0"/>
              </a:rPr>
              <a:t>pID</a:t>
            </a:r>
            <a:r>
              <a:rPr lang="en-US" altLang="zh-CN" sz="1600" dirty="0">
                <a:latin typeface="Courier New" pitchFamily="49" charset="0"/>
              </a:rPr>
              <a:t> = new int(id);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		age = a;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	~Student()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		delete[] </a:t>
            </a:r>
            <a:r>
              <a:rPr lang="en-US" altLang="zh-CN" sz="1600" dirty="0" err="1">
                <a:latin typeface="Courier New" pitchFamily="49" charset="0"/>
              </a:rPr>
              <a:t>pID</a:t>
            </a:r>
            <a:r>
              <a:rPr lang="en-US" altLang="zh-CN" sz="16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		</a:t>
            </a:r>
            <a:r>
              <a:rPr lang="en-US" altLang="zh-CN" sz="1600" dirty="0" err="1">
                <a:latin typeface="Courier New" pitchFamily="49" charset="0"/>
              </a:rPr>
              <a:t>pID</a:t>
            </a:r>
            <a:r>
              <a:rPr lang="en-US" altLang="zh-CN" sz="1600" dirty="0">
                <a:latin typeface="Courier New" pitchFamily="49" charset="0"/>
              </a:rPr>
              <a:t> = NULL;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6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	int *</a:t>
            </a:r>
            <a:r>
              <a:rPr lang="en-US" altLang="zh-CN" sz="1600" dirty="0" err="1">
                <a:latin typeface="Courier New" pitchFamily="49" charset="0"/>
              </a:rPr>
              <a:t>pID</a:t>
            </a:r>
            <a:r>
              <a:rPr lang="en-US" altLang="zh-CN" sz="16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	int age;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};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65D5ADE0-7626-4BA5-9550-0F6B27D47723}"/>
              </a:ext>
            </a:extLst>
          </p:cNvPr>
          <p:cNvSpPr txBox="1"/>
          <p:nvPr/>
        </p:nvSpPr>
        <p:spPr>
          <a:xfrm>
            <a:off x="4800600" y="5382161"/>
            <a:ext cx="4648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void f()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	Student s1(123456, 20);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	Student s2(s1);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600" dirty="0">
              <a:latin typeface="Courier New" pitchFamily="49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EF23F-007B-9987-A8DF-BAB13ED92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40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8499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F64A0-74D1-4023-8F5A-54094F1A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Constructor</a:t>
            </a:r>
            <a:endParaRPr lang="en-H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D9552-6AEB-45A5-AFB7-F6E64C948D2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Deep copy</a:t>
            </a:r>
          </a:p>
          <a:p>
            <a:pPr lvl="1"/>
            <a:r>
              <a:rPr lang="en-US" dirty="0"/>
              <a:t>Add the following </a:t>
            </a:r>
            <a:r>
              <a:rPr lang="en-US" dirty="0">
                <a:solidFill>
                  <a:srgbClr val="C00000"/>
                </a:solidFill>
              </a:rPr>
              <a:t>user-defined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copy constructor </a:t>
            </a:r>
            <a:r>
              <a:rPr lang="en-US" dirty="0"/>
              <a:t>in the class</a:t>
            </a:r>
            <a:endParaRPr lang="en-HK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7EC878-2407-4752-AAED-947C34CCEFEC}"/>
              </a:ext>
            </a:extLst>
          </p:cNvPr>
          <p:cNvSpPr txBox="1"/>
          <p:nvPr/>
        </p:nvSpPr>
        <p:spPr>
          <a:xfrm>
            <a:off x="1219200" y="3248561"/>
            <a:ext cx="4648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Student(const Student &amp;s)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	age = </a:t>
            </a:r>
            <a:r>
              <a:rPr lang="en-US" altLang="zh-CN" sz="1600" dirty="0" err="1">
                <a:latin typeface="Courier New" pitchFamily="49" charset="0"/>
              </a:rPr>
              <a:t>s.age</a:t>
            </a:r>
            <a:r>
              <a:rPr lang="en-US" altLang="zh-CN" sz="16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	</a:t>
            </a:r>
            <a:r>
              <a:rPr lang="en-US" altLang="zh-CN" sz="1600" dirty="0" err="1">
                <a:latin typeface="Courier New" pitchFamily="49" charset="0"/>
              </a:rPr>
              <a:t>pID</a:t>
            </a:r>
            <a:r>
              <a:rPr lang="en-US" altLang="zh-CN" sz="1600" dirty="0">
                <a:latin typeface="Courier New" pitchFamily="49" charset="0"/>
              </a:rPr>
              <a:t> = new int(*</a:t>
            </a:r>
            <a:r>
              <a:rPr lang="en-US" altLang="zh-CN" sz="1600" dirty="0" err="1">
                <a:latin typeface="Courier New" pitchFamily="49" charset="0"/>
              </a:rPr>
              <a:t>s.pID</a:t>
            </a:r>
            <a:r>
              <a:rPr lang="en-US" altLang="zh-CN" sz="1600" dirty="0">
                <a:latin typeface="Courier New" pitchFamily="49" charset="0"/>
              </a:rPr>
              <a:t>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600" dirty="0">
              <a:latin typeface="Courier New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43F43-B531-D394-1E20-7B1C89EB2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41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F3299-D9BC-9274-718A-5759A810EDB3}"/>
              </a:ext>
            </a:extLst>
          </p:cNvPr>
          <p:cNvSpPr txBox="1"/>
          <p:nvPr/>
        </p:nvSpPr>
        <p:spPr>
          <a:xfrm>
            <a:off x="691052" y="6395088"/>
            <a:ext cx="18533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lec08-10-deep.cpp</a:t>
            </a:r>
          </a:p>
        </p:txBody>
      </p:sp>
    </p:spTree>
    <p:extLst>
      <p:ext uri="{BB962C8B-B14F-4D97-AF65-F5344CB8AC3E}">
        <p14:creationId xmlns:p14="http://schemas.microsoft.com/office/powerpoint/2010/main" val="86741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15033</TotalTime>
  <Words>3145</Words>
  <Application>Microsoft Macintosh PowerPoint</Application>
  <PresentationFormat>On-screen Show (4:3)</PresentationFormat>
  <Paragraphs>600</Paragraphs>
  <Slides>41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新細明體</vt:lpstr>
      <vt:lpstr>SimSun</vt:lpstr>
      <vt:lpstr>Arial</vt:lpstr>
      <vt:lpstr>Calibri</vt:lpstr>
      <vt:lpstr>Comic Sans MS</vt:lpstr>
      <vt:lpstr>Courier New</vt:lpstr>
      <vt:lpstr>Verdana</vt:lpstr>
      <vt:lpstr>Wingdings</vt:lpstr>
      <vt:lpstr>Wingdings 2</vt:lpstr>
      <vt:lpstr>Equity</vt:lpstr>
      <vt:lpstr>Visio</vt:lpstr>
      <vt:lpstr>PowerPoint Presentation</vt:lpstr>
      <vt:lpstr>Outline</vt:lpstr>
      <vt:lpstr>Pointers</vt:lpstr>
      <vt:lpstr>The NULL pointer</vt:lpstr>
      <vt:lpstr>Operations on pointers</vt:lpstr>
      <vt:lpstr>Copy the address</vt:lpstr>
      <vt:lpstr>Operations on pointers</vt:lpstr>
      <vt:lpstr>Copy the content</vt:lpstr>
      <vt:lpstr>Outline</vt:lpstr>
      <vt:lpstr>Relationship between arrays and pointers</vt:lpstr>
      <vt:lpstr>Relationship between arrays and pointers</vt:lpstr>
      <vt:lpstr>Arrays and pointers</vt:lpstr>
      <vt:lpstr>Example 2: summing an array</vt:lpstr>
      <vt:lpstr>Passing arrays to functions</vt:lpstr>
      <vt:lpstr>Example 3: Parameter Passing</vt:lpstr>
      <vt:lpstr>Access elements in 2D array with pointers</vt:lpstr>
      <vt:lpstr>Access elements in 2D array with pointers</vt:lpstr>
      <vt:lpstr>Arrays, pointers and strings</vt:lpstr>
      <vt:lpstr>cin &gt;&gt; a string (I)</vt:lpstr>
      <vt:lpstr>cin &gt;&gt; a string (I)</vt:lpstr>
      <vt:lpstr>cin &gt;&gt; a string (II)</vt:lpstr>
      <vt:lpstr>Dynamic memory allocation</vt:lpstr>
      <vt:lpstr>Dynamic memory allocation</vt:lpstr>
      <vt:lpstr>Dynamic memory allocation</vt:lpstr>
      <vt:lpstr>Example 4: Dynamic memory allocation</vt:lpstr>
      <vt:lpstr>Example 4: Dynamic memory allocation</vt:lpstr>
      <vt:lpstr>PowerPoint Presentation</vt:lpstr>
      <vt:lpstr>PowerPoint Presentation</vt:lpstr>
      <vt:lpstr>PowerPoint Presentation</vt:lpstr>
      <vt:lpstr>PowerPoint Presentation</vt:lpstr>
      <vt:lpstr>Dynamic memory allocation</vt:lpstr>
      <vt:lpstr>Dynamic memory allocation</vt:lpstr>
      <vt:lpstr>Example</vt:lpstr>
      <vt:lpstr>Example</vt:lpstr>
      <vt:lpstr>Guidelines on using pointers</vt:lpstr>
      <vt:lpstr>Outline</vt:lpstr>
      <vt:lpstr>Copy Constructor</vt:lpstr>
      <vt:lpstr>Copy Constructor</vt:lpstr>
      <vt:lpstr>Copy Constructor</vt:lpstr>
      <vt:lpstr>Copy Constructor</vt:lpstr>
      <vt:lpstr>Copy Constructor</vt:lpstr>
    </vt:vector>
  </TitlesOfParts>
  <Company>City University of Hong Kong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</dc:title>
  <dc:creator>joe</dc:creator>
  <cp:lastModifiedBy>LI Zhenjiang 李镇江</cp:lastModifiedBy>
  <cp:revision>746</cp:revision>
  <dcterms:created xsi:type="dcterms:W3CDTF">2009-04-30T13:38:41Z</dcterms:created>
  <dcterms:modified xsi:type="dcterms:W3CDTF">2025-03-08T09:51:14Z</dcterms:modified>
</cp:coreProperties>
</file>