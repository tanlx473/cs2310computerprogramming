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11" r:id="rId1"/>
  </p:sldMasterIdLst>
  <p:notesMasterIdLst>
    <p:notesMasterId r:id="rId44"/>
  </p:notesMasterIdLst>
  <p:sldIdLst>
    <p:sldId id="283" r:id="rId2"/>
    <p:sldId id="606" r:id="rId3"/>
    <p:sldId id="370" r:id="rId4"/>
    <p:sldId id="607" r:id="rId5"/>
    <p:sldId id="608" r:id="rId6"/>
    <p:sldId id="609" r:id="rId7"/>
    <p:sldId id="611" r:id="rId8"/>
    <p:sldId id="610" r:id="rId9"/>
    <p:sldId id="631" r:id="rId10"/>
    <p:sldId id="630" r:id="rId11"/>
    <p:sldId id="632" r:id="rId12"/>
    <p:sldId id="612" r:id="rId13"/>
    <p:sldId id="613" r:id="rId14"/>
    <p:sldId id="627" r:id="rId15"/>
    <p:sldId id="615" r:id="rId16"/>
    <p:sldId id="616" r:id="rId17"/>
    <p:sldId id="617" r:id="rId18"/>
    <p:sldId id="618" r:id="rId19"/>
    <p:sldId id="619" r:id="rId20"/>
    <p:sldId id="621" r:id="rId21"/>
    <p:sldId id="620" r:id="rId22"/>
    <p:sldId id="622" r:id="rId23"/>
    <p:sldId id="623" r:id="rId24"/>
    <p:sldId id="626" r:id="rId25"/>
    <p:sldId id="634" r:id="rId26"/>
    <p:sldId id="633" r:id="rId27"/>
    <p:sldId id="40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13" r:id="rId36"/>
    <p:sldId id="414" r:id="rId37"/>
    <p:sldId id="415" r:id="rId38"/>
    <p:sldId id="416" r:id="rId39"/>
    <p:sldId id="417" r:id="rId40"/>
    <p:sldId id="635" r:id="rId41"/>
    <p:sldId id="636" r:id="rId42"/>
    <p:sldId id="637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6699FF"/>
    <a:srgbClr val="FFCCCC"/>
    <a:srgbClr val="99FF66"/>
    <a:srgbClr val="006600"/>
    <a:srgbClr val="0000FF"/>
    <a:srgbClr val="003399"/>
    <a:srgbClr val="FF3300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9"/>
    <p:restoredTop sz="87211" autoAdjust="0"/>
  </p:normalViewPr>
  <p:slideViewPr>
    <p:cSldViewPr>
      <p:cViewPr varScale="1">
        <p:scale>
          <a:sx n="111" d="100"/>
          <a:sy n="111" d="100"/>
        </p:scale>
        <p:origin x="24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77222C60-64E2-40CB-9633-4681D5EA9E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387240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14196-70E2-4D90-A2E3-BFDED2C3A698}" type="slidenum">
              <a:rPr lang="en-US" altLang="zh-HK" smtClean="0"/>
              <a:pPr/>
              <a:t>1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2824008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9534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98A5E-5F62-41CD-8D41-4B037491A654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988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56614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92742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5900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1302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6687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2028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9484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6877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5737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6328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3784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6150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30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603679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0768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84694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52660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3349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3147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46260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833FA-C73E-4527-BC36-310C7801C8B7}" type="slidenum">
              <a:rPr lang="zh-TW" altLang="en-US" smtClean="0"/>
              <a:pPr>
                <a:defRPr/>
              </a:pPr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2603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HK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B5C2743-D08D-4184-B069-AF685F75E0B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kumimoji="0" lang="en-US" altLang="zh-HK" dirty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495800"/>
          </a:xfrm>
        </p:spPr>
        <p:txBody>
          <a:bodyPr vert="horz"/>
          <a:lstStyle/>
          <a:p>
            <a:pPr lvl="0" eaLnBrk="1" latinLnBrk="0" hangingPunct="1"/>
            <a:r>
              <a:rPr lang="en-US" altLang="zh-HK" dirty="0"/>
              <a:t>Click to edit Master text styles</a:t>
            </a:r>
          </a:p>
          <a:p>
            <a:pPr lvl="1" eaLnBrk="1" latinLnBrk="0" hangingPunct="1"/>
            <a:r>
              <a:rPr lang="en-US" altLang="zh-HK" dirty="0"/>
              <a:t>Second level</a:t>
            </a:r>
          </a:p>
          <a:p>
            <a:pPr lvl="2" eaLnBrk="1" latinLnBrk="0" hangingPunct="1"/>
            <a:r>
              <a:rPr lang="en-US" altLang="zh-HK" dirty="0"/>
              <a:t>Third level</a:t>
            </a:r>
          </a:p>
          <a:p>
            <a:pPr lvl="3" eaLnBrk="1" latinLnBrk="0" hangingPunct="1"/>
            <a:r>
              <a:rPr lang="en-US" altLang="zh-HK" dirty="0"/>
              <a:t>Fourth level</a:t>
            </a:r>
          </a:p>
          <a:p>
            <a:pPr lvl="4" eaLnBrk="1" latinLnBrk="0" hangingPunct="1"/>
            <a:r>
              <a:rPr lang="en-US" altLang="zh-HK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FF23F5B4-AE80-465C-A3ED-50E8D613BC72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9EA6A3-6FB3-45C3-B5E4-65C2A039E8A0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E4F29A-11F9-4289-BAEA-3DBF06A7BD43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1D845-962E-4455-A2B5-DA53818F64D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D6685-4528-47AC-A86E-0E8CF3BF5C8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5FE0DA-0414-4FA6-B45F-BDA2ABAF19A0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71D8F204-56D6-4B7B-B280-C1165CC7AAF8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HK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9C601E-6505-4D45-8656-5A38EBD2497C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AFCE8-421B-4D24-950F-59FC806B6FF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altLang="zh-HK"/>
              <a:t>Click to edit Master text styles</a:t>
            </a:r>
          </a:p>
          <a:p>
            <a:pPr lvl="1" eaLnBrk="1" latinLnBrk="0" hangingPunct="1"/>
            <a:r>
              <a:rPr kumimoji="0" lang="en-US" altLang="zh-HK"/>
              <a:t>Second level</a:t>
            </a:r>
          </a:p>
          <a:p>
            <a:pPr lvl="2" eaLnBrk="1" latinLnBrk="0" hangingPunct="1"/>
            <a:r>
              <a:rPr kumimoji="0" lang="en-US" altLang="zh-HK"/>
              <a:t>Third level</a:t>
            </a:r>
          </a:p>
          <a:p>
            <a:pPr lvl="3" eaLnBrk="1" latinLnBrk="0" hangingPunct="1"/>
            <a:r>
              <a:rPr kumimoji="0" lang="en-US" altLang="zh-HK"/>
              <a:t>Fourth level</a:t>
            </a:r>
          </a:p>
          <a:p>
            <a:pPr lvl="4" eaLnBrk="1" latinLnBrk="0" hangingPunct="1"/>
            <a:r>
              <a:rPr kumimoji="0" lang="en-US" altLang="zh-HK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C787ADA-DBD0-44B6-BABA-8F720F2E124F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09600" y="4343400"/>
            <a:ext cx="7848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 sz="2200" dirty="0"/>
          </a:p>
          <a:p>
            <a:pPr eaLnBrk="1" hangingPunct="1"/>
            <a:r>
              <a:rPr lang="en-US" altLang="zh-TW" sz="2200" i="1" dirty="0"/>
              <a:t>Computer Science, City University of Hong Kong</a:t>
            </a:r>
          </a:p>
          <a:p>
            <a:pPr eaLnBrk="1" hangingPunct="1"/>
            <a:r>
              <a:rPr lang="en-US" altLang="zh-TW" sz="2200" i="1" dirty="0"/>
              <a:t>Semester B 2024-25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52425" y="1905000"/>
            <a:ext cx="87153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zh-TW" dirty="0"/>
              <a:t>CS2310 Computer Programming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221577" y="3286780"/>
            <a:ext cx="46051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TW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LT09: Class/Object III + File I/O</a:t>
            </a:r>
            <a:endParaRPr lang="en-US" altLang="zh-HK" sz="2800" dirty="0">
              <a:solidFill>
                <a:srgbClr val="D34817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541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C++ this pointer</a:t>
            </a:r>
          </a:p>
          <a:p>
            <a:pPr lvl="1"/>
            <a:endParaRPr lang="en-US" dirty="0"/>
          </a:p>
          <a:p>
            <a:r>
              <a:rPr lang="en-US" dirty="0"/>
              <a:t>Inheritance</a:t>
            </a:r>
          </a:p>
          <a:p>
            <a:endParaRPr lang="en-US" dirty="0"/>
          </a:p>
          <a:p>
            <a:r>
              <a:rPr lang="en-US" dirty="0"/>
              <a:t>Operator overloading</a:t>
            </a:r>
          </a:p>
          <a:p>
            <a:endParaRPr lang="en-US" dirty="0"/>
          </a:p>
          <a:p>
            <a:r>
              <a:rPr lang="en-US" dirty="0"/>
              <a:t>File I/O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31271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class and object?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899592" y="2098095"/>
            <a:ext cx="2232248" cy="4587232"/>
            <a:chOff x="971599" y="2270768"/>
            <a:chExt cx="2232248" cy="4587232"/>
          </a:xfrm>
        </p:grpSpPr>
        <p:sp>
          <p:nvSpPr>
            <p:cNvPr id="6" name="Rounded Rectangle 5"/>
            <p:cNvSpPr/>
            <p:nvPr/>
          </p:nvSpPr>
          <p:spPr>
            <a:xfrm>
              <a:off x="971599" y="2270768"/>
              <a:ext cx="2232248" cy="4587232"/>
            </a:xfrm>
            <a:prstGeom prst="roundRect">
              <a:avLst>
                <a:gd name="adj" fmla="val 5948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HK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Class: Circle</a:t>
              </a:r>
              <a:endParaRPr lang="zh-HK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043607" y="4661756"/>
              <a:ext cx="2088232" cy="93610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dirty="0" err="1"/>
                <a:t>int</a:t>
              </a:r>
              <a:r>
                <a:rPr lang="en-US" altLang="zh-HK" dirty="0"/>
                <a:t> radius;</a:t>
              </a:r>
            </a:p>
            <a:p>
              <a:pPr algn="ctr"/>
              <a:r>
                <a:rPr lang="en-US" altLang="zh-HK" dirty="0" err="1"/>
                <a:t>int</a:t>
              </a:r>
              <a:r>
                <a:rPr lang="en-US" altLang="zh-HK" dirty="0"/>
                <a:t> color;</a:t>
              </a:r>
              <a:endParaRPr lang="zh-HK" altLang="en-US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43606" y="5628742"/>
              <a:ext cx="2068615" cy="1121246"/>
            </a:xfrm>
            <a:prstGeom prst="roundRect">
              <a:avLst>
                <a:gd name="adj" fmla="val 9546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dirty="0"/>
                <a:t>Member functions</a:t>
              </a:r>
              <a:endParaRPr lang="zh-HK" alt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1547663" y="3079074"/>
              <a:ext cx="1080120" cy="1080120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10" name="Oval 9"/>
          <p:cNvSpPr/>
          <p:nvPr/>
        </p:nvSpPr>
        <p:spPr>
          <a:xfrm>
            <a:off x="5246036" y="4249628"/>
            <a:ext cx="864096" cy="853982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948264" y="3685341"/>
            <a:ext cx="1224136" cy="126919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729943" y="5365305"/>
            <a:ext cx="1045772" cy="10801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ular Callout 13"/>
          <p:cNvSpPr/>
          <p:nvPr/>
        </p:nvSpPr>
        <p:spPr>
          <a:xfrm>
            <a:off x="4211960" y="3004581"/>
            <a:ext cx="1610140" cy="763995"/>
          </a:xfrm>
          <a:prstGeom prst="wedgeRoundRectCallout">
            <a:avLst>
              <a:gd name="adj1" fmla="val 33100"/>
              <a:gd name="adj2" fmla="val 107943"/>
              <a:gd name="adj3" fmla="val 16667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Radius:10</a:t>
            </a:r>
          </a:p>
          <a:p>
            <a:pPr algn="ctr"/>
            <a:r>
              <a:rPr lang="en-US" sz="1600" dirty="0" err="1"/>
              <a:t>Color:orange</a:t>
            </a:r>
            <a:endParaRPr lang="en-US" sz="1600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7367330" y="5508864"/>
            <a:ext cx="1610140" cy="763995"/>
          </a:xfrm>
          <a:prstGeom prst="wedgeRoundRectCallout">
            <a:avLst>
              <a:gd name="adj1" fmla="val -34184"/>
              <a:gd name="adj2" fmla="val -106713"/>
              <a:gd name="adj3" fmla="val 16667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Radius:15</a:t>
            </a:r>
          </a:p>
          <a:p>
            <a:pPr algn="ctr"/>
            <a:r>
              <a:rPr lang="en-US" sz="1600" dirty="0"/>
              <a:t>Color: blue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3635896" y="5905365"/>
            <a:ext cx="1610140" cy="763995"/>
          </a:xfrm>
          <a:prstGeom prst="wedgeRoundRectCallout">
            <a:avLst>
              <a:gd name="adj1" fmla="val 71989"/>
              <a:gd name="adj2" fmla="val -59878"/>
              <a:gd name="adj3" fmla="val 16667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Radius:12</a:t>
            </a:r>
          </a:p>
          <a:p>
            <a:pPr algn="ctr"/>
            <a:r>
              <a:rPr lang="en-US" sz="1600" dirty="0"/>
              <a:t>Color: green</a:t>
            </a:r>
          </a:p>
        </p:txBody>
      </p:sp>
      <p:sp>
        <p:nvSpPr>
          <p:cNvPr id="17" name="Right Brace 16"/>
          <p:cNvSpPr/>
          <p:nvPr/>
        </p:nvSpPr>
        <p:spPr>
          <a:xfrm rot="16200000">
            <a:off x="6107190" y="346025"/>
            <a:ext cx="602028" cy="4392488"/>
          </a:xfrm>
          <a:prstGeom prst="rightBrace">
            <a:avLst>
              <a:gd name="adj1" fmla="val 5290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089038" y="1774600"/>
            <a:ext cx="2638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Objects of Circle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AC0AA9-B0A8-B733-78C1-B06C83AD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DBDD3-9467-46E2-A010-37D10607279B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026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0BC2-7DA4-4EEF-8BE3-B93B77B2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this pointer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45E193-32A9-4C75-8863-85617F9E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18086-2793-4A7A-ABCD-7199298B01D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each </a:t>
            </a:r>
            <a:r>
              <a:rPr lang="en-US" sz="2400" dirty="0">
                <a:solidFill>
                  <a:srgbClr val="C00000"/>
                </a:solidFill>
              </a:rPr>
              <a:t>non-static</a:t>
            </a:r>
            <a:r>
              <a:rPr lang="en-US" sz="2400" dirty="0"/>
              <a:t> member function, there is </a:t>
            </a:r>
            <a:r>
              <a:rPr lang="en-US" sz="2400" dirty="0">
                <a:solidFill>
                  <a:srgbClr val="7030A0"/>
                </a:solidFill>
              </a:rPr>
              <a:t>only one copy</a:t>
            </a:r>
            <a:r>
              <a:rPr lang="en-US" sz="2400" dirty="0"/>
              <a:t>, which is </a:t>
            </a:r>
            <a:r>
              <a:rPr lang="en-US" sz="2400" b="1" dirty="0"/>
              <a:t>shared</a:t>
            </a:r>
            <a:r>
              <a:rPr lang="en-US" sz="2400" dirty="0"/>
              <a:t> by different objects</a:t>
            </a:r>
          </a:p>
          <a:p>
            <a:r>
              <a:rPr lang="en-US" sz="2400" dirty="0"/>
              <a:t>How to know which object is calling the member function?</a:t>
            </a:r>
          </a:p>
          <a:p>
            <a:pPr lvl="1"/>
            <a:r>
              <a:rPr lang="en-US" sz="2200" dirty="0"/>
              <a:t>Compiler adds an </a:t>
            </a:r>
            <a:r>
              <a:rPr lang="en-US" sz="2200" dirty="0">
                <a:solidFill>
                  <a:srgbClr val="0070C0"/>
                </a:solidFill>
              </a:rPr>
              <a:t>implicit pointer</a:t>
            </a:r>
            <a:r>
              <a:rPr lang="en-US" sz="2200" dirty="0"/>
              <a:t>, called ‘</a:t>
            </a:r>
            <a:r>
              <a:rPr lang="en-US" sz="2200" b="1" dirty="0"/>
              <a:t>this</a:t>
            </a:r>
            <a:r>
              <a:rPr lang="en-US" sz="2200" dirty="0"/>
              <a:t>’ pointer</a:t>
            </a:r>
          </a:p>
          <a:p>
            <a:pPr lvl="2"/>
            <a:r>
              <a:rPr lang="en-US" sz="1800" dirty="0"/>
              <a:t>It is a </a:t>
            </a:r>
            <a:r>
              <a:rPr lang="en-US" sz="1800" dirty="0">
                <a:solidFill>
                  <a:srgbClr val="00B050"/>
                </a:solidFill>
              </a:rPr>
              <a:t>hidden</a:t>
            </a:r>
            <a:r>
              <a:rPr lang="en-US" sz="1800" dirty="0"/>
              <a:t> argument to each </a:t>
            </a:r>
            <a:r>
              <a:rPr lang="en-US" sz="1800" dirty="0">
                <a:solidFill>
                  <a:srgbClr val="C00000"/>
                </a:solidFill>
              </a:rPr>
              <a:t>non-static</a:t>
            </a:r>
            <a:r>
              <a:rPr lang="en-US" sz="1800" dirty="0"/>
              <a:t> function, </a:t>
            </a:r>
            <a:r>
              <a:rPr lang="en-US" sz="1800" b="1" dirty="0"/>
              <a:t>automatically</a:t>
            </a:r>
            <a:r>
              <a:rPr lang="en-US" sz="1800" dirty="0"/>
              <a:t> added</a:t>
            </a:r>
          </a:p>
          <a:p>
            <a:pPr lvl="2"/>
            <a:r>
              <a:rPr lang="en-US" sz="1800" dirty="0"/>
              <a:t>It points to the </a:t>
            </a:r>
            <a:r>
              <a:rPr lang="en-US" sz="1800" dirty="0">
                <a:solidFill>
                  <a:srgbClr val="7030A0"/>
                </a:solidFill>
              </a:rPr>
              <a:t>object</a:t>
            </a:r>
            <a:r>
              <a:rPr lang="en-US" sz="1800" dirty="0"/>
              <a:t> of calling this member function</a:t>
            </a:r>
          </a:p>
          <a:p>
            <a:r>
              <a:rPr lang="en-US" sz="2400" dirty="0"/>
              <a:t>When to use this pointer?</a:t>
            </a:r>
          </a:p>
          <a:p>
            <a:pPr lvl="1"/>
            <a:r>
              <a:rPr lang="en-US" sz="2200" dirty="0"/>
              <a:t>Parameter has the </a:t>
            </a:r>
            <a:r>
              <a:rPr lang="en-US" sz="2200" dirty="0">
                <a:solidFill>
                  <a:srgbClr val="FFC000"/>
                </a:solidFill>
              </a:rPr>
              <a:t>same name</a:t>
            </a:r>
            <a:r>
              <a:rPr lang="en-US" sz="2200" dirty="0"/>
              <a:t> as the name of the member variable</a:t>
            </a:r>
          </a:p>
          <a:p>
            <a:pPr lvl="1"/>
            <a:r>
              <a:rPr lang="en-US" sz="2200" dirty="0"/>
              <a:t>Return a </a:t>
            </a:r>
            <a:r>
              <a:rPr lang="en-US" sz="2200" dirty="0">
                <a:solidFill>
                  <a:srgbClr val="6699FF"/>
                </a:solidFill>
              </a:rPr>
              <a:t>reference</a:t>
            </a:r>
            <a:r>
              <a:rPr lang="en-US" sz="2200" dirty="0"/>
              <a:t> to the calling object</a:t>
            </a:r>
          </a:p>
          <a:p>
            <a:pPr lvl="1"/>
            <a:r>
              <a:rPr lang="en-US" sz="2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1973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9A1A3-0525-4620-8CAD-6AB49637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this pointer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9974AE-D0B9-4405-A7E5-EBC05037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B51F9-889D-441B-906B-CCFF29A8A38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5059362"/>
          </a:xfrm>
        </p:spPr>
        <p:txBody>
          <a:bodyPr>
            <a:normAutofit/>
          </a:bodyPr>
          <a:lstStyle/>
          <a:p>
            <a:r>
              <a:rPr lang="en-US" sz="2400" dirty="0"/>
              <a:t>Parameter has </a:t>
            </a:r>
            <a:r>
              <a:rPr lang="en-US" sz="2400" dirty="0">
                <a:solidFill>
                  <a:srgbClr val="C00000"/>
                </a:solidFill>
              </a:rPr>
              <a:t>the same name</a:t>
            </a:r>
            <a:r>
              <a:rPr lang="en-US" sz="2400" dirty="0"/>
              <a:t> as the name of the member variable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Solution</a:t>
            </a:r>
          </a:p>
          <a:p>
            <a:pPr lvl="1"/>
            <a:r>
              <a:rPr lang="en-US" sz="2200" dirty="0"/>
              <a:t>use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this-&gt;score = score;</a:t>
            </a:r>
          </a:p>
          <a:p>
            <a:pPr lvl="1"/>
            <a:r>
              <a:rPr lang="en-US" sz="2200" dirty="0"/>
              <a:t>or use </a:t>
            </a:r>
            <a:r>
              <a:rPr lang="en-US" sz="2200" dirty="0">
                <a:solidFill>
                  <a:srgbClr val="7030A0"/>
                </a:solidFill>
              </a:rPr>
              <a:t>different</a:t>
            </a:r>
            <a:r>
              <a:rPr lang="en-US" sz="2200" dirty="0"/>
              <a:t> names, e.g., name member variable as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m_Score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HK" sz="2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A7DF33-3FD9-4DB1-8178-2FECD4253DE2}"/>
              </a:ext>
            </a:extLst>
          </p:cNvPr>
          <p:cNvSpPr txBox="1"/>
          <p:nvPr/>
        </p:nvSpPr>
        <p:spPr>
          <a:xfrm>
            <a:off x="2590800" y="2172831"/>
            <a:ext cx="6934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class Course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	Course(int score)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		score = score;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	int score; 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member variable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};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B7C5E2B3-1E50-407F-AB77-CBE17F78BB19}"/>
              </a:ext>
            </a:extLst>
          </p:cNvPr>
          <p:cNvSpPr txBox="1"/>
          <p:nvPr/>
        </p:nvSpPr>
        <p:spPr>
          <a:xfrm>
            <a:off x="2605114" y="4495800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Course c(10);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 err="1">
                <a:latin typeface="Courier New" pitchFamily="49" charset="0"/>
              </a:rPr>
              <a:t>cout</a:t>
            </a:r>
            <a:r>
              <a:rPr lang="en-US" altLang="zh-CN" sz="2000" dirty="0">
                <a:latin typeface="Courier New" pitchFamily="49" charset="0"/>
              </a:rPr>
              <a:t> &lt;&lt; </a:t>
            </a:r>
            <a:r>
              <a:rPr lang="en-US" altLang="zh-CN" sz="2000" dirty="0" err="1">
                <a:latin typeface="Courier New" pitchFamily="49" charset="0"/>
              </a:rPr>
              <a:t>c.score</a:t>
            </a:r>
            <a:r>
              <a:rPr lang="en-US" altLang="zh-CN" sz="2000" dirty="0">
                <a:latin typeface="Courier New" pitchFamily="49" charset="0"/>
              </a:rPr>
              <a:t> &lt;&lt; </a:t>
            </a:r>
            <a:r>
              <a:rPr lang="en-US" altLang="zh-CN" sz="2000" dirty="0" err="1">
                <a:latin typeface="Courier New" pitchFamily="49" charset="0"/>
              </a:rPr>
              <a:t>endl</a:t>
            </a:r>
            <a:r>
              <a:rPr lang="en-US" altLang="zh-CN" sz="2000" dirty="0">
                <a:latin typeface="Courier New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27059-6452-8194-6B6B-F5FF7DA6C85D}"/>
              </a:ext>
            </a:extLst>
          </p:cNvPr>
          <p:cNvSpPr txBox="1"/>
          <p:nvPr/>
        </p:nvSpPr>
        <p:spPr>
          <a:xfrm>
            <a:off x="914400" y="6501728"/>
            <a:ext cx="2230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lec09-01-sameName.cpp</a:t>
            </a:r>
          </a:p>
        </p:txBody>
      </p:sp>
    </p:spTree>
    <p:extLst>
      <p:ext uri="{BB962C8B-B14F-4D97-AF65-F5344CB8AC3E}">
        <p14:creationId xmlns:p14="http://schemas.microsoft.com/office/powerpoint/2010/main" val="151694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FEC4-C583-4A79-BD3A-B13DA9A3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this pointer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A5BCEF-4852-4FE6-8BDF-FC852E8A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A6373-4917-4000-9793-5C9F31984E5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Return </a:t>
            </a:r>
            <a:r>
              <a:rPr lang="en-US" sz="2800" dirty="0">
                <a:solidFill>
                  <a:srgbClr val="C00000"/>
                </a:solidFill>
              </a:rPr>
              <a:t>a reference</a:t>
            </a:r>
            <a:r>
              <a:rPr lang="en-US" sz="2800" dirty="0"/>
              <a:t> to the calling object</a:t>
            </a:r>
          </a:p>
          <a:p>
            <a:pPr lvl="1"/>
            <a:r>
              <a:rPr lang="en-US" dirty="0"/>
              <a:t>Design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  <a:r>
              <a:rPr lang="en-US" dirty="0"/>
              <a:t> member function</a:t>
            </a:r>
          </a:p>
          <a:p>
            <a:pPr lvl="2"/>
            <a:r>
              <a:rPr lang="en-US" dirty="0"/>
              <a:t>Add the value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/>
              <a:t> to the current score of the object</a:t>
            </a:r>
          </a:p>
          <a:p>
            <a:pPr lvl="2"/>
            <a:r>
              <a:rPr lang="en-US" dirty="0"/>
              <a:t>Can be used for </a:t>
            </a:r>
            <a:r>
              <a:rPr lang="en-US" dirty="0">
                <a:solidFill>
                  <a:srgbClr val="7030A0"/>
                </a:solidFill>
              </a:rPr>
              <a:t>chain function calls</a:t>
            </a:r>
            <a:r>
              <a:rPr lang="en-US" dirty="0"/>
              <a:t>, e.g.,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c.addScore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(80).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(90).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(100);</a:t>
            </a: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06C5DE-83BE-4F5C-8BFF-7C103F769B29}"/>
              </a:ext>
            </a:extLst>
          </p:cNvPr>
          <p:cNvSpPr txBox="1"/>
          <p:nvPr/>
        </p:nvSpPr>
        <p:spPr>
          <a:xfrm>
            <a:off x="990600" y="3528179"/>
            <a:ext cx="52763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class Course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Course(int score)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this-&gt;score = score;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Course&amp; </a:t>
            </a:r>
            <a:r>
              <a:rPr lang="en-US" altLang="zh-CN" dirty="0" err="1">
                <a:latin typeface="Courier New" pitchFamily="49" charset="0"/>
              </a:rPr>
              <a:t>addScore</a:t>
            </a:r>
            <a:r>
              <a:rPr lang="en-US" altLang="zh-CN" dirty="0">
                <a:latin typeface="Courier New" pitchFamily="49" charset="0"/>
              </a:rPr>
              <a:t>(int n)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this-&gt;score += 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return *this;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int score;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member variable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8142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CD48-609F-4C17-9553-00224210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F6E1E9-9239-494A-A17F-B76F9553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D789C-D21D-4CBA-94D2-E8049ABDB8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1524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Design three member functions: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Parameterized constructor</a:t>
            </a:r>
            <a:r>
              <a:rPr lang="en-US" dirty="0"/>
              <a:t> </a:t>
            </a:r>
            <a:r>
              <a:rPr lang="en-US" altLang="zh-CN" dirty="0">
                <a:latin typeface="Courier New" pitchFamily="49" charset="0"/>
              </a:rPr>
              <a:t>Point(int x = 0, int y = 0)</a:t>
            </a:r>
            <a:r>
              <a:rPr lang="en-US" dirty="0"/>
              <a:t> to initialize </a:t>
            </a:r>
            <a:r>
              <a:rPr lang="en-US" dirty="0">
                <a:solidFill>
                  <a:srgbClr val="7030A0"/>
                </a:solidFill>
              </a:rPr>
              <a:t>member variables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  <a:p>
            <a:pPr lvl="1"/>
            <a:r>
              <a:rPr lang="en-US" dirty="0"/>
              <a:t>Set functions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 a)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 b) </a:t>
            </a:r>
            <a:r>
              <a:rPr lang="en-US" dirty="0"/>
              <a:t>for chain function calls to set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F5E406-1294-4895-9F37-B420B02B4F50}"/>
              </a:ext>
            </a:extLst>
          </p:cNvPr>
          <p:cNvSpPr txBox="1"/>
          <p:nvPr/>
        </p:nvSpPr>
        <p:spPr>
          <a:xfrm>
            <a:off x="1066800" y="3124200"/>
            <a:ext cx="7239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class Point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public: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void print()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</a:t>
            </a:r>
            <a:r>
              <a:rPr lang="en-US" altLang="zh-CN" dirty="0" err="1">
                <a:latin typeface="Courier New" pitchFamily="49" charset="0"/>
              </a:rPr>
              <a:t>cout</a:t>
            </a:r>
            <a:r>
              <a:rPr lang="en-US" altLang="zh-CN" dirty="0">
                <a:latin typeface="Courier New" pitchFamily="49" charset="0"/>
              </a:rPr>
              <a:t> &lt;&lt; "x = " &lt;&lt; x &lt;&lt; " y = " 			&lt;&lt; y &lt;&lt; </a:t>
            </a:r>
            <a:r>
              <a:rPr lang="en-US" altLang="zh-CN" dirty="0" err="1">
                <a:latin typeface="Courier New" pitchFamily="49" charset="0"/>
              </a:rPr>
              <a:t>endl</a:t>
            </a:r>
            <a:r>
              <a:rPr lang="en-US" altLang="zh-CN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}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private: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int x; int y;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member variables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028AF-66E8-4771-4A95-3467BB452FC8}"/>
              </a:ext>
            </a:extLst>
          </p:cNvPr>
          <p:cNvSpPr txBox="1"/>
          <p:nvPr/>
        </p:nvSpPr>
        <p:spPr>
          <a:xfrm>
            <a:off x="948159" y="6460251"/>
            <a:ext cx="18357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lec09-02-point.cpp</a:t>
            </a:r>
          </a:p>
        </p:txBody>
      </p:sp>
    </p:spTree>
    <p:extLst>
      <p:ext uri="{BB962C8B-B14F-4D97-AF65-F5344CB8AC3E}">
        <p14:creationId xmlns:p14="http://schemas.microsoft.com/office/powerpoint/2010/main" val="172379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CD48-609F-4C17-9553-00224210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F6E1E9-9239-494A-A17F-B76F9553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D789C-D21D-4CBA-94D2-E8049ABDB8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1066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Main function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Point p(0, 0); </a:t>
            </a:r>
          </a:p>
          <a:p>
            <a:pPr lvl="1"/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p.setX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(10).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(20);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F5E406-1294-4895-9F37-B420B02B4F50}"/>
              </a:ext>
            </a:extLst>
          </p:cNvPr>
          <p:cNvSpPr txBox="1"/>
          <p:nvPr/>
        </p:nvSpPr>
        <p:spPr>
          <a:xfrm>
            <a:off x="990600" y="2577680"/>
            <a:ext cx="7239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class Point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public: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Point(int x, int y){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this-&gt;x = x; this-&gt;y = y;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}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Point&amp; </a:t>
            </a:r>
            <a:r>
              <a:rPr lang="en-US" altLang="zh-CN" dirty="0" err="1">
                <a:latin typeface="Courier New" pitchFamily="49" charset="0"/>
              </a:rPr>
              <a:t>setX</a:t>
            </a:r>
            <a:r>
              <a:rPr lang="en-US" altLang="zh-CN" dirty="0">
                <a:latin typeface="Courier New" pitchFamily="49" charset="0"/>
              </a:rPr>
              <a:t>(int a) { x = a; return *this; }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Point&amp; </a:t>
            </a:r>
            <a:r>
              <a:rPr lang="en-US" altLang="zh-CN" dirty="0" err="1">
                <a:latin typeface="Courier New" pitchFamily="49" charset="0"/>
              </a:rPr>
              <a:t>setY</a:t>
            </a:r>
            <a:r>
              <a:rPr lang="en-US" altLang="zh-CN" dirty="0">
                <a:latin typeface="Courier New" pitchFamily="49" charset="0"/>
              </a:rPr>
              <a:t>(int b) { y = b; return *this; }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void print()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</a:t>
            </a:r>
            <a:r>
              <a:rPr lang="en-US" altLang="zh-CN" dirty="0" err="1">
                <a:latin typeface="Courier New" pitchFamily="49" charset="0"/>
              </a:rPr>
              <a:t>cout</a:t>
            </a:r>
            <a:r>
              <a:rPr lang="en-US" altLang="zh-CN" dirty="0">
                <a:latin typeface="Courier New" pitchFamily="49" charset="0"/>
              </a:rPr>
              <a:t> &lt;&lt; "x = " &lt;&lt; x &lt;&lt; " y = " 			&lt;&lt; y &lt;&lt; </a:t>
            </a:r>
            <a:r>
              <a:rPr lang="en-US" altLang="zh-CN" dirty="0" err="1">
                <a:latin typeface="Courier New" pitchFamily="49" charset="0"/>
              </a:rPr>
              <a:t>endl</a:t>
            </a:r>
            <a:r>
              <a:rPr lang="en-US" altLang="zh-CN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}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private: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int x; int y;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7933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C++ this pointer</a:t>
            </a:r>
          </a:p>
          <a:p>
            <a:pPr lvl="1"/>
            <a:endParaRPr lang="en-US" dirty="0"/>
          </a:p>
          <a:p>
            <a:r>
              <a:rPr lang="en-US" dirty="0"/>
              <a:t>Inheritance</a:t>
            </a:r>
          </a:p>
          <a:p>
            <a:endParaRPr lang="en-US" dirty="0"/>
          </a:p>
          <a:p>
            <a:r>
              <a:rPr lang="en-US" dirty="0"/>
              <a:t>Operator overloading</a:t>
            </a:r>
          </a:p>
          <a:p>
            <a:endParaRPr lang="en-US" dirty="0"/>
          </a:p>
          <a:p>
            <a:r>
              <a:rPr lang="en-US" dirty="0"/>
              <a:t>File I/O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755625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32C1-31A1-4AF2-8BD4-53253628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Inheritance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2E894-72A7-416F-9B3B-8E73580F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C181A-2A1A-4DB9-AA05-A54CC54E752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if the </a:t>
            </a:r>
            <a:r>
              <a:rPr lang="en-US" sz="2400" dirty="0">
                <a:solidFill>
                  <a:srgbClr val="C00000"/>
                </a:solidFill>
              </a:rPr>
              <a:t>base class</a:t>
            </a:r>
            <a:r>
              <a:rPr lang="en-US" sz="2400" dirty="0"/>
              <a:t> does </a:t>
            </a:r>
            <a:r>
              <a:rPr lang="en-US" sz="2400" b="1" dirty="0"/>
              <a:t>not</a:t>
            </a:r>
            <a:r>
              <a:rPr lang="en-US" sz="2400" dirty="0"/>
              <a:t> have a default constructor?</a:t>
            </a:r>
          </a:p>
          <a:p>
            <a:pPr lvl="1"/>
            <a:r>
              <a:rPr lang="en-US" sz="2200" dirty="0"/>
              <a:t>Use </a:t>
            </a:r>
            <a:r>
              <a:rPr lang="en-US" sz="2200" dirty="0">
                <a:solidFill>
                  <a:srgbClr val="7030A0"/>
                </a:solidFill>
              </a:rPr>
              <a:t>initializer list</a:t>
            </a:r>
            <a:endParaRPr lang="en-HK" sz="2200" dirty="0">
              <a:solidFill>
                <a:srgbClr val="7030A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848340-A857-41C5-8E71-E56DDAAA1CD7}"/>
              </a:ext>
            </a:extLst>
          </p:cNvPr>
          <p:cNvSpPr txBox="1"/>
          <p:nvPr/>
        </p:nvSpPr>
        <p:spPr>
          <a:xfrm>
            <a:off x="2667000" y="2488049"/>
            <a:ext cx="3733800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Device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Device(int price)   { this-&gt;price = price;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int </a:t>
            </a:r>
            <a:r>
              <a:rPr lang="en-US" altLang="zh-TW" sz="1000" dirty="0" err="1">
                <a:latin typeface="Courier New" pitchFamily="49" charset="0"/>
              </a:rPr>
              <a:t>getPrice</a:t>
            </a:r>
            <a:r>
              <a:rPr lang="en-US" altLang="zh-TW" sz="1000" dirty="0">
                <a:latin typeface="Courier New" pitchFamily="49" charset="0"/>
              </a:rPr>
              <a:t>()      { return price;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private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int price;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829226E1-1AF5-4EB5-A14B-99A67D9179E6}"/>
              </a:ext>
            </a:extLst>
          </p:cNvPr>
          <p:cNvSpPr txBox="1"/>
          <p:nvPr/>
        </p:nvSpPr>
        <p:spPr>
          <a:xfrm>
            <a:off x="451104" y="3836552"/>
            <a:ext cx="3968496" cy="1061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class Phone :public Device {</a:t>
            </a:r>
            <a:br>
              <a:rPr lang="en-US" altLang="zh-TW" sz="900" dirty="0">
                <a:latin typeface="Courier New" pitchFamily="49" charset="0"/>
              </a:rPr>
            </a:br>
            <a:r>
              <a:rPr lang="en-US" altLang="zh-TW" sz="9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9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  Phone(int price)</a:t>
            </a:r>
            <a:r>
              <a:rPr lang="en-US" altLang="zh-TW" sz="900" dirty="0">
                <a:solidFill>
                  <a:srgbClr val="FF0000"/>
                </a:solidFill>
                <a:latin typeface="Courier New" pitchFamily="49" charset="0"/>
              </a:rPr>
              <a:t>: Device(price)</a:t>
            </a:r>
            <a:r>
              <a:rPr lang="en-US" altLang="zh-TW" sz="900" dirty="0">
                <a:latin typeface="Courier New" pitchFamily="49" charset="0"/>
              </a:rPr>
              <a:t>  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  void print()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    </a:t>
            </a:r>
            <a:r>
              <a:rPr lang="en-US" altLang="zh-TW" sz="900" dirty="0" err="1">
                <a:latin typeface="Courier New" pitchFamily="49" charset="0"/>
              </a:rPr>
              <a:t>cout</a:t>
            </a:r>
            <a:r>
              <a:rPr lang="en-US" altLang="zh-TW" sz="900" dirty="0">
                <a:latin typeface="Courier New" pitchFamily="49" charset="0"/>
              </a:rPr>
              <a:t> &lt;&lt; “Phone’s price” &lt;&lt; this-&gt;</a:t>
            </a:r>
            <a:r>
              <a:rPr lang="en-US" altLang="zh-TW" sz="900" dirty="0" err="1">
                <a:latin typeface="Courier New" pitchFamily="49" charset="0"/>
              </a:rPr>
              <a:t>getPrice</a:t>
            </a:r>
            <a:r>
              <a:rPr lang="en-US" altLang="zh-TW" sz="900" dirty="0">
                <a:latin typeface="Courier New" pitchFamily="49" charset="0"/>
              </a:rPr>
              <a:t>() &lt;&lt; </a:t>
            </a:r>
            <a:r>
              <a:rPr lang="en-US" altLang="zh-TW" sz="900" dirty="0" err="1">
                <a:latin typeface="Courier New" pitchFamily="49" charset="0"/>
              </a:rPr>
              <a:t>endl</a:t>
            </a:r>
            <a:r>
              <a:rPr lang="en-US" altLang="zh-TW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};</a:t>
            </a:r>
            <a:endParaRPr lang="en-US" altLang="zh-CN" sz="900" dirty="0">
              <a:latin typeface="Courier New" pitchFamily="49" charset="0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72B49901-8D3E-45F4-A127-6B505D322694}"/>
              </a:ext>
            </a:extLst>
          </p:cNvPr>
          <p:cNvSpPr txBox="1"/>
          <p:nvPr/>
        </p:nvSpPr>
        <p:spPr>
          <a:xfrm>
            <a:off x="4718304" y="3836551"/>
            <a:ext cx="3968496" cy="1061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class Watch :public Device {</a:t>
            </a:r>
            <a:br>
              <a:rPr lang="en-US" altLang="zh-TW" sz="900" dirty="0">
                <a:latin typeface="Courier New" pitchFamily="49" charset="0"/>
              </a:rPr>
            </a:br>
            <a:r>
              <a:rPr lang="en-US" altLang="zh-TW" sz="9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9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 Watch(int price)</a:t>
            </a:r>
            <a:r>
              <a:rPr lang="en-US" altLang="zh-TW" sz="900" dirty="0">
                <a:solidFill>
                  <a:srgbClr val="FF0000"/>
                </a:solidFill>
                <a:latin typeface="Courier New" pitchFamily="49" charset="0"/>
              </a:rPr>
              <a:t>: Device(price)</a:t>
            </a:r>
            <a:r>
              <a:rPr lang="en-US" altLang="zh-TW" sz="900" dirty="0">
                <a:latin typeface="Courier New" pitchFamily="49" charset="0"/>
              </a:rPr>
              <a:t>  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  void print()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    </a:t>
            </a:r>
            <a:r>
              <a:rPr lang="en-US" altLang="zh-TW" sz="900" dirty="0" err="1">
                <a:latin typeface="Courier New" pitchFamily="49" charset="0"/>
              </a:rPr>
              <a:t>cout</a:t>
            </a:r>
            <a:r>
              <a:rPr lang="en-US" altLang="zh-TW" sz="900" dirty="0">
                <a:latin typeface="Courier New" pitchFamily="49" charset="0"/>
              </a:rPr>
              <a:t> &lt;&lt; “Watch’s price” &lt;&lt; this-&gt;</a:t>
            </a:r>
            <a:r>
              <a:rPr lang="en-US" altLang="zh-TW" sz="900" dirty="0" err="1">
                <a:latin typeface="Courier New" pitchFamily="49" charset="0"/>
              </a:rPr>
              <a:t>getPrice</a:t>
            </a:r>
            <a:r>
              <a:rPr lang="en-US" altLang="zh-TW" sz="900" dirty="0">
                <a:latin typeface="Courier New" pitchFamily="49" charset="0"/>
              </a:rPr>
              <a:t>() &lt;&lt; </a:t>
            </a:r>
            <a:r>
              <a:rPr lang="en-US" altLang="zh-TW" sz="900" dirty="0" err="1">
                <a:latin typeface="Courier New" pitchFamily="49" charset="0"/>
              </a:rPr>
              <a:t>endl</a:t>
            </a:r>
            <a:r>
              <a:rPr lang="en-US" altLang="zh-TW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900" dirty="0">
                <a:latin typeface="Courier New" pitchFamily="49" charset="0"/>
              </a:rPr>
              <a:t>};</a:t>
            </a:r>
            <a:endParaRPr lang="en-US" altLang="zh-CN" sz="900" dirty="0">
              <a:latin typeface="Courier New" pitchFamily="49" charset="0"/>
            </a:endParaRPr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8813937C-7559-4024-969E-F4CCF94E6860}"/>
              </a:ext>
            </a:extLst>
          </p:cNvPr>
          <p:cNvSpPr txBox="1"/>
          <p:nvPr/>
        </p:nvSpPr>
        <p:spPr>
          <a:xfrm>
            <a:off x="2667000" y="5077361"/>
            <a:ext cx="37338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Phone p(100);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 err="1">
                <a:latin typeface="Courier New" pitchFamily="49" charset="0"/>
              </a:rPr>
              <a:t>p.print</a:t>
            </a:r>
            <a:r>
              <a:rPr lang="en-US" altLang="zh-TW" sz="10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Watch w(50);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 err="1">
                <a:latin typeface="Courier New" pitchFamily="49" charset="0"/>
              </a:rPr>
              <a:t>w.print</a:t>
            </a:r>
            <a:r>
              <a:rPr lang="en-US" altLang="zh-TW" sz="1000" dirty="0">
                <a:latin typeface="Courier New" pitchFamily="49" charset="0"/>
              </a:rPr>
              <a:t>();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latin typeface="Courier New" pitchFamily="49" charset="0"/>
              </a:rPr>
              <a:t>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ED3AA-4200-4978-872C-788A5DC97453}"/>
              </a:ext>
            </a:extLst>
          </p:cNvPr>
          <p:cNvSpPr txBox="1"/>
          <p:nvPr/>
        </p:nvSpPr>
        <p:spPr>
          <a:xfrm>
            <a:off x="948159" y="6460251"/>
            <a:ext cx="222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lec09-03-inheritance.cpp</a:t>
            </a:r>
          </a:p>
        </p:txBody>
      </p:sp>
    </p:spTree>
    <p:extLst>
      <p:ext uri="{BB962C8B-B14F-4D97-AF65-F5344CB8AC3E}">
        <p14:creationId xmlns:p14="http://schemas.microsoft.com/office/powerpoint/2010/main" val="309867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C++ this pointer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Inheritance</a:t>
            </a:r>
          </a:p>
          <a:p>
            <a:endParaRPr lang="en-US" dirty="0"/>
          </a:p>
          <a:p>
            <a:r>
              <a:rPr lang="en-US" dirty="0"/>
              <a:t>Operator overloading</a:t>
            </a:r>
          </a:p>
          <a:p>
            <a:endParaRPr lang="en-US" dirty="0"/>
          </a:p>
          <a:p>
            <a:r>
              <a:rPr lang="en-US" dirty="0"/>
              <a:t>File I/O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377359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CA9D-2137-4FCF-B110-4CDB9831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2970A3-97FD-476D-9E27-0F43510B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8676D-AE32-4E89-8AE1-D2E2AC4754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 a </a:t>
            </a:r>
            <a:r>
              <a:rPr lang="en-US" dirty="0">
                <a:solidFill>
                  <a:srgbClr val="C00000"/>
                </a:solidFill>
              </a:rPr>
              <a:t>special meaning</a:t>
            </a:r>
            <a:r>
              <a:rPr lang="en-US" dirty="0"/>
              <a:t> to an existing C++ operator, which does </a:t>
            </a:r>
            <a:r>
              <a:rPr lang="en-US" b="1" dirty="0"/>
              <a:t>not</a:t>
            </a:r>
            <a:r>
              <a:rPr lang="en-US" dirty="0"/>
              <a:t> change its original meaning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Course c1, c2, c3;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c3 = c1 + c2;  // compiler does not know how to add these two objects</a:t>
            </a:r>
          </a:p>
          <a:p>
            <a:endParaRPr lang="en-US" dirty="0"/>
          </a:p>
          <a:p>
            <a:r>
              <a:rPr lang="en-US" dirty="0">
                <a:solidFill>
                  <a:srgbClr val="7030A0"/>
                </a:solidFill>
              </a:rPr>
              <a:t>Most</a:t>
            </a:r>
            <a:r>
              <a:rPr lang="en-US" dirty="0"/>
              <a:t> C++ operators can be overloaded, but not all</a:t>
            </a:r>
          </a:p>
          <a:p>
            <a:pPr lvl="1"/>
            <a:r>
              <a:rPr lang="en-US" dirty="0"/>
              <a:t>We will learn several basic ones,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The following operators cannot be overloaded</a:t>
            </a:r>
          </a:p>
          <a:p>
            <a:endParaRPr lang="en-H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D7B9B6-B8EF-40A3-A69C-CB400BF77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30639"/>
              </p:ext>
            </p:extLst>
          </p:nvPr>
        </p:nvGraphicFramePr>
        <p:xfrm>
          <a:off x="952500" y="5368413"/>
          <a:ext cx="7696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en-US" altLang="zh-HK" dirty="0"/>
                        <a:t>These C++ operators cannot be overloaded</a:t>
                      </a:r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dirty="0"/>
                        <a:t>.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dirty="0"/>
                        <a:t>::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dirty="0"/>
                        <a:t>?: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sizeof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typeid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65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A83A-1FC8-4D5A-9A80-6B2CCBBBA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F9AFDA-E13C-47C2-8036-1B673F6C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D0FFA-7EF4-43AA-A953-32DA89B0DD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724400"/>
          </a:xfrm>
        </p:spPr>
        <p:txBody>
          <a:bodyPr>
            <a:normAutofit/>
          </a:bodyPr>
          <a:lstStyle/>
          <a:p>
            <a:r>
              <a:rPr lang="en-US" dirty="0"/>
              <a:t>View </a:t>
            </a:r>
            <a:r>
              <a:rPr lang="en-US" dirty="0">
                <a:solidFill>
                  <a:srgbClr val="C00000"/>
                </a:solidFill>
              </a:rPr>
              <a:t>operator</a:t>
            </a:r>
            <a:r>
              <a:rPr lang="en-US" dirty="0"/>
              <a:t> as a </a:t>
            </a:r>
            <a:r>
              <a:rPr lang="en-US" dirty="0">
                <a:solidFill>
                  <a:srgbClr val="7030A0"/>
                </a:solidFill>
              </a:rPr>
              <a:t>function</a:t>
            </a:r>
          </a:p>
          <a:p>
            <a:pPr lvl="1"/>
            <a:r>
              <a:rPr lang="en-US" sz="2000" dirty="0"/>
              <a:t>function name is the keyword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2000" dirty="0"/>
              <a:t> followed by the operator to be overloaded</a:t>
            </a:r>
          </a:p>
          <a:p>
            <a:pPr lvl="1"/>
            <a:r>
              <a:rPr lang="en-US" sz="2000" dirty="0"/>
              <a:t>e.g., 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operator+</a:t>
            </a:r>
            <a:r>
              <a:rPr lang="en-US" sz="2000" dirty="0"/>
              <a:t> is used to overload operator 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r>
              <a:rPr lang="en-US" dirty="0"/>
              <a:t>Operator functions can be </a:t>
            </a:r>
            <a:r>
              <a:rPr lang="en-US" dirty="0">
                <a:solidFill>
                  <a:srgbClr val="FFC000"/>
                </a:solidFill>
              </a:rPr>
              <a:t>member</a:t>
            </a:r>
            <a:r>
              <a:rPr lang="en-US" dirty="0"/>
              <a:t> or </a:t>
            </a:r>
            <a:r>
              <a:rPr lang="en-US" dirty="0">
                <a:solidFill>
                  <a:srgbClr val="6699FF"/>
                </a:solidFill>
              </a:rPr>
              <a:t>non-member</a:t>
            </a:r>
            <a:r>
              <a:rPr lang="en-US" dirty="0"/>
              <a:t> functions</a:t>
            </a:r>
          </a:p>
          <a:p>
            <a:r>
              <a:rPr lang="en-US" dirty="0"/>
              <a:t>Note that overloading</a:t>
            </a:r>
          </a:p>
          <a:p>
            <a:pPr lvl="1"/>
            <a:r>
              <a:rPr lang="en-US" sz="2000" dirty="0"/>
              <a:t>does </a:t>
            </a:r>
            <a:r>
              <a:rPr lang="en-US" sz="2000" b="1" dirty="0"/>
              <a:t>not</a:t>
            </a:r>
            <a:r>
              <a:rPr lang="en-US" sz="2000" dirty="0"/>
              <a:t> change </a:t>
            </a:r>
            <a:r>
              <a:rPr lang="en-US" sz="2000" dirty="0">
                <a:solidFill>
                  <a:srgbClr val="C00000"/>
                </a:solidFill>
              </a:rPr>
              <a:t>precedence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7030A0"/>
                </a:solidFill>
              </a:rPr>
              <a:t>associativity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70C0"/>
                </a:solidFill>
              </a:rPr>
              <a:t>the number of operands</a:t>
            </a:r>
            <a:r>
              <a:rPr lang="en-US" sz="2000" dirty="0"/>
              <a:t> of an operator</a:t>
            </a:r>
          </a:p>
          <a:p>
            <a:pPr lvl="1"/>
            <a:r>
              <a:rPr lang="en-US" sz="2000" dirty="0"/>
              <a:t>does </a:t>
            </a:r>
            <a:r>
              <a:rPr lang="en-US" sz="2000" b="1" dirty="0"/>
              <a:t>not</a:t>
            </a:r>
            <a:r>
              <a:rPr lang="en-US" sz="2000" dirty="0"/>
              <a:t> create </a:t>
            </a:r>
            <a:r>
              <a:rPr lang="en-US" sz="2000" dirty="0">
                <a:solidFill>
                  <a:srgbClr val="FF0000"/>
                </a:solidFill>
              </a:rPr>
              <a:t>new</a:t>
            </a:r>
            <a:r>
              <a:rPr lang="en-US" sz="2000" dirty="0"/>
              <a:t> operators</a:t>
            </a:r>
          </a:p>
          <a:p>
            <a:pPr lvl="1"/>
            <a:r>
              <a:rPr lang="en-US" sz="2000" dirty="0"/>
              <a:t>does </a:t>
            </a:r>
            <a:r>
              <a:rPr lang="en-US" sz="2000" b="1" dirty="0"/>
              <a:t>not</a:t>
            </a:r>
            <a:r>
              <a:rPr lang="en-US" sz="2000" dirty="0"/>
              <a:t> work with </a:t>
            </a:r>
            <a:r>
              <a:rPr lang="en-US" sz="2000" dirty="0">
                <a:solidFill>
                  <a:srgbClr val="FF9900"/>
                </a:solidFill>
              </a:rPr>
              <a:t>only built-in</a:t>
            </a:r>
            <a:r>
              <a:rPr lang="en-US" sz="2000" dirty="0"/>
              <a:t> data types, i.e., </a:t>
            </a:r>
            <a:r>
              <a:rPr lang="en-US" sz="2000" dirty="0">
                <a:solidFill>
                  <a:srgbClr val="FF0000"/>
                </a:solidFill>
              </a:rPr>
              <a:t>at least one</a:t>
            </a:r>
            <a:r>
              <a:rPr lang="en-US" sz="2000" dirty="0"/>
              <a:t> operand is a user-defined class object </a:t>
            </a:r>
            <a:endParaRPr lang="en-HK" sz="2000" dirty="0"/>
          </a:p>
        </p:txBody>
      </p:sp>
    </p:spTree>
    <p:extLst>
      <p:ext uri="{BB962C8B-B14F-4D97-AF65-F5344CB8AC3E}">
        <p14:creationId xmlns:p14="http://schemas.microsoft.com/office/powerpoint/2010/main" val="48042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6C91-B0A2-4CA1-8EEF-5080F4EA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F7095D-565F-4E34-9C84-F2924443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678A9-7137-4469-9BDF-ADE83091490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1219200"/>
          </a:xfrm>
        </p:spPr>
        <p:txBody>
          <a:bodyPr/>
          <a:lstStyle/>
          <a:p>
            <a:r>
              <a:rPr lang="en-US" dirty="0"/>
              <a:t>operator+</a:t>
            </a:r>
          </a:p>
          <a:p>
            <a:pPr lvl="1"/>
            <a:r>
              <a:rPr lang="en-US" sz="2000" dirty="0"/>
              <a:t>We define how to </a:t>
            </a:r>
            <a:r>
              <a:rPr lang="en-US" sz="2000" dirty="0">
                <a:solidFill>
                  <a:srgbClr val="C00000"/>
                </a:solidFill>
              </a:rPr>
              <a:t>add two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</a:t>
            </a:r>
            <a:r>
              <a:rPr lang="en-US" sz="2000" dirty="0">
                <a:solidFill>
                  <a:srgbClr val="C00000"/>
                </a:solidFill>
              </a:rPr>
              <a:t> objects</a:t>
            </a:r>
            <a:endParaRPr lang="en-HK" sz="2000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A25A23-3BC1-4D8D-BF39-ADA56AD42682}"/>
              </a:ext>
            </a:extLst>
          </p:cNvPr>
          <p:cNvSpPr txBox="1"/>
          <p:nvPr/>
        </p:nvSpPr>
        <p:spPr>
          <a:xfrm>
            <a:off x="914400" y="2516981"/>
            <a:ext cx="8458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class Course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Course(int score)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 </a:t>
            </a:r>
            <a:r>
              <a:rPr lang="en-US" altLang="zh-CN" dirty="0" err="1">
                <a:latin typeface="Courier New" pitchFamily="49" charset="0"/>
              </a:rPr>
              <a:t>m_Score</a:t>
            </a:r>
            <a:r>
              <a:rPr lang="en-US" altLang="zh-CN" dirty="0">
                <a:latin typeface="Courier New" pitchFamily="49" charset="0"/>
              </a:rPr>
              <a:t> = score;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Course operator+ (const Course &amp;c)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Course temp;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</a:t>
            </a:r>
            <a:r>
              <a:rPr lang="en-US" altLang="zh-CN" dirty="0" err="1">
                <a:latin typeface="Courier New" pitchFamily="49" charset="0"/>
              </a:rPr>
              <a:t>temp.m_Score</a:t>
            </a:r>
            <a:r>
              <a:rPr lang="en-US" altLang="zh-CN" dirty="0">
                <a:latin typeface="Courier New" pitchFamily="49" charset="0"/>
              </a:rPr>
              <a:t> = this-&gt;</a:t>
            </a:r>
            <a:r>
              <a:rPr lang="en-US" altLang="zh-CN" dirty="0" err="1">
                <a:latin typeface="Courier New" pitchFamily="49" charset="0"/>
              </a:rPr>
              <a:t>m_Score</a:t>
            </a:r>
            <a:r>
              <a:rPr lang="en-US" altLang="zh-CN" dirty="0">
                <a:latin typeface="Courier New" pitchFamily="49" charset="0"/>
              </a:rPr>
              <a:t> + </a:t>
            </a:r>
            <a:r>
              <a:rPr lang="en-US" altLang="zh-CN" dirty="0" err="1">
                <a:latin typeface="Courier New" pitchFamily="49" charset="0"/>
              </a:rPr>
              <a:t>c.m_Score</a:t>
            </a:r>
            <a:r>
              <a:rPr lang="en-US" altLang="zh-CN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return temp;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Course </a:t>
            </a:r>
            <a:r>
              <a:rPr lang="en-US" altLang="zh-CN" dirty="0" err="1">
                <a:latin typeface="Courier New" pitchFamily="49" charset="0"/>
              </a:rPr>
              <a:t>func</a:t>
            </a:r>
            <a:r>
              <a:rPr lang="en-US" altLang="zh-CN" dirty="0">
                <a:latin typeface="Courier New" pitchFamily="49" charset="0"/>
              </a:rPr>
              <a:t>(Course c) {}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int </a:t>
            </a:r>
            <a:r>
              <a:rPr lang="en-US" altLang="zh-CN" dirty="0" err="1">
                <a:latin typeface="Courier New" pitchFamily="49" charset="0"/>
              </a:rPr>
              <a:t>m_Score</a:t>
            </a:r>
            <a:r>
              <a:rPr lang="en-US" altLang="zh-CN" dirty="0">
                <a:latin typeface="Courier New" pitchFamily="49" charset="0"/>
              </a:rPr>
              <a:t>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};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32AE9431-9475-6AC8-AC12-F71CD83F38FD}"/>
              </a:ext>
            </a:extLst>
          </p:cNvPr>
          <p:cNvSpPr txBox="1"/>
          <p:nvPr/>
        </p:nvSpPr>
        <p:spPr>
          <a:xfrm>
            <a:off x="3810000" y="2377216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Course c1(80), c2(90), c3(0);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c3 = c1 + c2;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c3.m_Score is 170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FECAB-5E49-D1F9-6FA5-EF268AC80658}"/>
              </a:ext>
            </a:extLst>
          </p:cNvPr>
          <p:cNvSpPr txBox="1"/>
          <p:nvPr/>
        </p:nvSpPr>
        <p:spPr>
          <a:xfrm>
            <a:off x="907441" y="6460251"/>
            <a:ext cx="1745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lec09-04-add.cpp</a:t>
            </a:r>
          </a:p>
        </p:txBody>
      </p:sp>
    </p:spTree>
    <p:extLst>
      <p:ext uri="{BB962C8B-B14F-4D97-AF65-F5344CB8AC3E}">
        <p14:creationId xmlns:p14="http://schemas.microsoft.com/office/powerpoint/2010/main" val="90599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073F-54F7-46B9-B777-2CD4B177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5EF067-499E-47B9-A9BE-976FAB83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1AB5B-A62C-43EF-AD6F-D73CB874B9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876800"/>
          </a:xfrm>
        </p:spPr>
        <p:txBody>
          <a:bodyPr>
            <a:noAutofit/>
          </a:bodyPr>
          <a:lstStyle/>
          <a:p>
            <a:r>
              <a:rPr lang="en-US" dirty="0"/>
              <a:t>How to use the overloaded operator?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In-depth</a:t>
            </a:r>
            <a:r>
              <a:rPr lang="en-US" dirty="0"/>
              <a:t> understanding of this function call</a:t>
            </a:r>
          </a:p>
          <a:p>
            <a:pPr lvl="1"/>
            <a:r>
              <a:rPr lang="en-US" sz="2200" dirty="0"/>
              <a:t>How to call a normal member function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c1.func(c2);</a:t>
            </a:r>
          </a:p>
          <a:p>
            <a:pPr lvl="1"/>
            <a:r>
              <a:rPr lang="en-US" sz="2200" dirty="0"/>
              <a:t>Similarly, the overloaded operator function is called by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c1.operator+(c2);</a:t>
            </a:r>
          </a:p>
          <a:p>
            <a:pPr lvl="1"/>
            <a:r>
              <a:rPr lang="en-US" sz="2200" dirty="0"/>
              <a:t>To facilitate programming, compiler allows to write the overloaded operator function as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c1 + c2;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0DE602-C84E-40E0-B3FB-13C8BDC86AC7}"/>
              </a:ext>
            </a:extLst>
          </p:cNvPr>
          <p:cNvSpPr txBox="1"/>
          <p:nvPr/>
        </p:nvSpPr>
        <p:spPr>
          <a:xfrm>
            <a:off x="1524000" y="2173069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Course c1(80), c2(90), c3(0);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c3 = c1 + c2;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c3.m_Score is 170</a:t>
            </a:r>
          </a:p>
        </p:txBody>
      </p:sp>
    </p:spTree>
    <p:extLst>
      <p:ext uri="{BB962C8B-B14F-4D97-AF65-F5344CB8AC3E}">
        <p14:creationId xmlns:p14="http://schemas.microsoft.com/office/powerpoint/2010/main" val="47038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4A44-5745-4612-8301-5E9C4649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E0C72-56E0-4C45-B7A7-457CFFFA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16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9696B-7AC0-4AE4-B2E6-621A0623DD8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operator=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Course c4(10), c5;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c5 = c4; </a:t>
            </a: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c5.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=(c4);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05049D-67F1-4465-972E-B954760E7E82}"/>
              </a:ext>
            </a:extLst>
          </p:cNvPr>
          <p:cNvSpPr txBox="1"/>
          <p:nvPr/>
        </p:nvSpPr>
        <p:spPr>
          <a:xfrm>
            <a:off x="2133600" y="2819400"/>
            <a:ext cx="6096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class Course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Course() { </a:t>
            </a:r>
            <a:r>
              <a:rPr lang="en-US" altLang="zh-CN" dirty="0" err="1">
                <a:latin typeface="Courier New" pitchFamily="49" charset="0"/>
              </a:rPr>
              <a:t>m_Score</a:t>
            </a:r>
            <a:r>
              <a:rPr lang="en-US" altLang="zh-CN" dirty="0">
                <a:latin typeface="Courier New" pitchFamily="49" charset="0"/>
              </a:rPr>
              <a:t> = 0;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Course(int score)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 </a:t>
            </a:r>
            <a:r>
              <a:rPr lang="en-US" altLang="zh-CN" dirty="0" err="1">
                <a:latin typeface="Courier New" pitchFamily="49" charset="0"/>
              </a:rPr>
              <a:t>m_Score</a:t>
            </a:r>
            <a:r>
              <a:rPr lang="en-US" altLang="zh-CN" dirty="0">
                <a:latin typeface="Courier New" pitchFamily="49" charset="0"/>
              </a:rPr>
              <a:t> = score;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Course&amp; operator=(const Course &amp;c)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this-&gt;</a:t>
            </a:r>
            <a:r>
              <a:rPr lang="en-US" altLang="zh-CN" dirty="0" err="1">
                <a:latin typeface="Courier New" pitchFamily="49" charset="0"/>
              </a:rPr>
              <a:t>m_Score</a:t>
            </a:r>
            <a:r>
              <a:rPr lang="en-US" altLang="zh-CN" dirty="0">
                <a:latin typeface="Courier New" pitchFamily="49" charset="0"/>
              </a:rPr>
              <a:t> = </a:t>
            </a:r>
            <a:r>
              <a:rPr lang="en-US" altLang="zh-CN" dirty="0" err="1">
                <a:latin typeface="Courier New" pitchFamily="49" charset="0"/>
              </a:rPr>
              <a:t>c.m_Score</a:t>
            </a:r>
            <a:r>
              <a:rPr lang="en-US" altLang="zh-CN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	return *this;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int </a:t>
            </a:r>
            <a:r>
              <a:rPr lang="en-US" altLang="zh-CN" dirty="0" err="1">
                <a:latin typeface="Courier New" pitchFamily="49" charset="0"/>
              </a:rPr>
              <a:t>m_Score</a:t>
            </a:r>
            <a:r>
              <a:rPr lang="en-US" altLang="zh-CN" dirty="0">
                <a:latin typeface="Courier New" pitchFamily="49" charset="0"/>
              </a:rPr>
              <a:t>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7099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4A44-5745-4612-8301-5E9C4649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E0C72-56E0-4C45-B7A7-457CFFFA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9696B-7AC0-4AE4-B2E6-621A0623DD8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operator=</a:t>
            </a:r>
          </a:p>
          <a:p>
            <a:pPr lvl="1"/>
            <a:r>
              <a:rPr lang="en-US" sz="2000" dirty="0"/>
              <a:t>compiler provides a </a:t>
            </a:r>
            <a:r>
              <a:rPr lang="en-US" sz="2000" dirty="0">
                <a:solidFill>
                  <a:srgbClr val="C00000"/>
                </a:solidFill>
              </a:rPr>
              <a:t>default</a:t>
            </a:r>
            <a:r>
              <a:rPr lang="en-US" sz="2000" dirty="0"/>
              <a:t> version of the overloaded operator=, which performs </a:t>
            </a:r>
            <a:r>
              <a:rPr lang="en-US" sz="2000" dirty="0">
                <a:solidFill>
                  <a:srgbClr val="7030A0"/>
                </a:solidFill>
              </a:rPr>
              <a:t>member-wise</a:t>
            </a:r>
            <a:r>
              <a:rPr lang="en-US" sz="2000" dirty="0"/>
              <a:t> copy (</a:t>
            </a:r>
            <a:r>
              <a:rPr lang="en-US" sz="2000" b="1" dirty="0"/>
              <a:t>shallow copy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we can define a new overloaded version of operator=, especially for </a:t>
            </a:r>
            <a:r>
              <a:rPr lang="en-US" sz="2000" dirty="0">
                <a:solidFill>
                  <a:srgbClr val="0070C0"/>
                </a:solidFill>
              </a:rPr>
              <a:t>deep copy</a:t>
            </a:r>
          </a:p>
          <a:p>
            <a:r>
              <a:rPr lang="en-US" sz="2200" dirty="0"/>
              <a:t>Example</a:t>
            </a:r>
          </a:p>
          <a:p>
            <a:pPr lvl="1"/>
            <a:r>
              <a:rPr lang="en-US" sz="2000" dirty="0"/>
              <a:t>Design constructor and destructor of 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2000" dirty="0"/>
              <a:t> class</a:t>
            </a:r>
          </a:p>
          <a:p>
            <a:pPr lvl="1"/>
            <a:r>
              <a:rPr lang="en-US" sz="2000" dirty="0"/>
              <a:t>Design operator=</a:t>
            </a:r>
            <a:endParaRPr lang="en-HK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05049D-67F1-4465-972E-B954760E7E82}"/>
              </a:ext>
            </a:extLst>
          </p:cNvPr>
          <p:cNvSpPr txBox="1"/>
          <p:nvPr/>
        </p:nvSpPr>
        <p:spPr>
          <a:xfrm>
            <a:off x="1295400" y="4572000"/>
            <a:ext cx="62434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class Student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int </a:t>
            </a:r>
            <a:r>
              <a:rPr lang="en-US" altLang="zh-CN" dirty="0" err="1">
                <a:latin typeface="Courier New" pitchFamily="49" charset="0"/>
              </a:rPr>
              <a:t>m_Score</a:t>
            </a:r>
            <a:r>
              <a:rPr lang="en-US" altLang="zh-CN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int *</a:t>
            </a:r>
            <a:r>
              <a:rPr lang="en-US" altLang="zh-CN" dirty="0" err="1">
                <a:latin typeface="Courier New" pitchFamily="49" charset="0"/>
              </a:rPr>
              <a:t>m_ID</a:t>
            </a:r>
            <a:r>
              <a:rPr lang="en-US" altLang="zh-CN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72EC4-E096-3588-8A47-C798F12E0BFC}"/>
              </a:ext>
            </a:extLst>
          </p:cNvPr>
          <p:cNvSpPr txBox="1"/>
          <p:nvPr/>
        </p:nvSpPr>
        <p:spPr>
          <a:xfrm>
            <a:off x="907441" y="6460251"/>
            <a:ext cx="1999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lec09-05-student.cpp</a:t>
            </a:r>
          </a:p>
        </p:txBody>
      </p:sp>
    </p:spTree>
    <p:extLst>
      <p:ext uri="{BB962C8B-B14F-4D97-AF65-F5344CB8AC3E}">
        <p14:creationId xmlns:p14="http://schemas.microsoft.com/office/powerpoint/2010/main" val="235341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D94DC-D82C-4ADE-9728-AC8493DA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2F88DD-BCEB-4FAE-B7D7-9B41B6E1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18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EA477-3841-43FE-9312-908CA784698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685800"/>
          </a:xfrm>
        </p:spPr>
        <p:txBody>
          <a:bodyPr/>
          <a:lstStyle/>
          <a:p>
            <a:r>
              <a:rPr lang="en-US" dirty="0"/>
              <a:t>operator=</a:t>
            </a:r>
            <a:endParaRPr lang="en-HK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F61223-8275-49F2-8B47-EDA24F7CF2DB}"/>
              </a:ext>
            </a:extLst>
          </p:cNvPr>
          <p:cNvSpPr txBox="1"/>
          <p:nvPr/>
        </p:nvSpPr>
        <p:spPr>
          <a:xfrm>
            <a:off x="904568" y="2209800"/>
            <a:ext cx="8077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class Student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Student&amp; operator=(const Student &amp;s) {</a:t>
            </a:r>
          </a:p>
          <a:p>
            <a:pPr eaLnBrk="1" hangingPunct="1"/>
            <a:r>
              <a:rPr lang="en-US" altLang="zh-CN" sz="1200" dirty="0">
                <a:latin typeface="Courier New" pitchFamily="49" charset="0"/>
              </a:rPr>
              <a:t>		</a:t>
            </a:r>
            <a:r>
              <a:rPr lang="en-US" altLang="zh-CN" sz="1200" dirty="0" err="1">
                <a:latin typeface="Courier New" pitchFamily="49" charset="0"/>
              </a:rPr>
              <a:t>m_Score</a:t>
            </a:r>
            <a:r>
              <a:rPr lang="en-US" altLang="zh-CN" sz="1200" dirty="0">
                <a:latin typeface="Courier New" pitchFamily="49" charset="0"/>
              </a:rPr>
              <a:t> = </a:t>
            </a:r>
            <a:r>
              <a:rPr lang="en-US" altLang="zh-CN" sz="1200" dirty="0" err="1">
                <a:latin typeface="Courier New" pitchFamily="49" charset="0"/>
              </a:rPr>
              <a:t>s.m_Score</a:t>
            </a:r>
            <a:r>
              <a:rPr lang="en-US" altLang="zh-CN" sz="12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2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if (</a:t>
            </a:r>
            <a:r>
              <a:rPr lang="en-US" altLang="zh-CN" sz="1200" dirty="0" err="1">
                <a:latin typeface="Courier New" pitchFamily="49" charset="0"/>
              </a:rPr>
              <a:t>m_ID</a:t>
            </a:r>
            <a:r>
              <a:rPr lang="en-US" altLang="zh-CN" sz="1200" dirty="0">
                <a:latin typeface="Courier New" pitchFamily="49" charset="0"/>
              </a:rPr>
              <a:t> != NULL) { </a:t>
            </a:r>
            <a:r>
              <a:rPr lang="en-US" altLang="zh-CN" sz="1200" dirty="0">
                <a:solidFill>
                  <a:srgbClr val="FF0000"/>
                </a:solidFill>
                <a:latin typeface="Courier New" pitchFamily="49" charset="0"/>
              </a:rPr>
              <a:t>// if pointed to an id, release it first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	delete </a:t>
            </a:r>
            <a:r>
              <a:rPr lang="en-US" altLang="zh-CN" sz="1200" dirty="0" err="1">
                <a:latin typeface="Courier New" pitchFamily="49" charset="0"/>
              </a:rPr>
              <a:t>m_ID</a:t>
            </a:r>
            <a:r>
              <a:rPr lang="en-US" altLang="zh-CN" sz="12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	</a:t>
            </a:r>
            <a:r>
              <a:rPr lang="en-US" altLang="zh-CN" sz="1200" dirty="0" err="1">
                <a:latin typeface="Courier New" pitchFamily="49" charset="0"/>
              </a:rPr>
              <a:t>m_ID</a:t>
            </a:r>
            <a:r>
              <a:rPr lang="en-US" altLang="zh-CN" sz="1200" dirty="0">
                <a:latin typeface="Courier New" pitchFamily="49" charset="0"/>
              </a:rPr>
              <a:t> = NULL;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2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</a:t>
            </a:r>
            <a:r>
              <a:rPr lang="en-US" altLang="zh-CN" sz="1200" dirty="0" err="1">
                <a:latin typeface="Courier New" pitchFamily="49" charset="0"/>
              </a:rPr>
              <a:t>m_ID</a:t>
            </a:r>
            <a:r>
              <a:rPr lang="en-US" altLang="zh-CN" sz="1200" dirty="0">
                <a:latin typeface="Courier New" pitchFamily="49" charset="0"/>
              </a:rPr>
              <a:t> = new int(*</a:t>
            </a:r>
            <a:r>
              <a:rPr lang="en-US" altLang="zh-CN" sz="1200" dirty="0" err="1">
                <a:latin typeface="Courier New" pitchFamily="49" charset="0"/>
              </a:rPr>
              <a:t>s.m_ID</a:t>
            </a:r>
            <a:r>
              <a:rPr lang="en-US" altLang="zh-CN" sz="1200" dirty="0">
                <a:latin typeface="Courier New" pitchFamily="49" charset="0"/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return *this;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Student(int s, int id) {</a:t>
            </a:r>
            <a:r>
              <a:rPr lang="en-US" altLang="zh-CN" sz="1200" dirty="0" err="1">
                <a:latin typeface="Courier New" pitchFamily="49" charset="0"/>
              </a:rPr>
              <a:t>m_Score</a:t>
            </a:r>
            <a:r>
              <a:rPr lang="en-US" altLang="zh-CN" sz="1200" dirty="0">
                <a:latin typeface="Courier New" pitchFamily="49" charset="0"/>
              </a:rPr>
              <a:t> = s; </a:t>
            </a:r>
            <a:r>
              <a:rPr lang="en-US" altLang="zh-CN" sz="1200" dirty="0" err="1">
                <a:latin typeface="Courier New" pitchFamily="49" charset="0"/>
              </a:rPr>
              <a:t>m_ID</a:t>
            </a:r>
            <a:r>
              <a:rPr lang="en-US" altLang="zh-CN" sz="1200" dirty="0">
                <a:latin typeface="Courier New" pitchFamily="49" charset="0"/>
              </a:rPr>
              <a:t> = new int(id);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~Student()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if (</a:t>
            </a:r>
            <a:r>
              <a:rPr lang="en-US" altLang="zh-CN" sz="1200" dirty="0" err="1">
                <a:latin typeface="Courier New" pitchFamily="49" charset="0"/>
              </a:rPr>
              <a:t>m_ID</a:t>
            </a:r>
            <a:r>
              <a:rPr lang="en-US" altLang="zh-CN" sz="1200" dirty="0">
                <a:latin typeface="Courier New" pitchFamily="49" charset="0"/>
              </a:rPr>
              <a:t> != NULL) { delete </a:t>
            </a:r>
            <a:r>
              <a:rPr lang="en-US" altLang="zh-CN" sz="1200" dirty="0" err="1">
                <a:latin typeface="Courier New" pitchFamily="49" charset="0"/>
              </a:rPr>
              <a:t>m_ID</a:t>
            </a:r>
            <a:r>
              <a:rPr lang="en-US" altLang="zh-CN" sz="1200" dirty="0">
                <a:latin typeface="Courier New" pitchFamily="49" charset="0"/>
              </a:rPr>
              <a:t>; </a:t>
            </a:r>
            <a:r>
              <a:rPr lang="en-US" altLang="zh-CN" sz="1200" dirty="0" err="1">
                <a:latin typeface="Courier New" pitchFamily="49" charset="0"/>
              </a:rPr>
              <a:t>m_ID</a:t>
            </a:r>
            <a:r>
              <a:rPr lang="en-US" altLang="zh-CN" sz="1200" dirty="0">
                <a:latin typeface="Courier New" pitchFamily="49" charset="0"/>
              </a:rPr>
              <a:t> = NULL;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int </a:t>
            </a:r>
            <a:r>
              <a:rPr lang="en-US" altLang="zh-CN" sz="1200" dirty="0" err="1">
                <a:latin typeface="Courier New" pitchFamily="49" charset="0"/>
              </a:rPr>
              <a:t>m_Score</a:t>
            </a:r>
            <a:r>
              <a:rPr lang="en-US" altLang="zh-CN" sz="12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int *</a:t>
            </a:r>
            <a:r>
              <a:rPr lang="en-US" altLang="zh-CN" sz="1200" dirty="0" err="1">
                <a:latin typeface="Courier New" pitchFamily="49" charset="0"/>
              </a:rPr>
              <a:t>m_ID</a:t>
            </a:r>
            <a:r>
              <a:rPr lang="en-US" altLang="zh-CN" sz="12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};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7C534-8BD9-6087-54CC-3A61DB8994F0}"/>
              </a:ext>
            </a:extLst>
          </p:cNvPr>
          <p:cNvSpPr/>
          <p:nvPr/>
        </p:nvSpPr>
        <p:spPr>
          <a:xfrm>
            <a:off x="1905000" y="3048000"/>
            <a:ext cx="6781800" cy="904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24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F0484-0B02-43AA-94DF-A4DA2F73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7142E3-D391-4BE3-8787-D6D1505D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19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57471-FE1A-4978-A86E-D3103575453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Relational operator,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operator==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When </a:t>
            </a:r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 and </a:t>
            </a:r>
            <a:r>
              <a:rPr lang="en-US" dirty="0">
                <a:solidFill>
                  <a:srgbClr val="7030A0"/>
                </a:solidFill>
              </a:rPr>
              <a:t>age</a:t>
            </a:r>
            <a:r>
              <a:rPr lang="en-US" dirty="0"/>
              <a:t> of two students are both equal, the operator returns true; otherwise, it returns false</a:t>
            </a:r>
            <a:endParaRPr lang="en-HK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81ADD4-E543-4742-802F-488A37FBF076}"/>
              </a:ext>
            </a:extLst>
          </p:cNvPr>
          <p:cNvSpPr txBox="1"/>
          <p:nvPr/>
        </p:nvSpPr>
        <p:spPr>
          <a:xfrm>
            <a:off x="1450258" y="3604255"/>
            <a:ext cx="62434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class Student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string </a:t>
            </a:r>
            <a:r>
              <a:rPr lang="en-US" altLang="zh-CN" dirty="0" err="1">
                <a:latin typeface="Courier New" pitchFamily="49" charset="0"/>
              </a:rPr>
              <a:t>mName</a:t>
            </a:r>
            <a:r>
              <a:rPr lang="en-US" altLang="zh-CN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	int </a:t>
            </a:r>
            <a:r>
              <a:rPr lang="en-US" altLang="zh-CN" dirty="0" err="1">
                <a:latin typeface="Courier New" pitchFamily="49" charset="0"/>
              </a:rPr>
              <a:t>mAge</a:t>
            </a:r>
            <a:r>
              <a:rPr lang="en-US" altLang="zh-CN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510C8-223F-191D-C052-215C5C4F14F9}"/>
              </a:ext>
            </a:extLst>
          </p:cNvPr>
          <p:cNvSpPr txBox="1"/>
          <p:nvPr/>
        </p:nvSpPr>
        <p:spPr>
          <a:xfrm>
            <a:off x="907441" y="6460251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lec09-06-equalsTo.cpp</a:t>
            </a:r>
          </a:p>
        </p:txBody>
      </p:sp>
    </p:spTree>
    <p:extLst>
      <p:ext uri="{BB962C8B-B14F-4D97-AF65-F5344CB8AC3E}">
        <p14:creationId xmlns:p14="http://schemas.microsoft.com/office/powerpoint/2010/main" val="417519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6CDB3-CF49-4075-8195-75F96442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2986FD-6A47-43A9-8A30-D4B652656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E8E4D-F3B1-4150-BD2D-E1276184111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1066800"/>
          </a:xfrm>
        </p:spPr>
        <p:txBody>
          <a:bodyPr/>
          <a:lstStyle/>
          <a:p>
            <a:r>
              <a:rPr lang="en-US" dirty="0"/>
              <a:t>Relational operator,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operator==</a:t>
            </a:r>
            <a:endParaRPr lang="en-HK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930B39-A2DA-4C2C-B881-F7A5272F61E5}"/>
              </a:ext>
            </a:extLst>
          </p:cNvPr>
          <p:cNvSpPr txBox="1"/>
          <p:nvPr/>
        </p:nvSpPr>
        <p:spPr>
          <a:xfrm>
            <a:off x="838200" y="2133600"/>
            <a:ext cx="8610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class Student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bool operator==(const Student &amp;s)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	if (this-&gt;</a:t>
            </a:r>
            <a:r>
              <a:rPr lang="en-US" altLang="zh-CN" sz="1400" dirty="0" err="1">
                <a:latin typeface="Courier New" pitchFamily="49" charset="0"/>
              </a:rPr>
              <a:t>mName</a:t>
            </a:r>
            <a:r>
              <a:rPr lang="en-US" altLang="zh-CN" sz="1400" dirty="0">
                <a:latin typeface="Courier New" pitchFamily="49" charset="0"/>
              </a:rPr>
              <a:t>==</a:t>
            </a:r>
            <a:r>
              <a:rPr lang="en-US" altLang="zh-CN" sz="1400" dirty="0" err="1">
                <a:latin typeface="Courier New" pitchFamily="49" charset="0"/>
              </a:rPr>
              <a:t>s.mName</a:t>
            </a:r>
            <a:r>
              <a:rPr lang="en-US" altLang="zh-CN" sz="1400" dirty="0">
                <a:latin typeface="Courier New" pitchFamily="49" charset="0"/>
              </a:rPr>
              <a:t> &amp;&amp; this-&gt;</a:t>
            </a:r>
            <a:r>
              <a:rPr lang="en-US" altLang="zh-CN" sz="1400" dirty="0" err="1">
                <a:latin typeface="Courier New" pitchFamily="49" charset="0"/>
              </a:rPr>
              <a:t>mAge</a:t>
            </a:r>
            <a:r>
              <a:rPr lang="en-US" altLang="zh-CN" sz="1400" dirty="0">
                <a:latin typeface="Courier New" pitchFamily="49" charset="0"/>
              </a:rPr>
              <a:t> ==</a:t>
            </a:r>
            <a:r>
              <a:rPr lang="en-US" altLang="zh-CN" sz="1400" dirty="0" err="1">
                <a:latin typeface="Courier New" pitchFamily="49" charset="0"/>
              </a:rPr>
              <a:t>s.mAge</a:t>
            </a:r>
            <a:r>
              <a:rPr lang="en-US" altLang="zh-CN" sz="14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		return true;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	} else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		return false;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4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Student(string name, int age)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	</a:t>
            </a:r>
            <a:r>
              <a:rPr lang="en-US" altLang="zh-CN" sz="1400" dirty="0" err="1">
                <a:latin typeface="Courier New" pitchFamily="49" charset="0"/>
              </a:rPr>
              <a:t>mName</a:t>
            </a:r>
            <a:r>
              <a:rPr lang="en-US" altLang="zh-CN" sz="1400" dirty="0">
                <a:latin typeface="Courier New" pitchFamily="49" charset="0"/>
              </a:rPr>
              <a:t> = name;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	</a:t>
            </a:r>
            <a:r>
              <a:rPr lang="en-US" altLang="zh-CN" sz="1400" dirty="0" err="1">
                <a:latin typeface="Courier New" pitchFamily="49" charset="0"/>
              </a:rPr>
              <a:t>mAge</a:t>
            </a:r>
            <a:r>
              <a:rPr lang="en-US" altLang="zh-CN" sz="1400" dirty="0">
                <a:latin typeface="Courier New" pitchFamily="49" charset="0"/>
              </a:rPr>
              <a:t> = age;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4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string </a:t>
            </a:r>
            <a:r>
              <a:rPr lang="en-US" altLang="zh-CN" sz="1400" dirty="0" err="1">
                <a:latin typeface="Courier New" pitchFamily="49" charset="0"/>
              </a:rPr>
              <a:t>mName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int </a:t>
            </a:r>
            <a:r>
              <a:rPr lang="en-US" altLang="zh-CN" sz="1400" dirty="0" err="1">
                <a:latin typeface="Courier New" pitchFamily="49" charset="0"/>
              </a:rPr>
              <a:t>mAge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024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B725-783E-4FD8-95FF-F4390E14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3DA151-0749-41A3-A1A1-35833E72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21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6A0B9-BE9E-437C-A2EC-5C79EB337EF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As a </a:t>
            </a:r>
            <a:r>
              <a:rPr lang="en-US" dirty="0">
                <a:solidFill>
                  <a:srgbClr val="C00000"/>
                </a:solidFill>
              </a:rPr>
              <a:t>normal</a:t>
            </a:r>
            <a:r>
              <a:rPr lang="en-US" dirty="0"/>
              <a:t> (non-member) function</a:t>
            </a:r>
          </a:p>
          <a:p>
            <a:r>
              <a:rPr lang="en-US" dirty="0"/>
              <a:t>operator&lt;&lt;</a:t>
            </a:r>
            <a:endParaRPr lang="en-HK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26B900-0869-43A7-BADA-E5E60C69E090}"/>
              </a:ext>
            </a:extLst>
          </p:cNvPr>
          <p:cNvSpPr txBox="1"/>
          <p:nvPr/>
        </p:nvSpPr>
        <p:spPr>
          <a:xfrm>
            <a:off x="1295400" y="2743200"/>
            <a:ext cx="78486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class Student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string </a:t>
            </a:r>
            <a:r>
              <a:rPr lang="en-US" altLang="zh-CN" sz="1400" dirty="0" err="1">
                <a:latin typeface="Courier New" pitchFamily="49" charset="0"/>
              </a:rPr>
              <a:t>mName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int </a:t>
            </a:r>
            <a:r>
              <a:rPr lang="en-US" altLang="zh-CN" sz="1400" dirty="0" err="1">
                <a:latin typeface="Courier New" pitchFamily="49" charset="0"/>
              </a:rPr>
              <a:t>mAge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4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void operator&lt;&lt;(</a:t>
            </a:r>
            <a:r>
              <a:rPr lang="en-US" altLang="zh-CN" sz="1400" dirty="0" err="1">
                <a:latin typeface="Courier New" pitchFamily="49" charset="0"/>
              </a:rPr>
              <a:t>ostream</a:t>
            </a:r>
            <a:r>
              <a:rPr lang="en-US" altLang="zh-CN" sz="1400" dirty="0">
                <a:latin typeface="Courier New" pitchFamily="49" charset="0"/>
              </a:rPr>
              <a:t> &amp;</a:t>
            </a:r>
            <a:r>
              <a:rPr lang="en-US" altLang="zh-CN" sz="1400" dirty="0" err="1">
                <a:latin typeface="Courier New" pitchFamily="49" charset="0"/>
              </a:rPr>
              <a:t>cout</a:t>
            </a:r>
            <a:r>
              <a:rPr lang="en-US" altLang="zh-CN" sz="1400" dirty="0">
                <a:latin typeface="Courier New" pitchFamily="49" charset="0"/>
              </a:rPr>
              <a:t>, Student &amp;s)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</a:t>
            </a:r>
            <a:r>
              <a:rPr lang="en-US" altLang="zh-CN" sz="1400" dirty="0" err="1">
                <a:latin typeface="Courier New" pitchFamily="49" charset="0"/>
              </a:rPr>
              <a:t>cout</a:t>
            </a:r>
            <a:r>
              <a:rPr lang="en-US" altLang="zh-CN" sz="1400" dirty="0">
                <a:latin typeface="Courier New" pitchFamily="49" charset="0"/>
              </a:rPr>
              <a:t> &lt;&lt; </a:t>
            </a:r>
            <a:r>
              <a:rPr lang="en-US" altLang="zh-CN" sz="1400" dirty="0" err="1">
                <a:latin typeface="Courier New" pitchFamily="49" charset="0"/>
              </a:rPr>
              <a:t>s.mName</a:t>
            </a:r>
            <a:r>
              <a:rPr lang="en-US" altLang="zh-CN" sz="1400" dirty="0">
                <a:latin typeface="Courier New" pitchFamily="49" charset="0"/>
              </a:rPr>
              <a:t> &lt;&lt; “ ” &lt;&lt; </a:t>
            </a:r>
            <a:r>
              <a:rPr lang="en-US" altLang="zh-CN" sz="1400" dirty="0" err="1">
                <a:latin typeface="Courier New" pitchFamily="49" charset="0"/>
              </a:rPr>
              <a:t>s.mAge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4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Student s;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</a:t>
            </a:r>
            <a:r>
              <a:rPr lang="en-US" altLang="zh-CN" sz="1400" dirty="0" err="1">
                <a:latin typeface="Courier New" pitchFamily="49" charset="0"/>
              </a:rPr>
              <a:t>cout</a:t>
            </a:r>
            <a:r>
              <a:rPr lang="en-US" altLang="zh-CN" sz="1400" dirty="0">
                <a:latin typeface="Courier New" pitchFamily="49" charset="0"/>
              </a:rPr>
              <a:t> &lt;&lt; s;  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this version doesn’t support chain function call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</a:t>
            </a:r>
            <a:r>
              <a:rPr lang="en-US" altLang="zh-CN" sz="1400" dirty="0" err="1">
                <a:latin typeface="Courier New" pitchFamily="49" charset="0"/>
              </a:rPr>
              <a:t>cout</a:t>
            </a:r>
            <a:r>
              <a:rPr lang="en-US" altLang="zh-CN" sz="1400" dirty="0">
                <a:latin typeface="Courier New" pitchFamily="49" charset="0"/>
              </a:rPr>
              <a:t> &lt;&lt; </a:t>
            </a:r>
            <a:r>
              <a:rPr lang="en-US" altLang="zh-CN" sz="1400" dirty="0" err="1">
                <a:latin typeface="Courier New" pitchFamily="49" charset="0"/>
              </a:rPr>
              <a:t>endl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638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073F-54F7-46B9-B777-2CD4B177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5EF067-499E-47B9-A9BE-976FAB83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1AB5B-A62C-43EF-AD6F-D73CB874B9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876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In-depth</a:t>
            </a:r>
            <a:r>
              <a:rPr lang="en-US" dirty="0"/>
              <a:t> understanding of this function call</a:t>
            </a:r>
          </a:p>
          <a:p>
            <a:pPr lvl="1"/>
            <a:r>
              <a:rPr lang="en-US" sz="2200" dirty="0"/>
              <a:t>How to call a normal function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 , )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s);</a:t>
            </a:r>
          </a:p>
          <a:p>
            <a:pPr lvl="1"/>
            <a:r>
              <a:rPr lang="en-US" sz="2200" dirty="0"/>
              <a:t>Similarly, the overloaded operator function is called by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operator&lt;&lt;(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s);</a:t>
            </a:r>
          </a:p>
          <a:p>
            <a:pPr lvl="1"/>
            <a:r>
              <a:rPr lang="en-US" sz="2200" dirty="0"/>
              <a:t>To facilitate programming, compiler allows to write the overloaded operator function as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s; </a:t>
            </a:r>
          </a:p>
        </p:txBody>
      </p:sp>
    </p:spTree>
    <p:extLst>
      <p:ext uri="{BB962C8B-B14F-4D97-AF65-F5344CB8AC3E}">
        <p14:creationId xmlns:p14="http://schemas.microsoft.com/office/powerpoint/2010/main" val="234061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B725-783E-4FD8-95FF-F4390E14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3DA151-0749-41A3-A1A1-35833E72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23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6A0B9-BE9E-437C-A2EC-5C79EB337EF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operator&lt;&lt; to support chain function calls</a:t>
            </a:r>
            <a:endParaRPr lang="en-HK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26B900-0869-43A7-BADA-E5E60C69E090}"/>
              </a:ext>
            </a:extLst>
          </p:cNvPr>
          <p:cNvSpPr txBox="1"/>
          <p:nvPr/>
        </p:nvSpPr>
        <p:spPr>
          <a:xfrm>
            <a:off x="1143000" y="2260010"/>
            <a:ext cx="78486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class Student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string </a:t>
            </a:r>
            <a:r>
              <a:rPr lang="en-US" altLang="zh-CN" sz="1400" dirty="0" err="1">
                <a:latin typeface="Courier New" pitchFamily="49" charset="0"/>
              </a:rPr>
              <a:t>mName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int </a:t>
            </a:r>
            <a:r>
              <a:rPr lang="en-US" altLang="zh-CN" sz="1400" dirty="0" err="1">
                <a:latin typeface="Courier New" pitchFamily="49" charset="0"/>
              </a:rPr>
              <a:t>mAge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4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 err="1">
                <a:latin typeface="Courier New" pitchFamily="49" charset="0"/>
              </a:rPr>
              <a:t>ostream</a:t>
            </a:r>
            <a:r>
              <a:rPr lang="en-US" altLang="zh-CN" sz="1400" dirty="0">
                <a:latin typeface="Courier New" pitchFamily="49" charset="0"/>
              </a:rPr>
              <a:t>&amp; operator&lt;&lt;(</a:t>
            </a:r>
            <a:r>
              <a:rPr lang="en-US" altLang="zh-CN" sz="1400" dirty="0" err="1">
                <a:latin typeface="Courier New" pitchFamily="49" charset="0"/>
              </a:rPr>
              <a:t>ostream</a:t>
            </a:r>
            <a:r>
              <a:rPr lang="en-US" altLang="zh-CN" sz="1400" dirty="0">
                <a:latin typeface="Courier New" pitchFamily="49" charset="0"/>
              </a:rPr>
              <a:t> &amp;</a:t>
            </a:r>
            <a:r>
              <a:rPr lang="en-US" altLang="zh-CN" sz="1400" dirty="0" err="1">
                <a:latin typeface="Courier New" pitchFamily="49" charset="0"/>
              </a:rPr>
              <a:t>cout</a:t>
            </a:r>
            <a:r>
              <a:rPr lang="en-US" altLang="zh-CN" sz="1400" dirty="0">
                <a:latin typeface="Courier New" pitchFamily="49" charset="0"/>
              </a:rPr>
              <a:t>, Student &amp;s)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</a:t>
            </a:r>
            <a:r>
              <a:rPr lang="en-US" altLang="zh-CN" sz="1400" dirty="0" err="1">
                <a:latin typeface="Courier New" pitchFamily="49" charset="0"/>
              </a:rPr>
              <a:t>cout</a:t>
            </a:r>
            <a:r>
              <a:rPr lang="en-US" altLang="zh-CN" sz="1400" dirty="0">
                <a:latin typeface="Courier New" pitchFamily="49" charset="0"/>
              </a:rPr>
              <a:t> &lt;&lt; </a:t>
            </a:r>
            <a:r>
              <a:rPr lang="en-US" altLang="zh-CN" sz="1400" dirty="0" err="1">
                <a:latin typeface="Courier New" pitchFamily="49" charset="0"/>
              </a:rPr>
              <a:t>s.mName</a:t>
            </a:r>
            <a:r>
              <a:rPr lang="en-US" altLang="zh-CN" sz="1400" dirty="0">
                <a:latin typeface="Courier New" pitchFamily="49" charset="0"/>
              </a:rPr>
              <a:t> &lt;&lt; “ ” &lt;&lt; </a:t>
            </a:r>
            <a:r>
              <a:rPr lang="en-US" altLang="zh-CN" sz="1400" dirty="0" err="1">
                <a:latin typeface="Courier New" pitchFamily="49" charset="0"/>
              </a:rPr>
              <a:t>s.mAge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return </a:t>
            </a:r>
            <a:r>
              <a:rPr lang="en-US" altLang="zh-CN" sz="1400" dirty="0" err="1">
                <a:latin typeface="Courier New" pitchFamily="49" charset="0"/>
              </a:rPr>
              <a:t>cout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4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Student s;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</a:t>
            </a:r>
            <a:r>
              <a:rPr lang="en-US" altLang="zh-CN" sz="1400" dirty="0" err="1">
                <a:latin typeface="Courier New" pitchFamily="49" charset="0"/>
              </a:rPr>
              <a:t>cout</a:t>
            </a:r>
            <a:r>
              <a:rPr lang="en-US" altLang="zh-CN" sz="1400" dirty="0">
                <a:latin typeface="Courier New" pitchFamily="49" charset="0"/>
              </a:rPr>
              <a:t> &lt;&lt; s &lt;&lt; </a:t>
            </a:r>
            <a:r>
              <a:rPr lang="en-US" altLang="zh-CN" sz="1400" dirty="0" err="1">
                <a:latin typeface="Courier New" pitchFamily="49" charset="0"/>
              </a:rPr>
              <a:t>endl</a:t>
            </a:r>
            <a:r>
              <a:rPr lang="en-US" altLang="zh-CN" sz="14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975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098E-2323-9F57-25B4-A43ADABDD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54990-E237-77F6-B342-DF39CA1F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24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8E447-24A7-B6D2-40AC-7AACFC0D59F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to support the following calculation?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 to further support the following calculation?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3C1FBB-C7A2-CA5A-1921-EAAD9B41DC3F}"/>
              </a:ext>
            </a:extLst>
          </p:cNvPr>
          <p:cNvSpPr txBox="1"/>
          <p:nvPr/>
        </p:nvSpPr>
        <p:spPr>
          <a:xfrm>
            <a:off x="1981200" y="21336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Student s1(“Tom”, 20), s2(“Bob”, 21), </a:t>
            </a:r>
            <a:r>
              <a:rPr lang="en-US" altLang="zh-CN" dirty="0" err="1">
                <a:latin typeface="Courier New" pitchFamily="49" charset="0"/>
              </a:rPr>
              <a:t>stu_list</a:t>
            </a:r>
            <a:r>
              <a:rPr lang="en-US" altLang="zh-CN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err="1">
                <a:latin typeface="Courier New" pitchFamily="49" charset="0"/>
              </a:rPr>
              <a:t>stu_list</a:t>
            </a:r>
            <a:r>
              <a:rPr lang="en-US" altLang="zh-CN" dirty="0">
                <a:latin typeface="Courier New" pitchFamily="49" charset="0"/>
              </a:rPr>
              <a:t> = s1 + s2;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“Tom-Bob”, 41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511AE1DB-F860-E7DD-11FA-34D6125304F0}"/>
              </a:ext>
            </a:extLst>
          </p:cNvPr>
          <p:cNvSpPr txBox="1"/>
          <p:nvPr/>
        </p:nvSpPr>
        <p:spPr>
          <a:xfrm>
            <a:off x="1975413" y="3544669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Student s1(“Tom”, 20), s2;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</a:rPr>
              <a:t>s2 = s1 + 5;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“Tom-5”, 25</a:t>
            </a: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214CA3DC-EE44-06E1-8EE5-DEA95A7C83C1}"/>
              </a:ext>
            </a:extLst>
          </p:cNvPr>
          <p:cNvSpPr txBox="1"/>
          <p:nvPr/>
        </p:nvSpPr>
        <p:spPr>
          <a:xfrm>
            <a:off x="1510496" y="4741167"/>
            <a:ext cx="6934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Student operator+(const Student &amp;s, int n)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Student temp;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</a:t>
            </a:r>
            <a:r>
              <a:rPr lang="en-US" altLang="zh-CN" sz="1400" dirty="0" err="1">
                <a:latin typeface="Courier New" pitchFamily="49" charset="0"/>
              </a:rPr>
              <a:t>temp.mName</a:t>
            </a:r>
            <a:r>
              <a:rPr lang="en-US" altLang="zh-CN" sz="1400" dirty="0">
                <a:latin typeface="Courier New" pitchFamily="49" charset="0"/>
              </a:rPr>
              <a:t> = </a:t>
            </a:r>
            <a:r>
              <a:rPr lang="en-US" altLang="zh-CN" sz="1400" dirty="0" err="1">
                <a:latin typeface="Courier New" pitchFamily="49" charset="0"/>
              </a:rPr>
              <a:t>s.mName</a:t>
            </a:r>
            <a:r>
              <a:rPr lang="en-US" altLang="zh-CN" sz="1400" dirty="0">
                <a:latin typeface="Courier New" pitchFamily="49" charset="0"/>
              </a:rPr>
              <a:t> + "-" + </a:t>
            </a:r>
            <a:r>
              <a:rPr lang="en-US" altLang="zh-CN" sz="1400" dirty="0" err="1">
                <a:latin typeface="Courier New" pitchFamily="49" charset="0"/>
              </a:rPr>
              <a:t>to_string</a:t>
            </a:r>
            <a:r>
              <a:rPr lang="en-US" altLang="zh-CN" sz="1400" dirty="0">
                <a:latin typeface="Courier New" pitchFamily="49" charset="0"/>
              </a:rPr>
              <a:t>(n);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</a:t>
            </a:r>
            <a:r>
              <a:rPr lang="en-US" altLang="zh-CN" sz="1400" dirty="0" err="1">
                <a:latin typeface="Courier New" pitchFamily="49" charset="0"/>
              </a:rPr>
              <a:t>temp.mAge</a:t>
            </a:r>
            <a:r>
              <a:rPr lang="en-US" altLang="zh-CN" sz="1400" dirty="0">
                <a:latin typeface="Courier New" pitchFamily="49" charset="0"/>
              </a:rPr>
              <a:t> = </a:t>
            </a:r>
            <a:r>
              <a:rPr lang="en-US" altLang="zh-CN" sz="1400" dirty="0" err="1">
                <a:latin typeface="Courier New" pitchFamily="49" charset="0"/>
              </a:rPr>
              <a:t>s.mAge</a:t>
            </a:r>
            <a:r>
              <a:rPr lang="en-US" altLang="zh-CN" sz="1400" dirty="0">
                <a:latin typeface="Courier New" pitchFamily="49" charset="0"/>
              </a:rPr>
              <a:t> + 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	return temp;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latin typeface="Courier New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D291B-4484-CD11-FD6C-D46F535D95A3}"/>
              </a:ext>
            </a:extLst>
          </p:cNvPr>
          <p:cNvSpPr txBox="1"/>
          <p:nvPr/>
        </p:nvSpPr>
        <p:spPr>
          <a:xfrm>
            <a:off x="907441" y="6460251"/>
            <a:ext cx="1787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lec09-07-cout.cpp</a:t>
            </a:r>
          </a:p>
        </p:txBody>
      </p:sp>
    </p:spTree>
    <p:extLst>
      <p:ext uri="{BB962C8B-B14F-4D97-AF65-F5344CB8AC3E}">
        <p14:creationId xmlns:p14="http://schemas.microsoft.com/office/powerpoint/2010/main" val="177858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720D-4529-441A-A01E-6B33975CE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82A546-0C49-4D9A-9A88-96E7F28B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25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8917C-F743-417B-BEEE-71912D1AB1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operator()</a:t>
            </a:r>
            <a:r>
              <a:rPr lang="en-US" sz="2400" dirty="0"/>
              <a:t> – also known as </a:t>
            </a:r>
            <a:r>
              <a:rPr lang="en-US" sz="2400" dirty="0" err="1">
                <a:solidFill>
                  <a:srgbClr val="C00000"/>
                </a:solidFill>
              </a:rPr>
              <a:t>functor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Example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Course</a:t>
            </a:r>
            <a:r>
              <a:rPr lang="en-US" sz="2200" dirty="0"/>
              <a:t> and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CourseAvg</a:t>
            </a:r>
            <a:r>
              <a:rPr lang="en-US" sz="2200" dirty="0"/>
              <a:t> two classes</a:t>
            </a:r>
            <a:endParaRPr lang="en-HK" sz="2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A9BAFD-24FA-46F4-84D6-607FD5979444}"/>
              </a:ext>
            </a:extLst>
          </p:cNvPr>
          <p:cNvSpPr txBox="1"/>
          <p:nvPr/>
        </p:nvSpPr>
        <p:spPr>
          <a:xfrm>
            <a:off x="1763486" y="2819400"/>
            <a:ext cx="520881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Course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  Course (int </a:t>
            </a:r>
            <a:r>
              <a:rPr lang="en-US" altLang="zh-TW" sz="1000" dirty="0" err="1">
                <a:latin typeface="Courier New" pitchFamily="49" charset="0"/>
              </a:rPr>
              <a:t>i</a:t>
            </a:r>
            <a:r>
              <a:rPr lang="en-US" altLang="zh-TW" sz="1000" dirty="0">
                <a:latin typeface="Courier New" pitchFamily="49" charset="0"/>
              </a:rPr>
              <a:t>, int s): id(</a:t>
            </a:r>
            <a:r>
              <a:rPr lang="en-US" altLang="zh-TW" sz="1000" dirty="0" err="1">
                <a:latin typeface="Courier New" pitchFamily="49" charset="0"/>
              </a:rPr>
              <a:t>i</a:t>
            </a:r>
            <a:r>
              <a:rPr lang="en-US" altLang="zh-TW" sz="1000" dirty="0">
                <a:latin typeface="Courier New" pitchFamily="49" charset="0"/>
              </a:rPr>
              <a:t>), score(s)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  int id;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  double score;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6ED956A1-C504-402C-B61F-2BA03261D87D}"/>
              </a:ext>
            </a:extLst>
          </p:cNvPr>
          <p:cNvSpPr txBox="1"/>
          <p:nvPr/>
        </p:nvSpPr>
        <p:spPr>
          <a:xfrm>
            <a:off x="1752600" y="3932873"/>
            <a:ext cx="52197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</a:t>
            </a:r>
            <a:r>
              <a:rPr lang="en-US" altLang="zh-TW" sz="1000" dirty="0" err="1">
                <a:latin typeface="Courier New" pitchFamily="49" charset="0"/>
              </a:rPr>
              <a:t>CourseAvg</a:t>
            </a:r>
            <a:r>
              <a:rPr lang="en-US" altLang="zh-TW" sz="1000" dirty="0">
                <a:latin typeface="Courier New" pitchFamily="49" charset="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  double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operator()</a:t>
            </a:r>
            <a:r>
              <a:rPr lang="en-US" altLang="zh-TW" sz="1000" dirty="0">
                <a:latin typeface="Courier New" pitchFamily="49" charset="0"/>
              </a:rPr>
              <a:t>(const Course &amp;c1, const Course &amp;c2);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double </a:t>
            </a:r>
            <a:r>
              <a:rPr lang="en-US" altLang="zh-TW" sz="1000" dirty="0" err="1">
                <a:latin typeface="Courier New" pitchFamily="49" charset="0"/>
              </a:rPr>
              <a:t>CourseAvg</a:t>
            </a:r>
            <a:r>
              <a:rPr lang="en-US" altLang="zh-TW" sz="1000" dirty="0">
                <a:latin typeface="Courier New" pitchFamily="49" charset="0"/>
              </a:rPr>
              <a:t>::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operator()</a:t>
            </a:r>
            <a:r>
              <a:rPr lang="en-US" altLang="zh-TW" sz="1000" dirty="0">
                <a:latin typeface="Courier New" pitchFamily="49" charset="0"/>
              </a:rPr>
              <a:t>(const Course &amp;c1, const Course &amp;c2)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return (c1.score + c2.score) / 2.0;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A7CE3A72-E7C1-41A0-968F-C87FE52C61C0}"/>
              </a:ext>
            </a:extLst>
          </p:cNvPr>
          <p:cNvSpPr txBox="1"/>
          <p:nvPr/>
        </p:nvSpPr>
        <p:spPr>
          <a:xfrm>
            <a:off x="1752600" y="5383649"/>
            <a:ext cx="5219700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Course c1(1111, 90), c2(2222, 95);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CourseAvg</a:t>
            </a:r>
            <a:r>
              <a:rPr lang="en-US" altLang="zh-TW" sz="1000" dirty="0">
                <a:latin typeface="Courier New" pitchFamily="49" charset="0"/>
              </a:rPr>
              <a:t> </a:t>
            </a:r>
            <a:r>
              <a:rPr lang="en-US" altLang="zh-TW" sz="1000" dirty="0" err="1">
                <a:latin typeface="Courier New" pitchFamily="49" charset="0"/>
              </a:rPr>
              <a:t>myAvg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</a:t>
            </a:r>
            <a:r>
              <a:rPr lang="en-US" altLang="zh-TW" sz="1000" dirty="0" err="1">
                <a:solidFill>
                  <a:srgbClr val="FF0000"/>
                </a:solidFill>
                <a:latin typeface="Courier New" pitchFamily="49" charset="0"/>
              </a:rPr>
              <a:t>myAvg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(c1, c2) </a:t>
            </a:r>
            <a:r>
              <a:rPr lang="en-US" altLang="zh-TW" sz="1000" dirty="0">
                <a:latin typeface="Courier New" pitchFamily="49" charset="0"/>
              </a:rPr>
              <a:t>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EDB87-C9E3-487B-921F-B250882A66AC}"/>
              </a:ext>
            </a:extLst>
          </p:cNvPr>
          <p:cNvSpPr txBox="1"/>
          <p:nvPr/>
        </p:nvSpPr>
        <p:spPr>
          <a:xfrm>
            <a:off x="609600" y="6535579"/>
            <a:ext cx="19688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lec09-08-functor.cpp</a:t>
            </a:r>
          </a:p>
        </p:txBody>
      </p:sp>
    </p:spTree>
    <p:extLst>
      <p:ext uri="{BB962C8B-B14F-4D97-AF65-F5344CB8AC3E}">
        <p14:creationId xmlns:p14="http://schemas.microsoft.com/office/powerpoint/2010/main" val="337984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26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C++ this pointer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Inheritance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Operator overloading</a:t>
            </a:r>
          </a:p>
          <a:p>
            <a:endParaRPr lang="en-US" dirty="0"/>
          </a:p>
          <a:p>
            <a:r>
              <a:rPr lang="en-US" dirty="0"/>
              <a:t>File I/O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989726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 vs. Console I/O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>
                <a:solidFill>
                  <a:srgbClr val="C00000"/>
                </a:solidFill>
              </a:rPr>
              <a:t>Console</a:t>
            </a:r>
            <a:r>
              <a:rPr lang="en-US" dirty="0"/>
              <a:t>” refers to “</a:t>
            </a:r>
            <a:r>
              <a:rPr lang="en-US" dirty="0">
                <a:solidFill>
                  <a:srgbClr val="7030A0"/>
                </a:solidFill>
              </a:rPr>
              <a:t>keyboard + screen</a:t>
            </a:r>
            <a:r>
              <a:rPr lang="en-US" dirty="0"/>
              <a:t>”</a:t>
            </a:r>
          </a:p>
          <a:p>
            <a:r>
              <a:rPr lang="en-US" dirty="0">
                <a:solidFill>
                  <a:srgbClr val="0070C0"/>
                </a:solidFill>
              </a:rPr>
              <a:t>Keyboard input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screen output</a:t>
            </a:r>
            <a:r>
              <a:rPr lang="en-US" dirty="0"/>
              <a:t> are </a:t>
            </a:r>
            <a:r>
              <a:rPr lang="en-US" b="1" dirty="0">
                <a:solidFill>
                  <a:srgbClr val="FF0000"/>
                </a:solidFill>
              </a:rPr>
              <a:t>volatile</a:t>
            </a:r>
          </a:p>
          <a:p>
            <a:r>
              <a:rPr lang="en-US" b="1" dirty="0"/>
              <a:t>Input file</a:t>
            </a:r>
            <a:r>
              <a:rPr lang="en-US" dirty="0"/>
              <a:t> can be used </a:t>
            </a:r>
            <a:r>
              <a:rPr lang="en-US" i="1" dirty="0">
                <a:solidFill>
                  <a:srgbClr val="7030A0"/>
                </a:solidFill>
              </a:rPr>
              <a:t>again and again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Useful</a:t>
            </a:r>
            <a:r>
              <a:rPr lang="en-US" dirty="0"/>
              <a:t> for </a:t>
            </a:r>
            <a:r>
              <a:rPr lang="en-US" dirty="0">
                <a:solidFill>
                  <a:srgbClr val="7030A0"/>
                </a:solidFill>
              </a:rPr>
              <a:t>debugging</a:t>
            </a:r>
            <a:r>
              <a:rPr lang="en-US" dirty="0"/>
              <a:t> especially when volume of data is huge</a:t>
            </a:r>
          </a:p>
          <a:p>
            <a:r>
              <a:rPr lang="en-US" dirty="0"/>
              <a:t>Allow </a:t>
            </a:r>
            <a:r>
              <a:rPr lang="en-US" dirty="0">
                <a:solidFill>
                  <a:srgbClr val="FF0000"/>
                </a:solidFill>
              </a:rPr>
              <a:t>off-line</a:t>
            </a:r>
            <a:r>
              <a:rPr lang="en-US" dirty="0"/>
              <a:t> processing</a:t>
            </a:r>
          </a:p>
          <a:p>
            <a:r>
              <a:rPr lang="en-US" b="1" dirty="0"/>
              <a:t>Output file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retains</a:t>
            </a:r>
            <a:r>
              <a:rPr lang="en-US" dirty="0"/>
              <a:t> the results after execution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0ACD4-385A-B3D8-3006-B52E46E29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4745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I/O – Keyboard and Screen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2362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Program </a:t>
            </a:r>
            <a:r>
              <a:rPr lang="en-US" b="1" dirty="0"/>
              <a:t>read input</a:t>
            </a:r>
            <a:r>
              <a:rPr lang="en-US" dirty="0"/>
              <a:t> from </a:t>
            </a:r>
            <a:r>
              <a:rPr lang="en-US" dirty="0">
                <a:solidFill>
                  <a:srgbClr val="C00000"/>
                </a:solidFill>
              </a:rPr>
              <a:t>keyboard</a:t>
            </a:r>
            <a:r>
              <a:rPr lang="en-US" dirty="0"/>
              <a:t> (</a:t>
            </a:r>
            <a:r>
              <a:rPr lang="en-US" b="1" dirty="0"/>
              <a:t>console</a:t>
            </a:r>
            <a:r>
              <a:rPr lang="en-US" dirty="0"/>
              <a:t>) or </a:t>
            </a:r>
            <a:r>
              <a:rPr lang="en-US" dirty="0">
                <a:solidFill>
                  <a:srgbClr val="0070C0"/>
                </a:solidFill>
              </a:rPr>
              <a:t>disk storage</a:t>
            </a:r>
            <a:r>
              <a:rPr lang="en-US" dirty="0"/>
              <a:t> (</a:t>
            </a:r>
            <a:r>
              <a:rPr lang="en-US" b="1" dirty="0"/>
              <a:t>file</a:t>
            </a:r>
            <a:r>
              <a:rPr lang="en-US" dirty="0"/>
              <a:t>) and </a:t>
            </a:r>
            <a:r>
              <a:rPr lang="en-US" b="1" dirty="0"/>
              <a:t>write data</a:t>
            </a:r>
            <a:r>
              <a:rPr lang="en-US" dirty="0"/>
              <a:t> to </a:t>
            </a:r>
            <a:r>
              <a:rPr lang="en-US" dirty="0">
                <a:solidFill>
                  <a:srgbClr val="00B050"/>
                </a:solidFill>
              </a:rPr>
              <a:t>screen</a:t>
            </a:r>
            <a:r>
              <a:rPr lang="en-US" dirty="0"/>
              <a:t> (</a:t>
            </a:r>
            <a:r>
              <a:rPr lang="en-US" b="1" dirty="0"/>
              <a:t>console</a:t>
            </a:r>
            <a:r>
              <a:rPr lang="en-US" dirty="0"/>
              <a:t>) or </a:t>
            </a:r>
            <a:r>
              <a:rPr lang="en-US" dirty="0">
                <a:solidFill>
                  <a:srgbClr val="7030A0"/>
                </a:solidFill>
              </a:rPr>
              <a:t>disk storage </a:t>
            </a:r>
            <a:r>
              <a:rPr lang="en-US" dirty="0"/>
              <a:t>(</a:t>
            </a:r>
            <a:r>
              <a:rPr lang="en-US" b="1" dirty="0"/>
              <a:t>file</a:t>
            </a:r>
            <a:r>
              <a:rPr lang="en-US" dirty="0"/>
              <a:t>)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Sequence of inputs</a:t>
            </a:r>
            <a:r>
              <a:rPr lang="en-US" dirty="0"/>
              <a:t> is </a:t>
            </a:r>
            <a:r>
              <a:rPr lang="en-US" dirty="0">
                <a:solidFill>
                  <a:srgbClr val="0070C0"/>
                </a:solidFill>
              </a:rPr>
              <a:t>conceptually</a:t>
            </a:r>
            <a:r>
              <a:rPr lang="en-US" dirty="0"/>
              <a:t> treated as an object called “</a:t>
            </a:r>
            <a:r>
              <a:rPr lang="en-US" b="1" dirty="0"/>
              <a:t>Stream</a:t>
            </a:r>
            <a:r>
              <a:rPr lang="en-US" dirty="0"/>
              <a:t>”</a:t>
            </a:r>
          </a:p>
          <a:p>
            <a:r>
              <a:rPr lang="en-US" dirty="0"/>
              <a:t>Stream – a flow (sequence) of data</a:t>
            </a:r>
          </a:p>
          <a:p>
            <a:pPr lvl="1"/>
            <a:r>
              <a:rPr lang="en-US" b="1" dirty="0"/>
              <a:t>Input </a:t>
            </a:r>
            <a:r>
              <a:rPr lang="en-US" b="1" i="1" dirty="0"/>
              <a:t>stream</a:t>
            </a:r>
            <a:r>
              <a:rPr lang="en-US" dirty="0"/>
              <a:t> – a flow of data </a:t>
            </a:r>
            <a:r>
              <a:rPr lang="en-US" dirty="0">
                <a:solidFill>
                  <a:srgbClr val="FF0000"/>
                </a:solidFill>
              </a:rPr>
              <a:t>into</a:t>
            </a:r>
            <a:r>
              <a:rPr lang="en-US" dirty="0"/>
              <a:t> your program</a:t>
            </a:r>
          </a:p>
          <a:p>
            <a:pPr lvl="1"/>
            <a:r>
              <a:rPr lang="en-US" b="1" dirty="0"/>
              <a:t>Output </a:t>
            </a:r>
            <a:r>
              <a:rPr lang="en-US" b="1" i="1" dirty="0"/>
              <a:t>stream</a:t>
            </a:r>
            <a:r>
              <a:rPr lang="en-US" dirty="0"/>
              <a:t> – a flow of data </a:t>
            </a:r>
            <a:r>
              <a:rPr lang="en-US" dirty="0">
                <a:solidFill>
                  <a:srgbClr val="FF0000"/>
                </a:solidFill>
              </a:rPr>
              <a:t>out</a:t>
            </a:r>
            <a:r>
              <a:rPr lang="en-US" dirty="0"/>
              <a:t> of your program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752600" y="3886200"/>
          <a:ext cx="6096000" cy="254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195536" imgH="3843314" progId="Visio.Drawing.11">
                  <p:embed/>
                </p:oleObj>
              </mc:Choice>
              <mc:Fallback>
                <p:oleObj name="Visio" r:id="rId3" imgW="9195536" imgH="3843314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886200"/>
                        <a:ext cx="6096000" cy="2547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7863B-5A5B-A3F5-F03F-246F359B4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2819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502920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C00000"/>
                </a:solidFill>
              </a:rPr>
              <a:t>Predefined</a:t>
            </a:r>
            <a:r>
              <a:rPr lang="en-US" dirty="0"/>
              <a:t> console streams in C++</a:t>
            </a:r>
          </a:p>
          <a:p>
            <a:pPr lvl="1"/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 lvl="1"/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 :	input stream physically linked to the keyboard</a:t>
            </a:r>
          </a:p>
          <a:p>
            <a:pPr lvl="1"/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:	output stream physically linked to the screen</a:t>
            </a:r>
          </a:p>
          <a:p>
            <a:pPr lvl="1"/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File streams class in C++ </a:t>
            </a:r>
          </a:p>
          <a:p>
            <a:pPr lvl="1"/>
            <a:r>
              <a:rPr lang="en-US" dirty="0"/>
              <a:t>#include &lt;</a:t>
            </a:r>
            <a:r>
              <a:rPr lang="en-US" dirty="0" err="1"/>
              <a:t>fstream</a:t>
            </a:r>
            <a:r>
              <a:rPr lang="en-US" dirty="0"/>
              <a:t>&gt;</a:t>
            </a:r>
          </a:p>
          <a:p>
            <a:pPr lvl="1"/>
            <a:r>
              <a:rPr lang="en-US" sz="2200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ifstream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:	stream 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 for file input</a:t>
            </a:r>
          </a:p>
          <a:p>
            <a:pPr lvl="1"/>
            <a:r>
              <a:rPr lang="en-US" sz="22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ofstream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:	stream 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 for file output</a:t>
            </a:r>
          </a:p>
          <a:p>
            <a:pPr lvl="1"/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To declare an </a:t>
            </a:r>
            <a:r>
              <a:rPr lang="en-US" dirty="0">
                <a:solidFill>
                  <a:srgbClr val="C00000"/>
                </a:solidFill>
              </a:rPr>
              <a:t>object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class</a:t>
            </a:r>
            <a:r>
              <a:rPr lang="en-US" dirty="0"/>
              <a:t> </a:t>
            </a:r>
            <a:r>
              <a:rPr lang="en-US" dirty="0" err="1"/>
              <a:t>ifstream</a:t>
            </a:r>
            <a:r>
              <a:rPr lang="en-US" dirty="0"/>
              <a:t> or </a:t>
            </a:r>
            <a:r>
              <a:rPr lang="en-US" dirty="0" err="1"/>
              <a:t>ofstream</a:t>
            </a:r>
            <a:r>
              <a:rPr lang="en-US" dirty="0"/>
              <a:t>, use</a:t>
            </a:r>
          </a:p>
          <a:p>
            <a:pPr lvl="1"/>
            <a:r>
              <a:rPr lang="en-US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ifstream</a:t>
            </a:r>
            <a:r>
              <a:rPr lang="en-US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fin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  //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fin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a variable name</a:t>
            </a:r>
          </a:p>
          <a:p>
            <a:pPr lvl="1"/>
            <a:r>
              <a:rPr lang="en-US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ofstream</a:t>
            </a:r>
            <a:r>
              <a:rPr lang="en-US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 //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a variable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B0EAF-731A-2DFC-AF68-3D368968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067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ifstream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dirty="0">
                <a:solidFill>
                  <a:srgbClr val="0070C0"/>
                </a:solidFill>
              </a:rPr>
              <a:t>declare</a:t>
            </a:r>
            <a:r>
              <a:rPr lang="en-US" dirty="0"/>
              <a:t> an </a:t>
            </a:r>
            <a:r>
              <a:rPr lang="en-US" dirty="0" err="1"/>
              <a:t>ifsteam</a:t>
            </a:r>
            <a:r>
              <a:rPr lang="en-US" dirty="0"/>
              <a:t> object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ifstream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/>
              <a:t>fin</a:t>
            </a:r>
            <a:r>
              <a:rPr lang="en-US" dirty="0"/>
              <a:t>;</a:t>
            </a:r>
          </a:p>
          <a:p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open</a:t>
            </a:r>
            <a:r>
              <a:rPr lang="en-US" dirty="0"/>
              <a:t> a file for reading</a:t>
            </a:r>
          </a:p>
          <a:p>
            <a:pPr lvl="1"/>
            <a:r>
              <a:rPr lang="en-US" b="1" dirty="0" err="1"/>
              <a:t>fin.</a:t>
            </a:r>
            <a:r>
              <a:rPr lang="en-US" b="1" i="1" dirty="0" err="1"/>
              <a:t>open</a:t>
            </a:r>
            <a:r>
              <a:rPr lang="en-US" dirty="0"/>
              <a:t>(“infile.dat”);</a:t>
            </a:r>
          </a:p>
          <a:p>
            <a:r>
              <a:rPr lang="en-US" dirty="0"/>
              <a:t>To </a:t>
            </a:r>
            <a:r>
              <a:rPr lang="en-US" dirty="0">
                <a:solidFill>
                  <a:srgbClr val="0070C0"/>
                </a:solidFill>
              </a:rPr>
              <a:t>read</a:t>
            </a:r>
            <a:r>
              <a:rPr lang="en-US" dirty="0"/>
              <a:t> the file content</a:t>
            </a:r>
          </a:p>
          <a:p>
            <a:pPr lvl="1"/>
            <a:r>
              <a:rPr lang="en-US" b="1" dirty="0"/>
              <a:t>fin</a:t>
            </a:r>
            <a:r>
              <a:rPr lang="en-US" dirty="0"/>
              <a:t> &gt;&gt; x;		// x is a variable</a:t>
            </a:r>
          </a:p>
          <a:p>
            <a:r>
              <a:rPr lang="en-US" dirty="0"/>
              <a:t>To </a:t>
            </a:r>
            <a:r>
              <a:rPr lang="en-US" dirty="0">
                <a:solidFill>
                  <a:srgbClr val="00B050"/>
                </a:solidFill>
              </a:rPr>
              <a:t>close</a:t>
            </a:r>
            <a:r>
              <a:rPr lang="en-US" dirty="0"/>
              <a:t> the file</a:t>
            </a:r>
          </a:p>
          <a:p>
            <a:pPr lvl="1"/>
            <a:r>
              <a:rPr lang="en-US" b="1" dirty="0" err="1"/>
              <a:t>fin.</a:t>
            </a:r>
            <a:r>
              <a:rPr lang="en-US" b="1" i="1" dirty="0" err="1"/>
              <a:t>close</a:t>
            </a:r>
            <a:r>
              <a:rPr lang="en-US" dirty="0"/>
              <a:t>();</a:t>
            </a:r>
          </a:p>
          <a:p>
            <a:pPr lvl="1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72200" y="5257800"/>
            <a:ext cx="1947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092BB-F0A2-5B0B-C08E-88CA0408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30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30869-0A26-74DC-B69E-488029AA819C}"/>
              </a:ext>
            </a:extLst>
          </p:cNvPr>
          <p:cNvSpPr txBox="1"/>
          <p:nvPr/>
        </p:nvSpPr>
        <p:spPr>
          <a:xfrm>
            <a:off x="907441" y="6460251"/>
            <a:ext cx="20409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lec09-09-ifstream.cpp</a:t>
            </a:r>
          </a:p>
        </p:txBody>
      </p:sp>
    </p:spTree>
    <p:extLst>
      <p:ext uri="{BB962C8B-B14F-4D97-AF65-F5344CB8AC3E}">
        <p14:creationId xmlns:p14="http://schemas.microsoft.com/office/powerpoint/2010/main" val="12208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ofstream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953000"/>
          </a:xfrm>
        </p:spPr>
        <p:txBody>
          <a:bodyPr/>
          <a:lstStyle/>
          <a:p>
            <a:r>
              <a:rPr lang="en-US" dirty="0"/>
              <a:t>To </a:t>
            </a:r>
            <a:r>
              <a:rPr lang="en-US" dirty="0">
                <a:solidFill>
                  <a:srgbClr val="0070C0"/>
                </a:solidFill>
              </a:rPr>
              <a:t>declare</a:t>
            </a:r>
            <a:r>
              <a:rPr lang="en-US" dirty="0"/>
              <a:t> an </a:t>
            </a:r>
            <a:r>
              <a:rPr lang="en-US" dirty="0" err="1"/>
              <a:t>ofsteam</a:t>
            </a:r>
            <a:r>
              <a:rPr lang="en-US" dirty="0"/>
              <a:t> object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ofstream</a:t>
            </a:r>
            <a:r>
              <a:rPr lang="en-US" dirty="0"/>
              <a:t> </a:t>
            </a:r>
            <a:r>
              <a:rPr lang="en-US" b="1" dirty="0" err="1"/>
              <a:t>fout</a:t>
            </a:r>
            <a:r>
              <a:rPr lang="en-US" dirty="0"/>
              <a:t>;</a:t>
            </a:r>
          </a:p>
          <a:p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open</a:t>
            </a:r>
            <a:r>
              <a:rPr lang="en-US" dirty="0"/>
              <a:t> a file for writing</a:t>
            </a:r>
          </a:p>
          <a:p>
            <a:pPr lvl="1"/>
            <a:r>
              <a:rPr lang="en-US" b="1" dirty="0" err="1"/>
              <a:t>fout.</a:t>
            </a:r>
            <a:r>
              <a:rPr lang="en-US" b="1" i="1" dirty="0" err="1"/>
              <a:t>open</a:t>
            </a:r>
            <a:r>
              <a:rPr lang="en-US" dirty="0"/>
              <a:t>(“myfile.dat”) ;</a:t>
            </a:r>
          </a:p>
          <a:p>
            <a:r>
              <a:rPr lang="en-US" dirty="0"/>
              <a:t>To </a:t>
            </a:r>
            <a:r>
              <a:rPr lang="en-US" dirty="0">
                <a:solidFill>
                  <a:srgbClr val="0070C0"/>
                </a:solidFill>
              </a:rPr>
              <a:t>write</a:t>
            </a:r>
            <a:r>
              <a:rPr lang="en-US" dirty="0"/>
              <a:t> something to the file</a:t>
            </a:r>
          </a:p>
          <a:p>
            <a:pPr lvl="1"/>
            <a:r>
              <a:rPr lang="en-US" b="1" dirty="0" err="1"/>
              <a:t>fout</a:t>
            </a:r>
            <a:r>
              <a:rPr lang="en-US" dirty="0"/>
              <a:t> &lt;&lt; x;		//x is a variable</a:t>
            </a:r>
          </a:p>
          <a:p>
            <a:r>
              <a:rPr lang="en-US" dirty="0"/>
              <a:t>To </a:t>
            </a:r>
            <a:r>
              <a:rPr lang="en-US" dirty="0">
                <a:solidFill>
                  <a:srgbClr val="00B050"/>
                </a:solidFill>
              </a:rPr>
              <a:t>close</a:t>
            </a:r>
            <a:r>
              <a:rPr lang="en-US" dirty="0"/>
              <a:t> the file</a:t>
            </a:r>
          </a:p>
          <a:p>
            <a:pPr lvl="1"/>
            <a:r>
              <a:rPr lang="en-US" b="1" dirty="0" err="1"/>
              <a:t>fout.</a:t>
            </a:r>
            <a:r>
              <a:rPr lang="en-US" b="1" i="1" dirty="0" err="1"/>
              <a:t>close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PS: </a:t>
            </a:r>
            <a:r>
              <a:rPr lang="en-US" b="1" dirty="0" err="1"/>
              <a:t>fin.</a:t>
            </a:r>
            <a:r>
              <a:rPr lang="en-US" b="1" i="1" dirty="0" err="1"/>
              <a:t>open</a:t>
            </a:r>
            <a:r>
              <a:rPr lang="en-US" dirty="0"/>
              <a:t>() and </a:t>
            </a:r>
            <a:r>
              <a:rPr lang="en-US" b="1" dirty="0" err="1"/>
              <a:t>fout.</a:t>
            </a:r>
            <a:r>
              <a:rPr lang="en-US" b="1" i="1" dirty="0" err="1"/>
              <a:t>open</a:t>
            </a:r>
            <a:r>
              <a:rPr lang="en-US" dirty="0"/>
              <a:t>() refer to </a:t>
            </a:r>
            <a:r>
              <a:rPr lang="en-US" b="1" dirty="0"/>
              <a:t>different</a:t>
            </a:r>
            <a:r>
              <a:rPr lang="en-US" dirty="0"/>
              <a:t> functions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E5FE8-0C44-938C-EC28-B13EEA33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540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noFill/>
          <a:ln>
            <a:solidFill>
              <a:schemeClr val="accent2"/>
            </a:solidFill>
            <a:prstDash val="dash"/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fstream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main(){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ifstream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fin;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ofstream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x,y,z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fin.open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("input.txt");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fout.open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("output.txt");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fin &gt;&gt;x&gt;&gt;y&gt;&gt;z;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&lt;&lt; “The sum is “&lt;&lt;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x+y+z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fin.close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fout.close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4800600" y="5867400"/>
            <a:ext cx="3505200" cy="533400"/>
          </a:xfrm>
          <a:prstGeom prst="wedgeRoundRectCallout">
            <a:avLst>
              <a:gd name="adj1" fmla="val -69316"/>
              <a:gd name="adj2" fmla="val -1068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sum is 14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6477000" y="2133600"/>
            <a:ext cx="2209800" cy="533400"/>
          </a:xfrm>
          <a:prstGeom prst="wedgeRoundRectCallout">
            <a:avLst>
              <a:gd name="adj1" fmla="val -99630"/>
              <a:gd name="adj2" fmla="val 21981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3 4 7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97DD1-27D1-83C3-4EAA-57588623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0086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 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open file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represented</a:t>
            </a:r>
            <a:r>
              <a:rPr lang="en-US" dirty="0"/>
              <a:t> within a program by a </a:t>
            </a:r>
            <a:r>
              <a:rPr lang="en-US" b="1" dirty="0"/>
              <a:t>stream</a:t>
            </a:r>
            <a:r>
              <a:rPr lang="en-US" dirty="0"/>
              <a:t> (i.e. an </a:t>
            </a:r>
            <a:r>
              <a:rPr lang="en-US" dirty="0">
                <a:solidFill>
                  <a:srgbClr val="7030A0"/>
                </a:solidFill>
              </a:rPr>
              <a:t>object</a:t>
            </a:r>
            <a:r>
              <a:rPr lang="en-US" dirty="0"/>
              <a:t> of </a:t>
            </a:r>
            <a:r>
              <a:rPr lang="en-US" b="1" dirty="0" err="1"/>
              <a:t>ifstream</a:t>
            </a:r>
            <a:r>
              <a:rPr lang="en-US" dirty="0"/>
              <a:t> or </a:t>
            </a:r>
            <a:r>
              <a:rPr lang="en-US" b="1" dirty="0" err="1"/>
              <a:t>ofstream</a:t>
            </a:r>
            <a:r>
              <a:rPr lang="en-US" dirty="0"/>
              <a:t>), and </a:t>
            </a:r>
          </a:p>
          <a:p>
            <a:endParaRPr lang="en-US" dirty="0"/>
          </a:p>
          <a:p>
            <a:r>
              <a:rPr lang="en-US" dirty="0"/>
              <a:t>Any </a:t>
            </a:r>
            <a:r>
              <a:rPr lang="en-US" b="1" dirty="0"/>
              <a:t>I/O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performed</a:t>
            </a:r>
            <a:r>
              <a:rPr lang="en-US" dirty="0"/>
              <a:t> on this </a:t>
            </a:r>
            <a:r>
              <a:rPr lang="en-US" dirty="0">
                <a:solidFill>
                  <a:srgbClr val="7030A0"/>
                </a:solidFill>
              </a:rPr>
              <a:t>stream object</a:t>
            </a:r>
            <a:r>
              <a:rPr lang="en-US" dirty="0"/>
              <a:t> will be applied to the </a:t>
            </a:r>
            <a:r>
              <a:rPr lang="en-US" b="1" dirty="0"/>
              <a:t>file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associated</a:t>
            </a:r>
            <a:r>
              <a:rPr lang="en-US" dirty="0"/>
              <a:t> with it</a:t>
            </a:r>
          </a:p>
          <a:p>
            <a:endParaRPr lang="en-US" dirty="0"/>
          </a:p>
          <a:p>
            <a:r>
              <a:rPr lang="en-US" dirty="0"/>
              <a:t>To open a file, use the member function </a:t>
            </a:r>
            <a:r>
              <a:rPr lang="en-US" dirty="0">
                <a:solidFill>
                  <a:srgbClr val="FF0000"/>
                </a:solidFill>
              </a:rPr>
              <a:t>open</a:t>
            </a:r>
            <a:r>
              <a:rPr lang="en-US" dirty="0"/>
              <a:t> with the stream object: </a:t>
            </a:r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open(filename, mode);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filename: a string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mode: optional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43898-B9AF-4D56-1DF1-D3A1CA97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218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Modes for file I/O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/>
          <a:srcRect t="-21318" b="-21318"/>
          <a:stretch>
            <a:fillRect/>
          </a:stretch>
        </p:blipFill>
        <p:spPr>
          <a:xfrm>
            <a:off x="990600" y="1524000"/>
            <a:ext cx="7620000" cy="2971800"/>
          </a:xfrm>
        </p:spPr>
      </p:pic>
      <p:sp>
        <p:nvSpPr>
          <p:cNvPr id="11" name="Rectangle 10"/>
          <p:cNvSpPr/>
          <p:nvPr/>
        </p:nvSpPr>
        <p:spPr>
          <a:xfrm>
            <a:off x="990600" y="4419600"/>
            <a:ext cx="7239000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Example: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urier New"/>
                <a:cs typeface="Courier New"/>
              </a:rPr>
              <a:t>ofstream</a:t>
            </a:r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b="1" dirty="0" err="1">
                <a:latin typeface="Courier New"/>
                <a:cs typeface="Courier New"/>
              </a:rPr>
              <a:t>fout</a:t>
            </a:r>
            <a:r>
              <a:rPr lang="en-US" sz="2400" dirty="0">
                <a:latin typeface="Courier New"/>
                <a:cs typeface="Courier New"/>
              </a:rPr>
              <a:t>;</a:t>
            </a:r>
          </a:p>
          <a:p>
            <a:r>
              <a:rPr lang="en-US" sz="2400" b="1" dirty="0" err="1">
                <a:latin typeface="Courier New"/>
                <a:cs typeface="Courier New"/>
              </a:rPr>
              <a:t>fout.</a:t>
            </a:r>
            <a:r>
              <a:rPr lang="en-US" sz="2400" b="1" i="1" dirty="0" err="1">
                <a:latin typeface="Courier New"/>
                <a:cs typeface="Courier New"/>
              </a:rPr>
              <a:t>open</a:t>
            </a:r>
            <a:r>
              <a:rPr lang="en-US" sz="2400" dirty="0">
                <a:latin typeface="Courier New"/>
                <a:cs typeface="Courier New"/>
              </a:rPr>
              <a:t>(</a:t>
            </a:r>
            <a:r>
              <a:rPr lang="en-US" sz="2400" dirty="0" err="1">
                <a:latin typeface="Courier New"/>
                <a:cs typeface="Courier New"/>
              </a:rPr>
              <a:t>image_filename,ios</a:t>
            </a:r>
            <a:r>
              <a:rPr lang="en-US" sz="2400" dirty="0">
                <a:latin typeface="Courier New"/>
                <a:cs typeface="Courier New"/>
              </a:rPr>
              <a:t>::binary);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D2B8E-D473-F3A5-8A24-6684BAEC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268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I/O failures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Member function </a:t>
            </a:r>
            <a:r>
              <a:rPr lang="en-US" b="1" i="1" dirty="0"/>
              <a:t>fail</a:t>
            </a:r>
            <a:r>
              <a:rPr lang="en-US" dirty="0"/>
              <a:t>() returns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if and only if the </a:t>
            </a:r>
            <a:r>
              <a:rPr lang="en-US" dirty="0">
                <a:solidFill>
                  <a:srgbClr val="0070C0"/>
                </a:solidFill>
              </a:rPr>
              <a:t>previous</a:t>
            </a:r>
            <a:r>
              <a:rPr lang="en-US" dirty="0"/>
              <a:t> I/O operation on that stream </a:t>
            </a:r>
            <a:r>
              <a:rPr lang="en-US" dirty="0">
                <a:solidFill>
                  <a:srgbClr val="7030A0"/>
                </a:solidFill>
              </a:rPr>
              <a:t>fails</a:t>
            </a:r>
          </a:p>
          <a:p>
            <a:pPr lvl="1"/>
            <a:r>
              <a:rPr lang="en-US" dirty="0"/>
              <a:t>E.g. file not exists when opening an input stream</a:t>
            </a:r>
          </a:p>
          <a:p>
            <a:endParaRPr lang="en-US" dirty="0"/>
          </a:p>
          <a:p>
            <a:r>
              <a:rPr lang="en-US" dirty="0"/>
              <a:t>PS: one may call function </a:t>
            </a:r>
            <a:r>
              <a:rPr lang="en-US" b="1" i="1" dirty="0"/>
              <a:t>exit</a:t>
            </a:r>
            <a:r>
              <a:rPr lang="en-US" dirty="0"/>
              <a:t>() when an I/O operation </a:t>
            </a:r>
            <a:r>
              <a:rPr lang="en-US" dirty="0">
                <a:solidFill>
                  <a:srgbClr val="C00000"/>
                </a:solidFill>
              </a:rPr>
              <a:t>fails</a:t>
            </a:r>
            <a:r>
              <a:rPr lang="en-US" dirty="0"/>
              <a:t> to </a:t>
            </a:r>
            <a:r>
              <a:rPr lang="en-US" dirty="0">
                <a:solidFill>
                  <a:srgbClr val="7030A0"/>
                </a:solidFill>
              </a:rPr>
              <a:t>abort</a:t>
            </a:r>
            <a:r>
              <a:rPr lang="en-US" dirty="0"/>
              <a:t> the program execution</a:t>
            </a:r>
          </a:p>
          <a:p>
            <a:endParaRPr lang="en-US" dirty="0"/>
          </a:p>
          <a:p>
            <a:r>
              <a:rPr lang="en-US" dirty="0"/>
              <a:t>The argument in exit() is returned to the calling party -- usually the OS</a:t>
            </a:r>
          </a:p>
          <a:p>
            <a:endParaRPr lang="en-US" dirty="0"/>
          </a:p>
          <a:p>
            <a:r>
              <a:rPr lang="en-US" dirty="0"/>
              <a:t>Important to check I/O </a:t>
            </a:r>
            <a:r>
              <a:rPr lang="en-US"/>
              <a:t>failures in I/O </a:t>
            </a:r>
            <a:r>
              <a:rPr lang="en-US" dirty="0"/>
              <a:t>operations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2A828-7951-7839-0B89-47573FDF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914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noFill/>
          <a:ln>
            <a:solidFill>
              <a:schemeClr val="accent2"/>
            </a:solidFill>
            <a:prstDash val="dash"/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fstream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main(){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ifstream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in1, in2;</a:t>
            </a:r>
          </a:p>
          <a:p>
            <a:pPr marL="0" indent="0">
              <a:buNone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in1.open(“infile1.dat”);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in2.open(“infile2.dat”);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if (in1.fail()) {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&lt;&lt; “Input file 1 opening failed.\n”;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exit(1);    // 1 stands for error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...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0AD0C-86DF-D2B8-2BA8-573C77F7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8696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end-of-file (EOF)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Member function 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eof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/>
              <a:t>returns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if and only if we reach the </a:t>
            </a:r>
            <a:r>
              <a:rPr lang="en-US" dirty="0">
                <a:solidFill>
                  <a:srgbClr val="7030A0"/>
                </a:solidFill>
              </a:rPr>
              <a:t>end</a:t>
            </a:r>
            <a:r>
              <a:rPr lang="en-US" dirty="0"/>
              <a:t> of the input file (no more data)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Only</a:t>
            </a:r>
            <a:r>
              <a:rPr lang="en-US" dirty="0"/>
              <a:t> for objects of class </a:t>
            </a:r>
            <a:r>
              <a:rPr lang="en-US" dirty="0" err="1">
                <a:solidFill>
                  <a:srgbClr val="FF0000"/>
                </a:solidFill>
              </a:rPr>
              <a:t>ifstream</a:t>
            </a:r>
            <a:endParaRPr lang="en-US" dirty="0">
              <a:solidFill>
                <a:srgbClr val="FF0000"/>
              </a:solidFill>
            </a:endParaRPr>
          </a:p>
          <a:p>
            <a:pPr marL="320040" lvl="1" indent="0">
              <a:buNone/>
            </a:pPr>
            <a:r>
              <a:rPr lang="en-US" dirty="0"/>
              <a:t>E.g.   fin &gt;&gt; x;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 err="1">
                <a:solidFill>
                  <a:srgbClr val="FF0000"/>
                </a:solidFill>
              </a:rPr>
              <a:t>fin.eof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) ...</a:t>
            </a:r>
          </a:p>
          <a:p>
            <a:r>
              <a:rPr lang="en-US" dirty="0"/>
              <a:t>The expression  </a:t>
            </a:r>
            <a:r>
              <a:rPr lang="en-US" i="1" dirty="0"/>
              <a:t>fin &gt;&gt; x</a:t>
            </a:r>
            <a:r>
              <a:rPr lang="en-US" dirty="0"/>
              <a:t> has value </a:t>
            </a:r>
            <a:r>
              <a:rPr lang="en-US" b="1" dirty="0"/>
              <a:t>0</a:t>
            </a:r>
            <a:r>
              <a:rPr lang="en-US" dirty="0"/>
              <a:t> if fin has no more data</a:t>
            </a:r>
          </a:p>
          <a:p>
            <a:pPr marL="320040" lvl="1" indent="0">
              <a:buNone/>
            </a:pPr>
            <a:r>
              <a:rPr lang="en-US" dirty="0"/>
              <a:t>E.g.    while (fin&gt;&gt; x) </a:t>
            </a:r>
          </a:p>
          <a:p>
            <a:pPr marL="0" indent="0">
              <a:buNone/>
            </a:pPr>
            <a:r>
              <a:rPr lang="en-US" dirty="0"/>
              <a:t>	        {...}	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A59E1-F87B-E742-7911-8000E5CE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37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0D445-0A7D-D048-6903-A2C4617BD36D}"/>
              </a:ext>
            </a:extLst>
          </p:cNvPr>
          <p:cNvSpPr txBox="1"/>
          <p:nvPr/>
        </p:nvSpPr>
        <p:spPr>
          <a:xfrm>
            <a:off x="907441" y="6460251"/>
            <a:ext cx="17652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lec09-10-EOF.cpp</a:t>
            </a:r>
          </a:p>
        </p:txBody>
      </p:sp>
    </p:spTree>
    <p:extLst>
      <p:ext uri="{BB962C8B-B14F-4D97-AF65-F5344CB8AC3E}">
        <p14:creationId xmlns:p14="http://schemas.microsoft.com/office/powerpoint/2010/main" val="65775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file dump (integer only)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5143500"/>
          </a:xfrm>
          <a:noFill/>
          <a:ln>
            <a:solidFill>
              <a:schemeClr val="accent2"/>
            </a:solidFill>
            <a:prstDash val="dash"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void main(){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ifstream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fin;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ofstream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x;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fin.open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input.txt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fout.open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(”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output.txt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if(!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fin.fail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 &amp;&amp; !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fout.fail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 {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while (!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fin.eof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()){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	fin &gt;&gt; x;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x &lt;&lt;" ";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D8DBE-52D1-F20C-6831-6161E566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294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file dump (integer only)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noFill/>
          <a:ln>
            <a:solidFill>
              <a:schemeClr val="accent2"/>
            </a:solidFill>
            <a:prstDash val="dash"/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fstream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main(){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ifstream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fin;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x;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fin.open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("input.txt");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while (fin &gt;&gt; x){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&lt;&lt;x&lt;&lt;" ";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6472646" y="3810000"/>
            <a:ext cx="2209800" cy="1066800"/>
          </a:xfrm>
          <a:prstGeom prst="wedgeRoundRectCallout">
            <a:avLst>
              <a:gd name="adj1" fmla="val -107314"/>
              <a:gd name="adj2" fmla="val 2835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0 if fin has no more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10373-61D7-6AEA-96D0-1652823B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B257E-5350-4DD4-BA74-EE5E9662074E}" type="slidenum">
              <a:rPr lang="zh-TW" altLang="en-US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7854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9D78-0D20-8909-89C4-211039AE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getline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94B44D-2581-A8A5-F0D3-7BC06CAC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40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27697-7D4B-5731-585B-C2BAEB9B413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/>
              <a:t> also has its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BBEBC1-238F-82D5-B785-E6E6D361379C}"/>
              </a:ext>
            </a:extLst>
          </p:cNvPr>
          <p:cNvSpPr txBox="1"/>
          <p:nvPr/>
        </p:nvSpPr>
        <p:spPr>
          <a:xfrm>
            <a:off x="1295400" y="2278082"/>
            <a:ext cx="6934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#include &lt;iostream&gt;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#include &lt;</a:t>
            </a:r>
            <a:r>
              <a:rPr lang="en-US" altLang="zh-CN" sz="1200" dirty="0" err="1">
                <a:latin typeface="Courier New" pitchFamily="49" charset="0"/>
              </a:rPr>
              <a:t>fstream</a:t>
            </a:r>
            <a:r>
              <a:rPr lang="en-US" altLang="zh-CN" sz="1200" dirty="0">
                <a:latin typeface="Courier New" pitchFamily="49" charset="0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using namespace std;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2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const int BUF_SIZE = 512;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2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</a:t>
            </a:r>
            <a:r>
              <a:rPr lang="en-US" altLang="zh-CN" sz="1200" dirty="0" err="1">
                <a:latin typeface="Courier New" pitchFamily="49" charset="0"/>
              </a:rPr>
              <a:t>ifstream</a:t>
            </a:r>
            <a:r>
              <a:rPr lang="en-US" altLang="zh-CN" sz="1200" dirty="0">
                <a:latin typeface="Courier New" pitchFamily="49" charset="0"/>
              </a:rPr>
              <a:t> fin;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</a:t>
            </a:r>
            <a:r>
              <a:rPr lang="en-US" altLang="zh-CN" sz="1200" dirty="0" err="1">
                <a:latin typeface="Courier New" pitchFamily="49" charset="0"/>
              </a:rPr>
              <a:t>fin.open</a:t>
            </a:r>
            <a:r>
              <a:rPr lang="en-US" altLang="zh-CN" sz="1200" dirty="0">
                <a:latin typeface="Courier New" pitchFamily="49" charset="0"/>
              </a:rPr>
              <a:t>("lec09-11-department.txt", </a:t>
            </a:r>
            <a:r>
              <a:rPr lang="en-US" altLang="zh-CN" sz="1200" dirty="0" err="1">
                <a:latin typeface="Courier New" pitchFamily="49" charset="0"/>
              </a:rPr>
              <a:t>ios</a:t>
            </a:r>
            <a:r>
              <a:rPr lang="en-US" altLang="zh-CN" sz="1200" dirty="0">
                <a:latin typeface="Courier New" pitchFamily="49" charset="0"/>
              </a:rPr>
              <a:t>::in);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if (</a:t>
            </a:r>
            <a:r>
              <a:rPr lang="en-US" altLang="zh-CN" sz="1200" dirty="0" err="1">
                <a:latin typeface="Courier New" pitchFamily="49" charset="0"/>
              </a:rPr>
              <a:t>fin.fail</a:t>
            </a:r>
            <a:r>
              <a:rPr lang="en-US" altLang="zh-CN" sz="1200" dirty="0">
                <a:latin typeface="Courier New" pitchFamily="49" charset="0"/>
              </a:rPr>
              <a:t>())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</a:t>
            </a:r>
            <a:r>
              <a:rPr lang="en-US" altLang="zh-CN" sz="1200" dirty="0" err="1">
                <a:latin typeface="Courier New" pitchFamily="49" charset="0"/>
              </a:rPr>
              <a:t>cout</a:t>
            </a:r>
            <a:r>
              <a:rPr lang="en-US" altLang="zh-CN" sz="1200" dirty="0">
                <a:latin typeface="Courier New" pitchFamily="49" charset="0"/>
              </a:rPr>
              <a:t> &lt;&lt; "open failed!" &lt;&lt; </a:t>
            </a:r>
            <a:r>
              <a:rPr lang="en-US" altLang="zh-CN" sz="1200" dirty="0" err="1">
                <a:latin typeface="Courier New" pitchFamily="49" charset="0"/>
              </a:rPr>
              <a:t>endl</a:t>
            </a:r>
            <a:r>
              <a:rPr lang="en-US" altLang="zh-CN" sz="12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exit(1);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2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char </a:t>
            </a:r>
            <a:r>
              <a:rPr lang="en-US" altLang="zh-CN" sz="1200" dirty="0" err="1">
                <a:latin typeface="Courier New" pitchFamily="49" charset="0"/>
              </a:rPr>
              <a:t>buf</a:t>
            </a:r>
            <a:r>
              <a:rPr lang="en-US" altLang="zh-CN" sz="1200" dirty="0">
                <a:latin typeface="Courier New" pitchFamily="49" charset="0"/>
              </a:rPr>
              <a:t>[BUF_SIZE] = { 0 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while(</a:t>
            </a:r>
            <a:r>
              <a:rPr lang="en-US" altLang="zh-CN" sz="1200" dirty="0" err="1">
                <a:latin typeface="Courier New" pitchFamily="49" charset="0"/>
              </a:rPr>
              <a:t>fin.getline</a:t>
            </a:r>
            <a:r>
              <a:rPr lang="en-US" altLang="zh-CN" sz="1200" dirty="0">
                <a:latin typeface="Courier New" pitchFamily="49" charset="0"/>
              </a:rPr>
              <a:t>(</a:t>
            </a:r>
            <a:r>
              <a:rPr lang="en-US" altLang="zh-CN" sz="1200" dirty="0" err="1">
                <a:latin typeface="Courier New" pitchFamily="49" charset="0"/>
              </a:rPr>
              <a:t>buf</a:t>
            </a:r>
            <a:r>
              <a:rPr lang="en-US" altLang="zh-CN" sz="1200" dirty="0">
                <a:latin typeface="Courier New" pitchFamily="49" charset="0"/>
              </a:rPr>
              <a:t>, </a:t>
            </a:r>
            <a:r>
              <a:rPr lang="en-US" altLang="zh-CN" sz="1200" dirty="0" err="1">
                <a:latin typeface="Courier New" pitchFamily="49" charset="0"/>
              </a:rPr>
              <a:t>sizeof</a:t>
            </a:r>
            <a:r>
              <a:rPr lang="en-US" altLang="zh-CN" sz="1200" dirty="0">
                <a:latin typeface="Courier New" pitchFamily="49" charset="0"/>
              </a:rPr>
              <a:t>(</a:t>
            </a:r>
            <a:r>
              <a:rPr lang="en-US" altLang="zh-CN" sz="1200" dirty="0" err="1">
                <a:latin typeface="Courier New" pitchFamily="49" charset="0"/>
              </a:rPr>
              <a:t>buf</a:t>
            </a:r>
            <a:r>
              <a:rPr lang="en-US" altLang="zh-CN" sz="1200" dirty="0">
                <a:latin typeface="Courier New" pitchFamily="49" charset="0"/>
              </a:rPr>
              <a:t>)))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	</a:t>
            </a:r>
            <a:r>
              <a:rPr lang="en-US" altLang="zh-CN" sz="1200" dirty="0" err="1">
                <a:latin typeface="Courier New" pitchFamily="49" charset="0"/>
              </a:rPr>
              <a:t>cout</a:t>
            </a:r>
            <a:r>
              <a:rPr lang="en-US" altLang="zh-CN" sz="1200" dirty="0">
                <a:latin typeface="Courier New" pitchFamily="49" charset="0"/>
              </a:rPr>
              <a:t> &lt;&lt; </a:t>
            </a:r>
            <a:r>
              <a:rPr lang="en-US" altLang="zh-CN" sz="1200" dirty="0" err="1">
                <a:latin typeface="Courier New" pitchFamily="49" charset="0"/>
              </a:rPr>
              <a:t>buf</a:t>
            </a:r>
            <a:r>
              <a:rPr lang="en-US" altLang="zh-CN" sz="1200" dirty="0">
                <a:latin typeface="Courier New" pitchFamily="49" charset="0"/>
              </a:rPr>
              <a:t> &lt;&lt; </a:t>
            </a:r>
            <a:r>
              <a:rPr lang="en-US" altLang="zh-CN" sz="1200" dirty="0" err="1">
                <a:latin typeface="Courier New" pitchFamily="49" charset="0"/>
              </a:rPr>
              <a:t>endl</a:t>
            </a:r>
            <a:r>
              <a:rPr lang="en-US" altLang="zh-CN" sz="12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</a:t>
            </a:r>
            <a:r>
              <a:rPr lang="en-US" altLang="zh-CN" sz="1200" dirty="0" err="1">
                <a:latin typeface="Courier New" pitchFamily="49" charset="0"/>
              </a:rPr>
              <a:t>fin.close</a:t>
            </a:r>
            <a:r>
              <a:rPr lang="en-US" altLang="zh-CN" sz="12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	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86A7F-27B1-EC4F-6B18-998318E3C75B}"/>
              </a:ext>
            </a:extLst>
          </p:cNvPr>
          <p:cNvSpPr txBox="1"/>
          <p:nvPr/>
        </p:nvSpPr>
        <p:spPr>
          <a:xfrm>
            <a:off x="907441" y="6460251"/>
            <a:ext cx="18582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lec09-11-read.cpp</a:t>
            </a:r>
          </a:p>
        </p:txBody>
      </p:sp>
    </p:spTree>
    <p:extLst>
      <p:ext uri="{BB962C8B-B14F-4D97-AF65-F5344CB8AC3E}">
        <p14:creationId xmlns:p14="http://schemas.microsoft.com/office/powerpoint/2010/main" val="129595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C9B6-BEDF-360B-764C-2EF7091C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C7838D-D393-2762-8B97-A022E147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41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635A9-C1E9-65F7-C4FE-1502E7962E9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Binary files are </a:t>
            </a:r>
            <a:r>
              <a:rPr lang="en-US" sz="2400" b="1" dirty="0"/>
              <a:t>not</a:t>
            </a:r>
            <a:r>
              <a:rPr lang="en-US" sz="2400" dirty="0"/>
              <a:t> human-readable, but storing files in binary (using </a:t>
            </a:r>
            <a:r>
              <a:rPr lang="en-US" sz="2400" dirty="0" err="1"/>
              <a:t>ios</a:t>
            </a:r>
            <a:r>
              <a:rPr lang="en-US" sz="2400" dirty="0"/>
              <a:t>::binary) have some advantages: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Efficiency</a:t>
            </a:r>
            <a:r>
              <a:rPr lang="en-US" sz="2200" dirty="0"/>
              <a:t>: binary data is more space-efficient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Speed</a:t>
            </a:r>
            <a:r>
              <a:rPr lang="en-US" sz="2200" dirty="0"/>
              <a:t>: reading and writing binary data is usually faster than text data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Precision</a:t>
            </a:r>
            <a:r>
              <a:rPr lang="en-US" sz="2200" dirty="0"/>
              <a:t>: text data may lose precision when writing a floating-point number to a file</a:t>
            </a:r>
          </a:p>
          <a:p>
            <a:pPr lvl="1"/>
            <a:r>
              <a:rPr lang="en-US" sz="2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4396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4A6A-D763-55CC-440D-33A2A8C1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67BD15-7ADB-2FC3-33C1-C3655F6E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42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563D7-5E4A-F9B1-5999-58DB96526C2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Write: usually use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sz="2400" dirty="0"/>
              <a:t>function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ostream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&amp; write (const char* s,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streamsize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n);</a:t>
            </a:r>
          </a:p>
          <a:p>
            <a:r>
              <a:rPr lang="en-US" sz="2400" dirty="0"/>
              <a:t>Read: usually use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lang="en-US" sz="2400" dirty="0"/>
              <a:t>function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istream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&amp; read (char* s,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streamsize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n);</a:t>
            </a:r>
            <a:endParaRPr 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0FE2F7-E315-6929-E5B3-5AFB73F4B1F8}"/>
              </a:ext>
            </a:extLst>
          </p:cNvPr>
          <p:cNvSpPr txBox="1"/>
          <p:nvPr/>
        </p:nvSpPr>
        <p:spPr>
          <a:xfrm>
            <a:off x="762000" y="3251180"/>
            <a:ext cx="41148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struct Course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char name[20];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int score;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f1()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ofstream</a:t>
            </a:r>
            <a:r>
              <a:rPr lang="en-US" altLang="zh-CN" sz="1000" dirty="0">
                <a:latin typeface="Courier New" pitchFamily="49" charset="0"/>
              </a:rPr>
              <a:t> </a:t>
            </a:r>
            <a:r>
              <a:rPr lang="en-US" altLang="zh-CN" sz="1000" dirty="0" err="1">
                <a:latin typeface="Courier New" pitchFamily="49" charset="0"/>
              </a:rPr>
              <a:t>fout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fout.open</a:t>
            </a:r>
            <a:r>
              <a:rPr lang="en-US" altLang="zh-CN" sz="1000" dirty="0">
                <a:latin typeface="Courier New" pitchFamily="49" charset="0"/>
              </a:rPr>
              <a:t>("</a:t>
            </a:r>
            <a:r>
              <a:rPr lang="en-US" altLang="zh-CN" sz="1000" dirty="0" err="1">
                <a:latin typeface="Courier New" pitchFamily="49" charset="0"/>
              </a:rPr>
              <a:t>course.txt</a:t>
            </a:r>
            <a:r>
              <a:rPr lang="en-US" altLang="zh-CN" sz="1000" dirty="0">
                <a:latin typeface="Courier New" pitchFamily="49" charset="0"/>
              </a:rPr>
              <a:t>", </a:t>
            </a:r>
            <a:r>
              <a:rPr lang="en-US" altLang="zh-CN" sz="1000" dirty="0" err="1">
                <a:latin typeface="Courier New" pitchFamily="49" charset="0"/>
              </a:rPr>
              <a:t>ios</a:t>
            </a:r>
            <a:r>
              <a:rPr lang="en-US" altLang="zh-CN" sz="1000" dirty="0">
                <a:latin typeface="Courier New" pitchFamily="49" charset="0"/>
              </a:rPr>
              <a:t>::</a:t>
            </a:r>
            <a:r>
              <a:rPr lang="en-US" altLang="zh-CN" sz="1000" dirty="0" err="1">
                <a:latin typeface="Courier New" pitchFamily="49" charset="0"/>
              </a:rPr>
              <a:t>out|ios</a:t>
            </a:r>
            <a:r>
              <a:rPr lang="en-US" altLang="zh-CN" sz="1000" dirty="0">
                <a:latin typeface="Courier New" pitchFamily="49" charset="0"/>
              </a:rPr>
              <a:t>::binary);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Course c1 = {"CS2310", 95};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if (</a:t>
            </a:r>
            <a:r>
              <a:rPr lang="en-US" altLang="zh-CN" sz="1000" dirty="0" err="1">
                <a:latin typeface="Courier New" pitchFamily="49" charset="0"/>
              </a:rPr>
              <a:t>fout.fail</a:t>
            </a:r>
            <a:r>
              <a:rPr lang="en-US" altLang="zh-CN" sz="1000" dirty="0">
                <a:latin typeface="Courier New" pitchFamily="49" charset="0"/>
              </a:rPr>
              <a:t>())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"</a:t>
            </a:r>
            <a:r>
              <a:rPr lang="en-US" altLang="zh-CN" sz="1000" dirty="0" err="1">
                <a:latin typeface="Courier New" pitchFamily="49" charset="0"/>
              </a:rPr>
              <a:t>fout</a:t>
            </a:r>
            <a:r>
              <a:rPr lang="en-US" altLang="zh-CN" sz="1000" dirty="0">
                <a:latin typeface="Courier New" pitchFamily="49" charset="0"/>
              </a:rPr>
              <a:t> failed!"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exit(1);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fout.write</a:t>
            </a:r>
            <a:r>
              <a:rPr lang="en-US" altLang="zh-CN" sz="1000" dirty="0">
                <a:latin typeface="Courier New" pitchFamily="49" charset="0"/>
              </a:rPr>
              <a:t>( (const char*) &amp;c1, </a:t>
            </a:r>
            <a:r>
              <a:rPr lang="en-US" altLang="zh-CN" sz="1000" dirty="0" err="1">
                <a:latin typeface="Courier New" pitchFamily="49" charset="0"/>
              </a:rPr>
              <a:t>sizeof</a:t>
            </a:r>
            <a:r>
              <a:rPr lang="en-US" altLang="zh-CN" sz="1000" dirty="0">
                <a:latin typeface="Courier New" pitchFamily="49" charset="0"/>
              </a:rPr>
              <a:t>(Course));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fout.close</a:t>
            </a:r>
            <a:r>
              <a:rPr lang="en-US" altLang="zh-CN" sz="10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1186D41D-24E7-FDDD-A3B1-B6D137918F90}"/>
              </a:ext>
            </a:extLst>
          </p:cNvPr>
          <p:cNvSpPr txBox="1"/>
          <p:nvPr/>
        </p:nvSpPr>
        <p:spPr>
          <a:xfrm>
            <a:off x="4876800" y="3276600"/>
            <a:ext cx="38862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f2()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ifstream</a:t>
            </a:r>
            <a:r>
              <a:rPr lang="en-US" altLang="zh-CN" sz="1000" dirty="0">
                <a:latin typeface="Courier New" pitchFamily="49" charset="0"/>
              </a:rPr>
              <a:t> fin;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fin.open</a:t>
            </a:r>
            <a:r>
              <a:rPr lang="en-US" altLang="zh-CN" sz="1000" dirty="0">
                <a:latin typeface="Courier New" pitchFamily="49" charset="0"/>
              </a:rPr>
              <a:t>("</a:t>
            </a:r>
            <a:r>
              <a:rPr lang="en-US" altLang="zh-CN" sz="1000" dirty="0" err="1">
                <a:latin typeface="Courier New" pitchFamily="49" charset="0"/>
              </a:rPr>
              <a:t>course.txt</a:t>
            </a:r>
            <a:r>
              <a:rPr lang="en-US" altLang="zh-CN" sz="1000" dirty="0">
                <a:latin typeface="Courier New" pitchFamily="49" charset="0"/>
              </a:rPr>
              <a:t>", </a:t>
            </a:r>
            <a:r>
              <a:rPr lang="en-US" altLang="zh-CN" sz="1000" dirty="0" err="1">
                <a:latin typeface="Courier New" pitchFamily="49" charset="0"/>
              </a:rPr>
              <a:t>ios</a:t>
            </a:r>
            <a:r>
              <a:rPr lang="en-US" altLang="zh-CN" sz="1000" dirty="0">
                <a:latin typeface="Courier New" pitchFamily="49" charset="0"/>
              </a:rPr>
              <a:t>::in | </a:t>
            </a:r>
            <a:r>
              <a:rPr lang="en-US" altLang="zh-CN" sz="1000" dirty="0" err="1">
                <a:latin typeface="Courier New" pitchFamily="49" charset="0"/>
              </a:rPr>
              <a:t>ios</a:t>
            </a:r>
            <a:r>
              <a:rPr lang="en-US" altLang="zh-CN" sz="1000" dirty="0">
                <a:latin typeface="Courier New" pitchFamily="49" charset="0"/>
              </a:rPr>
              <a:t>::binary);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if (</a:t>
            </a:r>
            <a:r>
              <a:rPr lang="en-US" altLang="zh-CN" sz="1000" dirty="0" err="1">
                <a:latin typeface="Courier New" pitchFamily="49" charset="0"/>
              </a:rPr>
              <a:t>fin.fail</a:t>
            </a:r>
            <a:r>
              <a:rPr lang="en-US" altLang="zh-CN" sz="1000" dirty="0">
                <a:latin typeface="Courier New" pitchFamily="49" charset="0"/>
              </a:rPr>
              <a:t>())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"fin failed"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exit(1);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Course c2;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fin.read</a:t>
            </a:r>
            <a:r>
              <a:rPr lang="en-US" altLang="zh-CN" sz="1000" dirty="0">
                <a:latin typeface="Courier New" pitchFamily="49" charset="0"/>
              </a:rPr>
              <a:t>( (char *) &amp;c2, </a:t>
            </a:r>
            <a:r>
              <a:rPr lang="en-US" altLang="zh-CN" sz="1000" dirty="0" err="1">
                <a:latin typeface="Courier New" pitchFamily="49" charset="0"/>
              </a:rPr>
              <a:t>sizeof</a:t>
            </a:r>
            <a:r>
              <a:rPr lang="en-US" altLang="zh-CN" sz="1000" dirty="0">
                <a:latin typeface="Courier New" pitchFamily="49" charset="0"/>
              </a:rPr>
              <a:t>(Course));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c2.name &lt;&lt; " " &lt;&lt; c2.score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fin.close</a:t>
            </a:r>
            <a:r>
              <a:rPr lang="en-US" altLang="zh-CN" sz="10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4CB1E-33DE-0559-EDC7-255E0ABEE4A7}"/>
              </a:ext>
            </a:extLst>
          </p:cNvPr>
          <p:cNvSpPr txBox="1"/>
          <p:nvPr/>
        </p:nvSpPr>
        <p:spPr>
          <a:xfrm>
            <a:off x="762000" y="6460251"/>
            <a:ext cx="19127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lec09-12-binary.cpp</a:t>
            </a:r>
          </a:p>
        </p:txBody>
      </p:sp>
    </p:spTree>
    <p:extLst>
      <p:ext uri="{BB962C8B-B14F-4D97-AF65-F5344CB8AC3E}">
        <p14:creationId xmlns:p14="http://schemas.microsoft.com/office/powerpoint/2010/main" val="212694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15900</TotalTime>
  <Words>3569</Words>
  <Application>Microsoft Macintosh PowerPoint</Application>
  <PresentationFormat>On-screen Show (4:3)</PresentationFormat>
  <Paragraphs>664</Paragraphs>
  <Slides>42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Courier New</vt:lpstr>
      <vt:lpstr>Verdana</vt:lpstr>
      <vt:lpstr>Wingdings</vt:lpstr>
      <vt:lpstr>Wingdings 2</vt:lpstr>
      <vt:lpstr>Equity</vt:lpstr>
      <vt:lpstr>Visio</vt:lpstr>
      <vt:lpstr>PowerPoint Presentation</vt:lpstr>
      <vt:lpstr>Outline</vt:lpstr>
      <vt:lpstr>What is class and object? </vt:lpstr>
      <vt:lpstr>C++ this pointer</vt:lpstr>
      <vt:lpstr>C++ this pointer</vt:lpstr>
      <vt:lpstr>C++ this pointer</vt:lpstr>
      <vt:lpstr>Exercise</vt:lpstr>
      <vt:lpstr>Exercise</vt:lpstr>
      <vt:lpstr>Outline</vt:lpstr>
      <vt:lpstr>More on Inheritance</vt:lpstr>
      <vt:lpstr>Outline</vt:lpstr>
      <vt:lpstr>Operator Overloading</vt:lpstr>
      <vt:lpstr>Operator Overloading</vt:lpstr>
      <vt:lpstr>Operator Overloading</vt:lpstr>
      <vt:lpstr>Critical Thinking</vt:lpstr>
      <vt:lpstr>Operator Overloading</vt:lpstr>
      <vt:lpstr>Operator Overloading</vt:lpstr>
      <vt:lpstr>Operator Overloading</vt:lpstr>
      <vt:lpstr>Operator Overloading</vt:lpstr>
      <vt:lpstr>Operator Overloading</vt:lpstr>
      <vt:lpstr>Operator Overloading</vt:lpstr>
      <vt:lpstr>Critical Thinking</vt:lpstr>
      <vt:lpstr>Operator Overloading</vt:lpstr>
      <vt:lpstr>Critical Thinking</vt:lpstr>
      <vt:lpstr>Operator Overloading</vt:lpstr>
      <vt:lpstr>Outline</vt:lpstr>
      <vt:lpstr>File I/O vs. Console I/O</vt:lpstr>
      <vt:lpstr>Basic I/O – Keyboard and Screen</vt:lpstr>
      <vt:lpstr>Streams</vt:lpstr>
      <vt:lpstr>ifstream</vt:lpstr>
      <vt:lpstr>ofstream</vt:lpstr>
      <vt:lpstr>Examples</vt:lpstr>
      <vt:lpstr>Open a file</vt:lpstr>
      <vt:lpstr>Modes for file I/O</vt:lpstr>
      <vt:lpstr>Detecting I/O failures</vt:lpstr>
      <vt:lpstr>Examples</vt:lpstr>
      <vt:lpstr>Detecting end-of-file (EOF)</vt:lpstr>
      <vt:lpstr>Examples: file dump (integer only)</vt:lpstr>
      <vt:lpstr>Examples: file dump (integer only)</vt:lpstr>
      <vt:lpstr>getline()</vt:lpstr>
      <vt:lpstr>Binary Files</vt:lpstr>
      <vt:lpstr>Binary Files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joe</dc:creator>
  <cp:lastModifiedBy>LI Zhenjiang 李镇江</cp:lastModifiedBy>
  <cp:revision>1101</cp:revision>
  <dcterms:created xsi:type="dcterms:W3CDTF">2009-04-30T13:38:41Z</dcterms:created>
  <dcterms:modified xsi:type="dcterms:W3CDTF">2025-03-22T12:08:58Z</dcterms:modified>
</cp:coreProperties>
</file>